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28.fntdata" ContentType="application/x-fontdata"/>
  <Override PartName="/ppt/fonts/font29.fntdata" ContentType="application/x-fontdata"/>
  <Override PartName="/ppt/fonts/font3.fntdata" ContentType="application/x-fontdata"/>
  <Override PartName="/ppt/fonts/font30.fntdata" ContentType="application/x-fontdata"/>
  <Override PartName="/ppt/fonts/font31.fntdata" ContentType="application/x-fontdata"/>
  <Override PartName="/ppt/fonts/font32.fntdata" ContentType="application/x-fontdata"/>
  <Override PartName="/ppt/fonts/font33.fntdata" ContentType="application/x-fontdata"/>
  <Override PartName="/ppt/fonts/font34.fntdata" ContentType="application/x-fontdata"/>
  <Override PartName="/ppt/fonts/font35.fntdata" ContentType="application/x-fontdata"/>
  <Override PartName="/ppt/fonts/font36.fntdata" ContentType="application/x-fontdata"/>
  <Override PartName="/ppt/fonts/font37.fntdata" ContentType="application/x-fontdata"/>
  <Override PartName="/ppt/fonts/font38.fntdata" ContentType="application/x-fontdata"/>
  <Override PartName="/ppt/fonts/font39.fntdata" ContentType="application/x-fontdata"/>
  <Override PartName="/ppt/fonts/font4.fntdata" ContentType="application/x-fontdata"/>
  <Override PartName="/ppt/fonts/font40.fntdata" ContentType="application/x-fontdata"/>
  <Override PartName="/ppt/fonts/font41.fntdata" ContentType="application/x-fontdata"/>
  <Override PartName="/ppt/fonts/font42.fntdata" ContentType="application/x-fontdata"/>
  <Override PartName="/ppt/fonts/font43.fntdata" ContentType="application/x-fontdata"/>
  <Override PartName="/ppt/fonts/font44.fntdata" ContentType="application/x-fontdata"/>
  <Override PartName="/ppt/fonts/font45.fntdata" ContentType="application/x-fontdata"/>
  <Override PartName="/ppt/fonts/font46.fntdata" ContentType="application/x-fontdata"/>
  <Override PartName="/ppt/fonts/font47.fntdata" ContentType="application/x-fontdata"/>
  <Override PartName="/ppt/fonts/font48.fntdata" ContentType="application/x-fontdata"/>
  <Override PartName="/ppt/fonts/font49.fntdata" ContentType="application/x-fontdata"/>
  <Override PartName="/ppt/fonts/font5.fntdata" ContentType="application/x-fontdata"/>
  <Override PartName="/ppt/fonts/font50.fntdata" ContentType="application/x-fontdata"/>
  <Override PartName="/ppt/fonts/font51.fntdata" ContentType="application/x-fontdata"/>
  <Override PartName="/ppt/fonts/font52.fntdata" ContentType="application/x-fontdata"/>
  <Override PartName="/ppt/fonts/font53.fntdata" ContentType="application/x-fontdata"/>
  <Override PartName="/ppt/fonts/font54.fntdata" ContentType="application/x-fontdata"/>
  <Override PartName="/ppt/fonts/font55.fntdata" ContentType="application/x-fontdata"/>
  <Override PartName="/ppt/fonts/font56.fntdata" ContentType="application/x-fontdata"/>
  <Override PartName="/ppt/fonts/font57.fntdata" ContentType="application/x-fontdata"/>
  <Override PartName="/ppt/fonts/font58.fntdata" ContentType="application/x-fontdata"/>
  <Override PartName="/ppt/fonts/font59.fntdata" ContentType="application/x-fontdata"/>
  <Override PartName="/ppt/fonts/font6.fntdata" ContentType="application/x-fontdata"/>
  <Override PartName="/ppt/fonts/font60.fntdata" ContentType="application/x-fontdata"/>
  <Override PartName="/ppt/fonts/font61.fntdata" ContentType="application/x-fontdata"/>
  <Override PartName="/ppt/fonts/font62.fntdata" ContentType="application/x-fontdata"/>
  <Override PartName="/ppt/fonts/font63.fntdata" ContentType="application/x-fontdata"/>
  <Override PartName="/ppt/fonts/font64.fntdata" ContentType="application/x-fontdata"/>
  <Override PartName="/ppt/fonts/font65.fntdata" ContentType="application/x-fontdata"/>
  <Override PartName="/ppt/fonts/font66.fntdata" ContentType="application/x-fontdata"/>
  <Override PartName="/ppt/fonts/font67.fntdata" ContentType="application/x-fontdata"/>
  <Override PartName="/ppt/fonts/font68.fntdata" ContentType="application/x-fontdata"/>
  <Override PartName="/ppt/fonts/font69.fntdata" ContentType="application/x-fontdata"/>
  <Override PartName="/ppt/fonts/font7.fntdata" ContentType="application/x-fontdata"/>
  <Override PartName="/ppt/fonts/font70.fntdata" ContentType="application/x-fontdata"/>
  <Override PartName="/ppt/fonts/font71.fntdata" ContentType="application/x-fontdata"/>
  <Override PartName="/ppt/fonts/font72.fntdata" ContentType="application/x-fontdata"/>
  <Override PartName="/ppt/fonts/font73.fntdata" ContentType="application/x-fontdata"/>
  <Override PartName="/ppt/fonts/font74.fntdata" ContentType="application/x-fontdata"/>
  <Override PartName="/ppt/fonts/font75.fntdata" ContentType="application/x-fontdata"/>
  <Override PartName="/ppt/fonts/font76.fntdata" ContentType="application/x-fontdata"/>
  <Override PartName="/ppt/fonts/font77.fntdata" ContentType="application/x-fontdata"/>
  <Override PartName="/ppt/fonts/font78.fntdata" ContentType="application/x-fontdata"/>
  <Override PartName="/ppt/fonts/font79.fntdata" ContentType="application/x-fontdata"/>
  <Override PartName="/ppt/fonts/font8.fntdata" ContentType="application/x-fontdata"/>
  <Override PartName="/ppt/fonts/font80.fntdata" ContentType="application/x-fontdata"/>
  <Override PartName="/ppt/fonts/font81.fntdata" ContentType="application/x-fontdata"/>
  <Override PartName="/ppt/fonts/font82.fntdata" ContentType="application/x-fontdata"/>
  <Override PartName="/ppt/fonts/font83.fntdata" ContentType="application/x-fontdata"/>
  <Override PartName="/ppt/fonts/font84.fntdata" ContentType="application/x-fontdata"/>
  <Override PartName="/ppt/fonts/font85.fntdata" ContentType="application/x-fontdata"/>
  <Override PartName="/ppt/fonts/font86.fntdata" ContentType="application/x-fontdata"/>
  <Override PartName="/ppt/fonts/font87.fntdata" ContentType="application/x-fontdata"/>
  <Override PartName="/ppt/fonts/font88.fntdata" ContentType="application/x-fontdata"/>
  <Override PartName="/ppt/fonts/font89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</p:sldMasterIdLst>
  <p:sldIdLst>
    <p:sldId id="256" r:id="rId33"/>
    <p:sldId id="260" r:id="rId34"/>
    <p:sldId id="263" r:id="rId35"/>
    <p:sldId id="266" r:id="rId36"/>
    <p:sldId id="269" r:id="rId37"/>
    <p:sldId id="272" r:id="rId38"/>
    <p:sldId id="275" r:id="rId39"/>
    <p:sldId id="278" r:id="rId40"/>
    <p:sldId id="281" r:id="rId41"/>
    <p:sldId id="284" r:id="rId42"/>
    <p:sldId id="287" r:id="rId43"/>
    <p:sldId id="290" r:id="rId44"/>
    <p:sldId id="293" r:id="rId45"/>
    <p:sldId id="296" r:id="rId46"/>
    <p:sldId id="299" r:id="rId47"/>
    <p:sldId id="302" r:id="rId48"/>
    <p:sldId id="305" r:id="rId49"/>
    <p:sldId id="308" r:id="rId50"/>
    <p:sldId id="311" r:id="rId51"/>
    <p:sldId id="314" r:id="rId52"/>
    <p:sldId id="317" r:id="rId53"/>
    <p:sldId id="320" r:id="rId54"/>
    <p:sldId id="323" r:id="rId55"/>
    <p:sldId id="326" r:id="rId56"/>
    <p:sldId id="329" r:id="rId57"/>
    <p:sldId id="332" r:id="rId58"/>
    <p:sldId id="335" r:id="rId59"/>
    <p:sldId id="338" r:id="rId60"/>
    <p:sldId id="341" r:id="rId61"/>
    <p:sldId id="344" r:id="rId62"/>
    <p:sldId id="347" r:id="rId63"/>
  </p:sldIdLst>
  <p:sldSz cx="9144000" cy="5143500"/>
  <p:notesSz cx="9144000" cy="5143500"/>
  <p:embeddedFontLst>
    <p:embeddedFont>
      <p:font typeface="Calibri" panose="020F0502020204030204"/>
      <p:regular r:id="rId67"/>
      <p:bold r:id="rId68"/>
      <p:italic r:id="rId69"/>
      <p:boldItalic r:id="rId70"/>
    </p:embeddedFont>
    <p:embeddedFont>
      <p:font typeface="UBHHCA+Roboto-Regular" panose="02000500000000000000"/>
      <p:regular r:id="rId71"/>
    </p:embeddedFont>
    <p:embeddedFont>
      <p:font typeface="RVIGTR+Roboto-Bold" panose="02000500000000000000"/>
      <p:regular r:id="rId72"/>
    </p:embeddedFont>
    <p:embeddedFont>
      <p:font typeface="LNFEPR+Arial-BoldMT" panose="02000500000000000000"/>
      <p:regular r:id="rId73"/>
    </p:embeddedFont>
    <p:embeddedFont>
      <p:font typeface="MMEEAA+Roboto-Regular" panose="02000500000000000000"/>
      <p:regular r:id="rId74"/>
    </p:embeddedFont>
    <p:embeddedFont>
      <p:font typeface="HCDBAV+Arial-BoldMT" panose="02000500000000000000"/>
      <p:regular r:id="rId75"/>
    </p:embeddedFont>
    <p:embeddedFont>
      <p:font typeface="WNUOMA+Roboto-Regular" panose="02000500000000000000"/>
      <p:regular r:id="rId76"/>
    </p:embeddedFont>
    <p:embeddedFont>
      <p:font typeface="IUHDEP+Arial-BoldMT" panose="02000500000000000000"/>
      <p:regular r:id="rId77"/>
    </p:embeddedFont>
    <p:embeddedFont>
      <p:font typeface="FNTCPF+Roboto-Italic" panose="02000500000000000000"/>
      <p:regular r:id="rId78"/>
    </p:embeddedFont>
    <p:embeddedFont>
      <p:font typeface="PABOOR+Roboto-Regular" panose="02000500000000000000"/>
      <p:regular r:id="rId79"/>
    </p:embeddedFont>
    <p:embeddedFont>
      <p:font typeface="PIWOAG+Arial-BoldMT" panose="02000500000000000000"/>
      <p:regular r:id="rId80"/>
    </p:embeddedFont>
    <p:embeddedFont>
      <p:font typeface="ARAHSV+Roboto-Regular" panose="02000500000000000000"/>
      <p:regular r:id="rId81"/>
    </p:embeddedFont>
    <p:embeddedFont>
      <p:font typeface="DEGLOT+Arial-BoldMT" panose="02000500000000000000"/>
      <p:regular r:id="rId82"/>
    </p:embeddedFont>
    <p:embeddedFont>
      <p:font typeface="RMTMWD+ArialMT" panose="02000500000000000000"/>
      <p:regular r:id="rId83"/>
    </p:embeddedFont>
    <p:embeddedFont>
      <p:font typeface="WAQTVW+Roboto-Italic" panose="02000500000000000000"/>
      <p:regular r:id="rId84"/>
    </p:embeddedFont>
    <p:embeddedFont>
      <p:font typeface="GUKNFC+Roboto-Regular" panose="02000500000000000000"/>
      <p:regular r:id="rId85"/>
    </p:embeddedFont>
    <p:embeddedFont>
      <p:font typeface="BILUSV+Arial-BoldMT" panose="02000500000000000000"/>
      <p:regular r:id="rId86"/>
    </p:embeddedFont>
    <p:embeddedFont>
      <p:font typeface="SUUAHH+Arial-BoldItalicMT" panose="02000500000000000000"/>
      <p:regular r:id="rId87"/>
    </p:embeddedFont>
    <p:embeddedFont>
      <p:font typeface="PUMCUU+Roboto-Regular" panose="02000500000000000000"/>
      <p:regular r:id="rId88"/>
    </p:embeddedFont>
    <p:embeddedFont>
      <p:font typeface="FFNHCS+Arial-BoldMT" panose="02000500000000000000"/>
      <p:regular r:id="rId89"/>
    </p:embeddedFont>
    <p:embeddedFont>
      <p:font typeface="EMASWL+ArialMT" panose="02000500000000000000"/>
      <p:regular r:id="rId90"/>
    </p:embeddedFont>
    <p:embeddedFont>
      <p:font typeface="GDQWRE+Roboto-Italic" panose="02000500000000000000"/>
      <p:regular r:id="rId91"/>
    </p:embeddedFont>
    <p:embeddedFont>
      <p:font typeface="GRJCTR+Arial-BoldItalicMT" panose="02000500000000000000"/>
      <p:regular r:id="rId92"/>
    </p:embeddedFont>
    <p:embeddedFont>
      <p:font typeface="SSLBGN+Arial-BoldMT" panose="02000500000000000000"/>
      <p:regular r:id="rId93"/>
    </p:embeddedFont>
    <p:embeddedFont>
      <p:font typeface="DJDHTJ+Roboto-Regular" panose="02000500000000000000"/>
      <p:regular r:id="rId94"/>
    </p:embeddedFont>
    <p:embeddedFont>
      <p:font typeface="UEGROG+Arial-BoldMT" panose="02000500000000000000"/>
      <p:regular r:id="rId95"/>
    </p:embeddedFont>
    <p:embeddedFont>
      <p:font typeface="JIJOMR+ArialMT" panose="02000500000000000000"/>
      <p:regular r:id="rId96"/>
    </p:embeddedFont>
    <p:embeddedFont>
      <p:font typeface="BWAMQJ+Roboto-Regular" panose="02000500000000000000"/>
      <p:regular r:id="rId97"/>
    </p:embeddedFont>
    <p:embeddedFont>
      <p:font typeface="GRPHSD+Arial-BoldItalicMT" panose="02000500000000000000"/>
      <p:regular r:id="rId98"/>
    </p:embeddedFont>
    <p:embeddedFont>
      <p:font typeface="VAVTTI+Arial-BoldMT" panose="02000500000000000000"/>
      <p:regular r:id="rId99"/>
    </p:embeddedFont>
    <p:embeddedFont>
      <p:font typeface="LVISBL+Roboto-Regular" panose="02000500000000000000"/>
      <p:regular r:id="rId100"/>
    </p:embeddedFont>
    <p:embeddedFont>
      <p:font typeface="BATTPE+Arial-BoldItalicMT" panose="02000500000000000000"/>
      <p:regular r:id="rId101"/>
    </p:embeddedFont>
    <p:embeddedFont>
      <p:font typeface="HCNHKU+Arial-BoldMT" panose="02000500000000000000"/>
      <p:regular r:id="rId102"/>
    </p:embeddedFont>
    <p:embeddedFont>
      <p:font typeface="HASDQR+Roboto-Regular" panose="02000500000000000000"/>
      <p:regular r:id="rId103"/>
    </p:embeddedFont>
    <p:embeddedFont>
      <p:font typeface="PFCLGE+Arial-BoldMT" panose="02000500000000000000"/>
      <p:regular r:id="rId104"/>
    </p:embeddedFont>
    <p:embeddedFont>
      <p:font typeface="UMCKAO+ArialMT" panose="02000500000000000000"/>
      <p:regular r:id="rId105"/>
    </p:embeddedFont>
    <p:embeddedFont>
      <p:font typeface="QUBWCQ+Arial-BoldItalicMT" panose="02000500000000000000"/>
      <p:regular r:id="rId106"/>
    </p:embeddedFont>
    <p:embeddedFont>
      <p:font typeface="KACFBR+ArialMT" panose="02000500000000000000"/>
      <p:regular r:id="rId107"/>
    </p:embeddedFont>
    <p:embeddedFont>
      <p:font typeface="WAWRKJ+Arial-BoldMT" panose="02000500000000000000"/>
      <p:regular r:id="rId108"/>
    </p:embeddedFont>
    <p:embeddedFont>
      <p:font typeface="AIQIPU+Roboto-Regular" panose="02000500000000000000"/>
      <p:regular r:id="rId109"/>
    </p:embeddedFont>
    <p:embeddedFont>
      <p:font typeface="KSJFIU+ArialMT" panose="02000500000000000000"/>
      <p:regular r:id="rId110"/>
    </p:embeddedFont>
    <p:embeddedFont>
      <p:font typeface="BAFIJT+Arial-BoldMT" panose="02000500000000000000"/>
      <p:regular r:id="rId111"/>
    </p:embeddedFont>
    <p:embeddedFont>
      <p:font typeface="CBGUTD+Arial-BoldItalicMT" panose="02000500000000000000"/>
      <p:regular r:id="rId112"/>
    </p:embeddedFont>
    <p:embeddedFont>
      <p:font typeface="KDCTUK+Arial-BoldMT" panose="02000500000000000000"/>
      <p:regular r:id="rId113"/>
    </p:embeddedFont>
    <p:embeddedFont>
      <p:font typeface="SLOTMT+Roboto-Regular" panose="02000500000000000000"/>
      <p:regular r:id="rId114"/>
    </p:embeddedFont>
    <p:embeddedFont>
      <p:font typeface="SVLTFM+ArialMT" panose="02000500000000000000"/>
      <p:regular r:id="rId115"/>
    </p:embeddedFont>
    <p:embeddedFont>
      <p:font typeface="PUEANQ+Arial-BoldMT" panose="02000500000000000000"/>
      <p:regular r:id="rId116"/>
    </p:embeddedFont>
    <p:embeddedFont>
      <p:font typeface="NBMHNP+Arial-BoldItalicMT" panose="02000500000000000000"/>
      <p:regular r:id="rId117"/>
    </p:embeddedFont>
    <p:embeddedFont>
      <p:font typeface="FDSIHK+Arial-ItalicMT" panose="02000500000000000000"/>
      <p:regular r:id="rId118"/>
    </p:embeddedFont>
    <p:embeddedFont>
      <p:font typeface="LTUCQM+Arial-BoldMT" panose="02000500000000000000"/>
      <p:regular r:id="rId119"/>
    </p:embeddedFont>
    <p:embeddedFont>
      <p:font typeface="UDGIHF+Roboto-Regular" panose="02000500000000000000"/>
      <p:regular r:id="rId120"/>
    </p:embeddedFont>
    <p:embeddedFont>
      <p:font typeface="NLKWMQ+ArialMT" panose="02000500000000000000"/>
      <p:regular r:id="rId121"/>
    </p:embeddedFont>
    <p:embeddedFont>
      <p:font typeface="CJQLBD+Roboto-Italic" panose="02000500000000000000"/>
      <p:regular r:id="rId122"/>
    </p:embeddedFont>
    <p:embeddedFont>
      <p:font typeface="JRPVSI+Arial-BoldMT" panose="02000500000000000000"/>
      <p:regular r:id="rId123"/>
    </p:embeddedFont>
    <p:embeddedFont>
      <p:font typeface="INRCFG+Arial-BoldItalicMT" panose="02000500000000000000"/>
      <p:regular r:id="rId124"/>
    </p:embeddedFont>
    <p:embeddedFont>
      <p:font typeface="WGDDEI+ArialMT" panose="02000500000000000000"/>
      <p:regular r:id="rId125"/>
    </p:embeddedFont>
    <p:embeddedFont>
      <p:font typeface="AKEOJE+Arial-BoldMT" panose="02000500000000000000"/>
      <p:regular r:id="rId126"/>
    </p:embeddedFont>
    <p:embeddedFont>
      <p:font typeface="KFIPAG+Roboto-Regular" panose="02000500000000000000"/>
      <p:regular r:id="rId127"/>
    </p:embeddedFont>
    <p:embeddedFont>
      <p:font typeface="FRJURV+ArialMT" panose="02000500000000000000"/>
      <p:regular r:id="rId128"/>
    </p:embeddedFont>
    <p:embeddedFont>
      <p:font typeface="IHJSFL+Arial-BoldMT" panose="02000500000000000000"/>
      <p:regular r:id="rId129"/>
    </p:embeddedFont>
    <p:embeddedFont>
      <p:font typeface="IORIRS+Roboto-Bold" panose="02000500000000000000"/>
      <p:regular r:id="rId130"/>
    </p:embeddedFont>
    <p:embeddedFont>
      <p:font typeface="GJWPHE+Arial-BoldMT" panose="02000500000000000000"/>
      <p:regular r:id="rId131"/>
    </p:embeddedFont>
    <p:embeddedFont>
      <p:font typeface="OAECHE+Roboto-Bold" panose="02000500000000000000"/>
      <p:regular r:id="rId132"/>
    </p:embeddedFont>
    <p:embeddedFont>
      <p:font typeface="KUJFBQ+Arial-BoldMT" panose="02000500000000000000"/>
      <p:regular r:id="rId133"/>
    </p:embeddedFont>
    <p:embeddedFont>
      <p:font typeface="DQFCEH+Roboto-Regular" panose="02000500000000000000"/>
      <p:regular r:id="rId134"/>
    </p:embeddedFont>
    <p:embeddedFont>
      <p:font typeface="ATFAFG+ArialMT" panose="02000500000000000000"/>
      <p:regular r:id="rId135"/>
    </p:embeddedFont>
    <p:embeddedFont>
      <p:font typeface="WADPMR+Arial-BoldMT" panose="02000500000000000000"/>
      <p:regular r:id="rId136"/>
    </p:embeddedFont>
    <p:embeddedFont>
      <p:font typeface="BICJLR+Roboto-Bold" panose="02000500000000000000"/>
      <p:regular r:id="rId137"/>
    </p:embeddedFont>
    <p:embeddedFont>
      <p:font typeface="CPQSRU+Arial-BoldMT" panose="02000500000000000000"/>
      <p:regular r:id="rId138"/>
    </p:embeddedFont>
    <p:embeddedFont>
      <p:font typeface="WTDCSU+Roboto-Regular" panose="02000500000000000000"/>
      <p:regular r:id="rId139"/>
    </p:embeddedFont>
    <p:embeddedFont>
      <p:font typeface="QUWRIB+ArialMT" panose="02000500000000000000"/>
      <p:regular r:id="rId140"/>
    </p:embeddedFont>
    <p:embeddedFont>
      <p:font typeface="DLHDHT+Arial-BoldMT" panose="02000500000000000000"/>
      <p:regular r:id="rId141"/>
    </p:embeddedFont>
    <p:embeddedFont>
      <p:font typeface="NNCOUH+Roboto-Italic" panose="02000500000000000000"/>
      <p:regular r:id="rId142"/>
    </p:embeddedFont>
    <p:embeddedFont>
      <p:font typeface="TQNJAP+Arial-BoldMT" panose="02000500000000000000"/>
      <p:regular r:id="rId143"/>
    </p:embeddedFont>
    <p:embeddedFont>
      <p:font typeface="FLRQDF+Arial-BoldMT" panose="02000500000000000000"/>
      <p:regular r:id="rId144"/>
    </p:embeddedFont>
    <p:embeddedFont>
      <p:font typeface="OLJTIF+Roboto-Italic" panose="02000500000000000000"/>
      <p:regular r:id="rId145"/>
    </p:embeddedFont>
    <p:embeddedFont>
      <p:font typeface="FWDBWF+Arial-BoldMT" panose="02000500000000000000"/>
      <p:regular r:id="rId146"/>
    </p:embeddedFont>
    <p:embeddedFont>
      <p:font typeface="WUCCVR+Roboto-Regular" panose="02000500000000000000"/>
      <p:regular r:id="rId147"/>
    </p:embeddedFont>
    <p:embeddedFont>
      <p:font typeface="TSOPOO+ArialMT" panose="02000500000000000000"/>
      <p:regular r:id="rId148"/>
    </p:embeddedFont>
    <p:embeddedFont>
      <p:font typeface="LHPONO+Roboto-BoldItalic" panose="02000500000000000000"/>
      <p:regular r:id="rId149"/>
    </p:embeddedFont>
    <p:embeddedFont>
      <p:font typeface="QTIKQN+Arial-BoldMT" panose="02000500000000000000"/>
      <p:regular r:id="rId150"/>
    </p:embeddedFont>
    <p:embeddedFont>
      <p:font typeface="NAMPDP+Roboto-Regular" panose="02000500000000000000"/>
      <p:regular r:id="rId151"/>
    </p:embeddedFont>
    <p:embeddedFont>
      <p:font typeface="EWBLBW+ArialMT" panose="02000500000000000000"/>
      <p:regular r:id="rId152"/>
    </p:embeddedFont>
    <p:embeddedFont>
      <p:font typeface="SRNBKK+Arial-BoldMT" panose="02000500000000000000"/>
      <p:regular r:id="rId153"/>
    </p:embeddedFont>
    <p:embeddedFont>
      <p:font typeface="PREPWH+Roboto-Bold" panose="02000500000000000000"/>
      <p:regular r:id="rId154"/>
    </p:embeddedFont>
    <p:embeddedFont>
      <p:font typeface="CFEVEP+Arial-BoldMT" panose="02000500000000000000"/>
      <p:regular r:id="rId155"/>
    </p:embeddedFont>
  </p:embeddedFontLst>
  <p:custDataLst>
    <p:tags r:id="rId156"/>
  </p:custDataLst>
  <p:defaultTextStyle>
    <a:defPPr>
      <a:defRPr lang="ru-RU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SzPct val="100000"/>
      <a:buFont typeface="Calibri" panose="020F0502020204030204"/>
      <a:buNone/>
      <a:defRPr b="0" i="0" u="none" kern="1200" baseline="0">
        <a:solidFill>
          <a:schemeClr val="tx1"/>
        </a:solidFill>
        <a:latin typeface="Calibri" panose="020F0502020204030204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57" d="100"/>
          <a:sy n="57" d="100"/>
        </p:scale>
        <p:origin x="-102" y="-26"/>
      </p:cViewPr>
      <p:guideLst>
        <p:guide orient="horz" pos="212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font" Target="fonts/font33.fntdata"/><Relationship Id="rId98" Type="http://schemas.openxmlformats.org/officeDocument/2006/relationships/font" Target="fonts/font32.fntdata"/><Relationship Id="rId97" Type="http://schemas.openxmlformats.org/officeDocument/2006/relationships/font" Target="fonts/font31.fntdata"/><Relationship Id="rId96" Type="http://schemas.openxmlformats.org/officeDocument/2006/relationships/font" Target="fonts/font30.fntdata"/><Relationship Id="rId95" Type="http://schemas.openxmlformats.org/officeDocument/2006/relationships/font" Target="fonts/font29.fntdata"/><Relationship Id="rId94" Type="http://schemas.openxmlformats.org/officeDocument/2006/relationships/font" Target="fonts/font28.fntdata"/><Relationship Id="rId93" Type="http://schemas.openxmlformats.org/officeDocument/2006/relationships/font" Target="fonts/font27.fntdata"/><Relationship Id="rId92" Type="http://schemas.openxmlformats.org/officeDocument/2006/relationships/font" Target="fonts/font26.fntdata"/><Relationship Id="rId91" Type="http://schemas.openxmlformats.org/officeDocument/2006/relationships/font" Target="fonts/font25.fntdata"/><Relationship Id="rId90" Type="http://schemas.openxmlformats.org/officeDocument/2006/relationships/font" Target="fonts/font24.fntdata"/><Relationship Id="rId9" Type="http://schemas.openxmlformats.org/officeDocument/2006/relationships/slideMaster" Target="slideMasters/slideMaster8.xml"/><Relationship Id="rId89" Type="http://schemas.openxmlformats.org/officeDocument/2006/relationships/font" Target="fonts/font23.fntdata"/><Relationship Id="rId88" Type="http://schemas.openxmlformats.org/officeDocument/2006/relationships/font" Target="fonts/font22.fntdata"/><Relationship Id="rId87" Type="http://schemas.openxmlformats.org/officeDocument/2006/relationships/font" Target="fonts/font21.fntdata"/><Relationship Id="rId86" Type="http://schemas.openxmlformats.org/officeDocument/2006/relationships/font" Target="fonts/font20.fntdata"/><Relationship Id="rId85" Type="http://schemas.openxmlformats.org/officeDocument/2006/relationships/font" Target="fonts/font19.fntdata"/><Relationship Id="rId84" Type="http://schemas.openxmlformats.org/officeDocument/2006/relationships/font" Target="fonts/font18.fntdata"/><Relationship Id="rId83" Type="http://schemas.openxmlformats.org/officeDocument/2006/relationships/font" Target="fonts/font17.fntdata"/><Relationship Id="rId82" Type="http://schemas.openxmlformats.org/officeDocument/2006/relationships/font" Target="fonts/font16.fntdata"/><Relationship Id="rId81" Type="http://schemas.openxmlformats.org/officeDocument/2006/relationships/font" Target="fonts/font15.fntdata"/><Relationship Id="rId80" Type="http://schemas.openxmlformats.org/officeDocument/2006/relationships/font" Target="fonts/font14.fntdata"/><Relationship Id="rId8" Type="http://schemas.openxmlformats.org/officeDocument/2006/relationships/slideMaster" Target="slideMasters/slideMaster7.xml"/><Relationship Id="rId79" Type="http://schemas.openxmlformats.org/officeDocument/2006/relationships/font" Target="fonts/font13.fntdata"/><Relationship Id="rId78" Type="http://schemas.openxmlformats.org/officeDocument/2006/relationships/font" Target="fonts/font12.fntdata"/><Relationship Id="rId77" Type="http://schemas.openxmlformats.org/officeDocument/2006/relationships/font" Target="fonts/font11.fntdata"/><Relationship Id="rId76" Type="http://schemas.openxmlformats.org/officeDocument/2006/relationships/font" Target="fonts/font10.fntdata"/><Relationship Id="rId75" Type="http://schemas.openxmlformats.org/officeDocument/2006/relationships/font" Target="fonts/font9.fntdata"/><Relationship Id="rId74" Type="http://schemas.openxmlformats.org/officeDocument/2006/relationships/font" Target="fonts/font8.fntdata"/><Relationship Id="rId73" Type="http://schemas.openxmlformats.org/officeDocument/2006/relationships/font" Target="fonts/font7.fntdata"/><Relationship Id="rId72" Type="http://schemas.openxmlformats.org/officeDocument/2006/relationships/font" Target="fonts/font6.fntdata"/><Relationship Id="rId71" Type="http://schemas.openxmlformats.org/officeDocument/2006/relationships/font" Target="fonts/font5.fntdata"/><Relationship Id="rId70" Type="http://schemas.openxmlformats.org/officeDocument/2006/relationships/font" Target="fonts/font4.fntdata"/><Relationship Id="rId7" Type="http://schemas.openxmlformats.org/officeDocument/2006/relationships/slideMaster" Target="slideMasters/slideMaster6.xml"/><Relationship Id="rId69" Type="http://schemas.openxmlformats.org/officeDocument/2006/relationships/font" Target="fonts/font3.fntdata"/><Relationship Id="rId68" Type="http://schemas.openxmlformats.org/officeDocument/2006/relationships/font" Target="fonts/font2.fntdata"/><Relationship Id="rId67" Type="http://schemas.openxmlformats.org/officeDocument/2006/relationships/font" Target="fonts/font1.fntdata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slide" Target="slides/slide31.xml"/><Relationship Id="rId62" Type="http://schemas.openxmlformats.org/officeDocument/2006/relationships/slide" Target="slides/slide30.xml"/><Relationship Id="rId61" Type="http://schemas.openxmlformats.org/officeDocument/2006/relationships/slide" Target="slides/slide29.xml"/><Relationship Id="rId60" Type="http://schemas.openxmlformats.org/officeDocument/2006/relationships/slide" Target="slides/slide28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27.xml"/><Relationship Id="rId58" Type="http://schemas.openxmlformats.org/officeDocument/2006/relationships/slide" Target="slides/slide26.xml"/><Relationship Id="rId57" Type="http://schemas.openxmlformats.org/officeDocument/2006/relationships/slide" Target="slides/slide25.xml"/><Relationship Id="rId56" Type="http://schemas.openxmlformats.org/officeDocument/2006/relationships/slide" Target="slides/slide24.xml"/><Relationship Id="rId55" Type="http://schemas.openxmlformats.org/officeDocument/2006/relationships/slide" Target="slides/slide23.xml"/><Relationship Id="rId54" Type="http://schemas.openxmlformats.org/officeDocument/2006/relationships/slide" Target="slides/slide22.xml"/><Relationship Id="rId53" Type="http://schemas.openxmlformats.org/officeDocument/2006/relationships/slide" Target="slides/slide21.xml"/><Relationship Id="rId52" Type="http://schemas.openxmlformats.org/officeDocument/2006/relationships/slide" Target="slides/slide20.xml"/><Relationship Id="rId51" Type="http://schemas.openxmlformats.org/officeDocument/2006/relationships/slide" Target="slides/slide19.xml"/><Relationship Id="rId50" Type="http://schemas.openxmlformats.org/officeDocument/2006/relationships/slide" Target="slides/slide18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17.xml"/><Relationship Id="rId48" Type="http://schemas.openxmlformats.org/officeDocument/2006/relationships/slide" Target="slides/slide16.xml"/><Relationship Id="rId47" Type="http://schemas.openxmlformats.org/officeDocument/2006/relationships/slide" Target="slides/slide15.xml"/><Relationship Id="rId46" Type="http://schemas.openxmlformats.org/officeDocument/2006/relationships/slide" Target="slides/slide14.xml"/><Relationship Id="rId45" Type="http://schemas.openxmlformats.org/officeDocument/2006/relationships/slide" Target="slides/slide13.xml"/><Relationship Id="rId44" Type="http://schemas.openxmlformats.org/officeDocument/2006/relationships/slide" Target="slides/slide12.xml"/><Relationship Id="rId43" Type="http://schemas.openxmlformats.org/officeDocument/2006/relationships/slide" Target="slides/slide11.xml"/><Relationship Id="rId42" Type="http://schemas.openxmlformats.org/officeDocument/2006/relationships/slide" Target="slides/slide10.xml"/><Relationship Id="rId41" Type="http://schemas.openxmlformats.org/officeDocument/2006/relationships/slide" Target="slides/slide9.xml"/><Relationship Id="rId40" Type="http://schemas.openxmlformats.org/officeDocument/2006/relationships/slide" Target="slides/slide8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7.xml"/><Relationship Id="rId38" Type="http://schemas.openxmlformats.org/officeDocument/2006/relationships/slide" Target="slides/slide6.xml"/><Relationship Id="rId37" Type="http://schemas.openxmlformats.org/officeDocument/2006/relationships/slide" Target="slides/slide5.xml"/><Relationship Id="rId36" Type="http://schemas.openxmlformats.org/officeDocument/2006/relationships/slide" Target="slides/slide4.xml"/><Relationship Id="rId35" Type="http://schemas.openxmlformats.org/officeDocument/2006/relationships/slide" Target="slides/slide3.xml"/><Relationship Id="rId34" Type="http://schemas.openxmlformats.org/officeDocument/2006/relationships/slide" Target="slides/slide2.xml"/><Relationship Id="rId33" Type="http://schemas.openxmlformats.org/officeDocument/2006/relationships/slide" Target="slides/slide1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6" Type="http://schemas.openxmlformats.org/officeDocument/2006/relationships/tags" Target="tags/tag1.xml"/><Relationship Id="rId155" Type="http://schemas.openxmlformats.org/officeDocument/2006/relationships/font" Target="fonts/font89.fntdata"/><Relationship Id="rId154" Type="http://schemas.openxmlformats.org/officeDocument/2006/relationships/font" Target="fonts/font88.fntdata"/><Relationship Id="rId153" Type="http://schemas.openxmlformats.org/officeDocument/2006/relationships/font" Target="fonts/font87.fntdata"/><Relationship Id="rId152" Type="http://schemas.openxmlformats.org/officeDocument/2006/relationships/font" Target="fonts/font86.fntdata"/><Relationship Id="rId151" Type="http://schemas.openxmlformats.org/officeDocument/2006/relationships/font" Target="fonts/font85.fntdata"/><Relationship Id="rId150" Type="http://schemas.openxmlformats.org/officeDocument/2006/relationships/font" Target="fonts/font84.fntdata"/><Relationship Id="rId15" Type="http://schemas.openxmlformats.org/officeDocument/2006/relationships/slideMaster" Target="slideMasters/slideMaster14.xml"/><Relationship Id="rId149" Type="http://schemas.openxmlformats.org/officeDocument/2006/relationships/font" Target="fonts/font83.fntdata"/><Relationship Id="rId148" Type="http://schemas.openxmlformats.org/officeDocument/2006/relationships/font" Target="fonts/font82.fntdata"/><Relationship Id="rId147" Type="http://schemas.openxmlformats.org/officeDocument/2006/relationships/font" Target="fonts/font81.fntdata"/><Relationship Id="rId146" Type="http://schemas.openxmlformats.org/officeDocument/2006/relationships/font" Target="fonts/font80.fntdata"/><Relationship Id="rId145" Type="http://schemas.openxmlformats.org/officeDocument/2006/relationships/font" Target="fonts/font79.fntdata"/><Relationship Id="rId144" Type="http://schemas.openxmlformats.org/officeDocument/2006/relationships/font" Target="fonts/font78.fntdata"/><Relationship Id="rId143" Type="http://schemas.openxmlformats.org/officeDocument/2006/relationships/font" Target="fonts/font77.fntdata"/><Relationship Id="rId142" Type="http://schemas.openxmlformats.org/officeDocument/2006/relationships/font" Target="fonts/font76.fntdata"/><Relationship Id="rId141" Type="http://schemas.openxmlformats.org/officeDocument/2006/relationships/font" Target="fonts/font75.fntdata"/><Relationship Id="rId140" Type="http://schemas.openxmlformats.org/officeDocument/2006/relationships/font" Target="fonts/font74.fntdata"/><Relationship Id="rId14" Type="http://schemas.openxmlformats.org/officeDocument/2006/relationships/slideMaster" Target="slideMasters/slideMaster13.xml"/><Relationship Id="rId139" Type="http://schemas.openxmlformats.org/officeDocument/2006/relationships/font" Target="fonts/font73.fntdata"/><Relationship Id="rId138" Type="http://schemas.openxmlformats.org/officeDocument/2006/relationships/font" Target="fonts/font72.fntdata"/><Relationship Id="rId137" Type="http://schemas.openxmlformats.org/officeDocument/2006/relationships/font" Target="fonts/font71.fntdata"/><Relationship Id="rId136" Type="http://schemas.openxmlformats.org/officeDocument/2006/relationships/font" Target="fonts/font70.fntdata"/><Relationship Id="rId135" Type="http://schemas.openxmlformats.org/officeDocument/2006/relationships/font" Target="fonts/font69.fntdata"/><Relationship Id="rId134" Type="http://schemas.openxmlformats.org/officeDocument/2006/relationships/font" Target="fonts/font68.fntdata"/><Relationship Id="rId133" Type="http://schemas.openxmlformats.org/officeDocument/2006/relationships/font" Target="fonts/font67.fntdata"/><Relationship Id="rId132" Type="http://schemas.openxmlformats.org/officeDocument/2006/relationships/font" Target="fonts/font66.fntdata"/><Relationship Id="rId131" Type="http://schemas.openxmlformats.org/officeDocument/2006/relationships/font" Target="fonts/font65.fntdata"/><Relationship Id="rId130" Type="http://schemas.openxmlformats.org/officeDocument/2006/relationships/font" Target="fonts/font64.fntdata"/><Relationship Id="rId13" Type="http://schemas.openxmlformats.org/officeDocument/2006/relationships/slideMaster" Target="slideMasters/slideMaster12.xml"/><Relationship Id="rId129" Type="http://schemas.openxmlformats.org/officeDocument/2006/relationships/font" Target="fonts/font63.fntdata"/><Relationship Id="rId128" Type="http://schemas.openxmlformats.org/officeDocument/2006/relationships/font" Target="fonts/font62.fntdata"/><Relationship Id="rId127" Type="http://schemas.openxmlformats.org/officeDocument/2006/relationships/font" Target="fonts/font61.fntdata"/><Relationship Id="rId126" Type="http://schemas.openxmlformats.org/officeDocument/2006/relationships/font" Target="fonts/font60.fntdata"/><Relationship Id="rId125" Type="http://schemas.openxmlformats.org/officeDocument/2006/relationships/font" Target="fonts/font59.fntdata"/><Relationship Id="rId124" Type="http://schemas.openxmlformats.org/officeDocument/2006/relationships/font" Target="fonts/font58.fntdata"/><Relationship Id="rId123" Type="http://schemas.openxmlformats.org/officeDocument/2006/relationships/font" Target="fonts/font57.fntdata"/><Relationship Id="rId122" Type="http://schemas.openxmlformats.org/officeDocument/2006/relationships/font" Target="fonts/font56.fntdata"/><Relationship Id="rId121" Type="http://schemas.openxmlformats.org/officeDocument/2006/relationships/font" Target="fonts/font55.fntdata"/><Relationship Id="rId120" Type="http://schemas.openxmlformats.org/officeDocument/2006/relationships/font" Target="fonts/font54.fntdata"/><Relationship Id="rId12" Type="http://schemas.openxmlformats.org/officeDocument/2006/relationships/slideMaster" Target="slideMasters/slideMaster11.xml"/><Relationship Id="rId119" Type="http://schemas.openxmlformats.org/officeDocument/2006/relationships/font" Target="fonts/font53.fntdata"/><Relationship Id="rId118" Type="http://schemas.openxmlformats.org/officeDocument/2006/relationships/font" Target="fonts/font52.fntdata"/><Relationship Id="rId117" Type="http://schemas.openxmlformats.org/officeDocument/2006/relationships/font" Target="fonts/font51.fntdata"/><Relationship Id="rId116" Type="http://schemas.openxmlformats.org/officeDocument/2006/relationships/font" Target="fonts/font50.fntdata"/><Relationship Id="rId115" Type="http://schemas.openxmlformats.org/officeDocument/2006/relationships/font" Target="fonts/font49.fntdata"/><Relationship Id="rId114" Type="http://schemas.openxmlformats.org/officeDocument/2006/relationships/font" Target="fonts/font48.fntdata"/><Relationship Id="rId113" Type="http://schemas.openxmlformats.org/officeDocument/2006/relationships/font" Target="fonts/font47.fntdata"/><Relationship Id="rId112" Type="http://schemas.openxmlformats.org/officeDocument/2006/relationships/font" Target="fonts/font46.fntdata"/><Relationship Id="rId111" Type="http://schemas.openxmlformats.org/officeDocument/2006/relationships/font" Target="fonts/font45.fntdata"/><Relationship Id="rId110" Type="http://schemas.openxmlformats.org/officeDocument/2006/relationships/font" Target="fonts/font44.fntdata"/><Relationship Id="rId11" Type="http://schemas.openxmlformats.org/officeDocument/2006/relationships/slideMaster" Target="slideMasters/slideMaster10.xml"/><Relationship Id="rId109" Type="http://schemas.openxmlformats.org/officeDocument/2006/relationships/font" Target="fonts/font43.fntdata"/><Relationship Id="rId108" Type="http://schemas.openxmlformats.org/officeDocument/2006/relationships/font" Target="fonts/font42.fntdata"/><Relationship Id="rId107" Type="http://schemas.openxmlformats.org/officeDocument/2006/relationships/font" Target="fonts/font41.fntdata"/><Relationship Id="rId106" Type="http://schemas.openxmlformats.org/officeDocument/2006/relationships/font" Target="fonts/font40.fntdata"/><Relationship Id="rId105" Type="http://schemas.openxmlformats.org/officeDocument/2006/relationships/font" Target="fonts/font39.fntdata"/><Relationship Id="rId104" Type="http://schemas.openxmlformats.org/officeDocument/2006/relationships/font" Target="fonts/font38.fntdata"/><Relationship Id="rId103" Type="http://schemas.openxmlformats.org/officeDocument/2006/relationships/font" Target="fonts/font37.fntdata"/><Relationship Id="rId102" Type="http://schemas.openxmlformats.org/officeDocument/2006/relationships/font" Target="fonts/font36.fntdata"/><Relationship Id="rId101" Type="http://schemas.openxmlformats.org/officeDocument/2006/relationships/font" Target="fonts/font35.fntdata"/><Relationship Id="rId100" Type="http://schemas.openxmlformats.org/officeDocument/2006/relationships/font" Target="fonts/font34.fntdata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 hasCustomPrompt="1"/>
          </p:nvPr>
        </p:nvSpPr>
        <p:spPr>
          <a:xfrm>
            <a:off x="377666" y="427735"/>
            <a:ext cx="6797992" cy="1710943"/>
          </a:xfrm>
        </p:spPr>
        <p:txBody>
          <a:bodyPr/>
          <a:lstStyle/>
          <a:p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Title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" hasCustomPrompt="1"/>
          </p:nvPr>
        </p:nvSpPr>
        <p:spPr>
          <a:xfrm>
            <a:off x="377666" y="2459482"/>
            <a:ext cx="6797992" cy="7057644"/>
          </a:xfrm>
        </p:spPr>
        <p:txBody>
          <a:bodyPr/>
          <a:lstStyle/>
          <a:p>
            <a:pPr lvl="0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Text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1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Second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2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Third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3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Fourth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  <a:p>
            <a:pPr lvl="4"/>
            <a:r>
              <a:rPr kumimoji="0" lang="en-US" sz="1800" b="0" i="0" u="none" strike="noStrike" kern="1200" cap="none" spc="0" normalizeH="0" baseline="0" noProof="0">
                <a:uLnTx/>
                <a:uFillTx/>
              </a:rPr>
              <a:t>Fifth level</a:t>
            </a:r>
            <a:endParaRPr kumimoji="0" lang="en-US" sz="1800" b="0" i="0" u="none" strike="noStrike" kern="1200" cap="none" spc="0" normalizeH="0" baseline="0" noProof="0">
              <a:uLnTx/>
              <a:uFillTx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lvl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1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2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3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24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25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26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27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28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29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0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02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02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03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0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05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05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05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0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07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307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307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40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410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410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410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51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512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512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512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61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614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614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615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717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717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717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717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819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819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819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819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921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922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922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922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024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024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024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024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126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126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126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127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229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229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229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229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31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331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331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331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331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433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434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434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434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536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536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536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536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38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638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638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638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639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741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741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741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741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43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843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843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843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843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45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945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1946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1946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1946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48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048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048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048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048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150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150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150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151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53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253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253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253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253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55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355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355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355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355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457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458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458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458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560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560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560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560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662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662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662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663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7651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7652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7653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7654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674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8675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8676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8677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8678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698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9699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29700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29701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29702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22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0723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0724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30725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30726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Holder 2"/>
          <p:cNvSpPr>
            <a:spLocks noGrp="1"/>
          </p:cNvSpPr>
          <p:nvPr>
            <p:ph type="title"/>
          </p:nvPr>
        </p:nvSpPr>
        <p:spPr>
          <a:xfrm>
            <a:off x="377825" y="427038"/>
            <a:ext cx="6797675" cy="17113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1747" name="Holder 3"/>
          <p:cNvSpPr>
            <a:spLocks noGrp="1"/>
          </p:cNvSpPr>
          <p:nvPr>
            <p:ph type="body" idx="1"/>
          </p:nvPr>
        </p:nvSpPr>
        <p:spPr>
          <a:xfrm>
            <a:off x="377825" y="2459038"/>
            <a:ext cx="6797675" cy="7058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lvl="0"/>
          </a:p>
        </p:txBody>
      </p:sp>
      <p:sp>
        <p:nvSpPr>
          <p:cNvPr id="31748" name="Holder 4"/>
          <p:cNvSpPr>
            <a:spLocks noGrp="1"/>
          </p:cNvSpPr>
          <p:nvPr>
            <p:ph type="ftr" sz="quarter" idx="3"/>
          </p:nvPr>
        </p:nvSpPr>
        <p:spPr>
          <a:xfrm>
            <a:off x="2568575" y="9944100"/>
            <a:ext cx="2417763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</a:p>
        </p:txBody>
      </p:sp>
      <p:sp>
        <p:nvSpPr>
          <p:cNvPr id="31749" name="Holder 5"/>
          <p:cNvSpPr>
            <a:spLocks noGrp="1"/>
          </p:cNvSpPr>
          <p:nvPr>
            <p:ph type="dt" sz="half" idx="2"/>
          </p:nvPr>
        </p:nvSpPr>
        <p:spPr>
          <a:xfrm>
            <a:off x="37782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fld id="{BB962C8B-B14F-4D97-AF65-F5344CB8AC3E}" type="datetime1">
              <a:rPr lang="en-US"/>
            </a:fld>
            <a:endParaRPr lang="en-US"/>
          </a:p>
        </p:txBody>
      </p:sp>
      <p:sp>
        <p:nvSpPr>
          <p:cNvPr id="31750" name="Holder 6"/>
          <p:cNvSpPr>
            <a:spLocks noGrp="1"/>
          </p:cNvSpPr>
          <p:nvPr>
            <p:ph type="sldNum" sz="quarter" idx="4"/>
          </p:nvPr>
        </p:nvSpPr>
        <p:spPr>
          <a:xfrm>
            <a:off x="5438775" y="9944100"/>
            <a:ext cx="1736725" cy="5349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pPr lvl="0"/>
            <a:fld id="{9A0DB2DC-4C9A-4742-B13C-FB6460FD3503}" type="slidenum">
              <a:rPr lang="ru-RU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3200">
          <a:latin typeface="+mn-lt"/>
          <a:ea typeface="+mn-ea"/>
          <a:cs typeface="+mn-cs"/>
        </a:defRPr>
      </a:lvl1pPr>
      <a:lvl2pPr marL="457200">
        <a:defRPr sz="3200">
          <a:latin typeface="+mn-lt"/>
          <a:ea typeface="+mn-ea"/>
          <a:cs typeface="+mn-cs"/>
        </a:defRPr>
      </a:lvl2pPr>
      <a:lvl3pPr marL="914400">
        <a:defRPr sz="3200">
          <a:latin typeface="+mn-lt"/>
          <a:ea typeface="+mn-ea"/>
          <a:cs typeface="+mn-cs"/>
        </a:defRPr>
      </a:lvl3pPr>
      <a:lvl4pPr marL="1371600">
        <a:defRPr sz="3200">
          <a:latin typeface="+mn-lt"/>
          <a:ea typeface="+mn-ea"/>
          <a:cs typeface="+mn-cs"/>
        </a:defRPr>
      </a:lvl4pPr>
      <a:lvl5pPr marL="1828800">
        <a:defRPr sz="3200">
          <a:latin typeface="+mn-lt"/>
          <a:ea typeface="+mn-ea"/>
          <a:cs typeface="+mn-cs"/>
        </a:defRPr>
      </a:lvl5pPr>
      <a:lvl6pPr marL="2286000">
        <a:defRPr sz="3200">
          <a:latin typeface="+mn-lt"/>
          <a:ea typeface="+mn-ea"/>
          <a:cs typeface="+mn-cs"/>
        </a:defRPr>
      </a:lvl6pPr>
      <a:lvl7pPr marL="2743200">
        <a:defRPr sz="3200">
          <a:latin typeface="+mn-lt"/>
          <a:ea typeface="+mn-ea"/>
          <a:cs typeface="+mn-cs"/>
        </a:defRPr>
      </a:lvl7pPr>
      <a:lvl8pPr marL="3200400">
        <a:defRPr sz="3200">
          <a:latin typeface="+mn-lt"/>
          <a:ea typeface="+mn-ea"/>
          <a:cs typeface="+mn-cs"/>
        </a:defRPr>
      </a:lvl8pPr>
      <a:lvl9pPr marL="3657600">
        <a:defRPr sz="3200"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1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2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4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0.xml"/><Relationship Id="rId1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277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2771" name="object 3"/>
          <p:cNvSpPr/>
          <p:nvPr/>
        </p:nvSpPr>
        <p:spPr>
          <a:xfrm>
            <a:off x="1403350" y="1147763"/>
            <a:ext cx="6484938" cy="16049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6090"/>
              </a:lnSpc>
            </a:pPr>
            <a:r>
              <a:rPr lang="en-US" altLang="zh-CN" sz="5200">
                <a:solidFill>
                  <a:srgbClr val="000000"/>
                </a:solidFill>
                <a:latin typeface="UBHHCA+Roboto-Regular" panose="02000500000000000000"/>
                <a:ea typeface="UBHHCA+Roboto-Regular" panose="02000500000000000000"/>
              </a:rPr>
              <a:t>The Modern Software</a:t>
            </a:r>
            <a:endParaRPr lang="en-US" altLang="zh-CN" sz="5200">
              <a:solidFill>
                <a:srgbClr val="000000"/>
              </a:solidFill>
              <a:latin typeface="UBHHCA+Roboto-Regular" panose="02000500000000000000"/>
              <a:ea typeface="UBHHCA+Roboto-Regular" panose="02000500000000000000"/>
            </a:endParaRPr>
          </a:p>
          <a:p>
            <a:pPr>
              <a:lnSpc>
                <a:spcPts val="6090"/>
              </a:lnSpc>
              <a:spcBef>
                <a:spcPts val="140"/>
              </a:spcBef>
            </a:pPr>
            <a:r>
              <a:rPr lang="en-US" altLang="zh-CN" sz="5200">
                <a:solidFill>
                  <a:srgbClr val="000000"/>
                </a:solidFill>
                <a:latin typeface="UBHHCA+Roboto-Regular" panose="02000500000000000000"/>
                <a:ea typeface="UBHHCA+Roboto-Regular" panose="02000500000000000000"/>
              </a:rPr>
              <a:t>Developer</a:t>
            </a:r>
            <a:endParaRPr lang="en-US" altLang="zh-CN" sz="5200">
              <a:solidFill>
                <a:srgbClr val="000000"/>
              </a:solidFill>
              <a:latin typeface="UBHHCA+Roboto-Regular" panose="02000500000000000000"/>
              <a:ea typeface="UBHHCA+Roboto-Regular" panose="02000500000000000000"/>
            </a:endParaRPr>
          </a:p>
        </p:txBody>
      </p:sp>
      <p:sp>
        <p:nvSpPr>
          <p:cNvPr id="32772" name="object 4"/>
          <p:cNvSpPr/>
          <p:nvPr/>
        </p:nvSpPr>
        <p:spPr>
          <a:xfrm>
            <a:off x="3313113" y="2889250"/>
            <a:ext cx="2670175" cy="6429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 marL="914400">
              <a:lnSpc>
                <a:spcPts val="1800"/>
              </a:lnSpc>
            </a:pPr>
            <a:r>
              <a:rPr lang="en-US" altLang="zh-CN" sz="1500">
                <a:solidFill>
                  <a:srgbClr val="595959"/>
                </a:solidFill>
                <a:latin typeface="UBHHCA+Roboto-Regular" panose="02000500000000000000"/>
                <a:ea typeface="UBHHCA+Roboto-Regular" panose="02000500000000000000"/>
              </a:rPr>
              <a:t>CS146S</a:t>
            </a:r>
            <a:endParaRPr lang="en-US" altLang="zh-CN" sz="1500">
              <a:solidFill>
                <a:srgbClr val="595959"/>
              </a:solidFill>
              <a:latin typeface="UBHHCA+Roboto-Regular" panose="02000500000000000000"/>
              <a:ea typeface="UBHHCA+Roboto-Regular" panose="02000500000000000000"/>
            </a:endParaRPr>
          </a:p>
          <a:p>
            <a:pPr marL="914400">
              <a:lnSpc>
                <a:spcPts val="1475"/>
              </a:lnSpc>
            </a:pPr>
            <a:r>
              <a:rPr lang="en-US" altLang="zh-CN" sz="1500">
                <a:solidFill>
                  <a:srgbClr val="595959"/>
                </a:solidFill>
                <a:latin typeface="UBHHCA+Roboto-Regular" panose="02000500000000000000"/>
                <a:ea typeface="UBHHCA+Roboto-Regular" panose="02000500000000000000"/>
              </a:rPr>
              <a:t>Stanford University, Fall 2025</a:t>
            </a:r>
            <a:endParaRPr lang="en-US" altLang="zh-CN" sz="1500">
              <a:solidFill>
                <a:srgbClr val="595959"/>
              </a:solidFill>
              <a:latin typeface="UBHHCA+Roboto-Regular" panose="02000500000000000000"/>
              <a:ea typeface="UBHHCA+Roboto-Regular" panose="02000500000000000000"/>
            </a:endParaRPr>
          </a:p>
          <a:p>
            <a:pPr marL="914400">
              <a:lnSpc>
                <a:spcPts val="1475"/>
              </a:lnSpc>
            </a:pPr>
            <a:r>
              <a:rPr lang="en-US" altLang="zh-CN" sz="1500">
                <a:solidFill>
                  <a:srgbClr val="595959"/>
                </a:solidFill>
                <a:latin typeface="RVIGTR+Roboto-Bold" panose="02000500000000000000"/>
                <a:ea typeface="RVIGTR+Roboto-Bold" panose="02000500000000000000"/>
              </a:rPr>
              <a:t>Mihail Eric</a:t>
            </a:r>
            <a:endParaRPr lang="en-US" altLang="zh-CN" sz="1500">
              <a:solidFill>
                <a:srgbClr val="595959"/>
              </a:solidFill>
              <a:latin typeface="RVIGTR+Roboto-Bold" panose="02000500000000000000"/>
              <a:ea typeface="RVIGTR+Roboto-Bold" panose="02000500000000000000"/>
            </a:endParaRPr>
          </a:p>
        </p:txBody>
      </p:sp>
      <p:sp>
        <p:nvSpPr>
          <p:cNvPr id="32773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LNFEPR+Arial-BoldMT" panose="02000500000000000000"/>
                <a:ea typeface="LNFEPR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LNFEPR+Arial-BoldMT" panose="02000500000000000000"/>
              <a:ea typeface="LNFEPR+Arial-BoldMT" panose="0200050000000000000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379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3795" name="object 3"/>
          <p:cNvSpPr/>
          <p:nvPr/>
        </p:nvSpPr>
        <p:spPr>
          <a:xfrm>
            <a:off x="1298575" y="2035175"/>
            <a:ext cx="6696075" cy="81121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6090"/>
              </a:lnSpc>
            </a:pPr>
            <a:r>
              <a:rPr lang="en-US" altLang="zh-CN" sz="5200">
                <a:solidFill>
                  <a:srgbClr val="000000"/>
                </a:solidFill>
                <a:latin typeface="MMEEAA+Roboto-Regular" panose="02000500000000000000"/>
                <a:ea typeface="MMEEAA+Roboto-Regular" panose="02000500000000000000"/>
              </a:rPr>
              <a:t>LLM Power Prompting</a:t>
            </a:r>
            <a:endParaRPr lang="en-US" altLang="zh-CN" sz="5200">
              <a:solidFill>
                <a:srgbClr val="000000"/>
              </a:solidFill>
              <a:latin typeface="MMEEAA+Roboto-Regular" panose="02000500000000000000"/>
              <a:ea typeface="MMEEAA+Roboto-Regular" panose="02000500000000000000"/>
            </a:endParaRPr>
          </a:p>
        </p:txBody>
      </p:sp>
      <p:sp>
        <p:nvSpPr>
          <p:cNvPr id="33796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HCDBAV+Arial-BoldMT" panose="02000500000000000000"/>
                <a:ea typeface="HCDBAV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HCDBAV+Arial-BoldMT" panose="02000500000000000000"/>
              <a:ea typeface="HCDBAV+Arial-BoldMT" panose="0200050000000000000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481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4819" name="object 3"/>
          <p:cNvSpPr/>
          <p:nvPr/>
        </p:nvSpPr>
        <p:spPr>
          <a:xfrm>
            <a:off x="396875" y="465138"/>
            <a:ext cx="340042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WNUOMA+Roboto-Regular" panose="02000500000000000000"/>
                <a:ea typeface="WNUOMA+Roboto-Regular" panose="02000500000000000000"/>
              </a:rPr>
              <a:t>Prompting background</a:t>
            </a:r>
            <a:endParaRPr lang="en-US" altLang="zh-CN" sz="2500">
              <a:solidFill>
                <a:srgbClr val="000000"/>
              </a:solidFill>
              <a:latin typeface="WNUOMA+Roboto-Regular" panose="02000500000000000000"/>
              <a:ea typeface="WNUOMA+Roboto-Regular" panose="02000500000000000000"/>
            </a:endParaRPr>
          </a:p>
        </p:txBody>
      </p:sp>
      <p:sp>
        <p:nvSpPr>
          <p:cNvPr id="34820" name="object 4"/>
          <p:cNvSpPr/>
          <p:nvPr/>
        </p:nvSpPr>
        <p:spPr>
          <a:xfrm>
            <a:off x="487363" y="1093788"/>
            <a:ext cx="8166100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IUHDEP+Arial-BoldMT" panose="02000500000000000000"/>
                <a:ea typeface="IUHDEP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WNUOMA+Roboto-Regular" panose="02000500000000000000"/>
                <a:ea typeface="WNUOMA+Roboto-Regular" panose="02000500000000000000"/>
              </a:rPr>
              <a:t>Prompts are the </a:t>
            </a:r>
            <a:r>
              <a:rPr lang="en-US" altLang="zh-CN">
                <a:solidFill>
                  <a:srgbClr val="595959"/>
                </a:solidFill>
                <a:latin typeface="FNTCPF+Roboto-Italic" panose="02000500000000000000"/>
                <a:ea typeface="FNTCPF+Roboto-Italic" panose="02000500000000000000"/>
              </a:rPr>
              <a:t>lingua franca </a:t>
            </a:r>
            <a:r>
              <a:rPr lang="en-US" altLang="zh-CN">
                <a:solidFill>
                  <a:srgbClr val="595959"/>
                </a:solidFill>
                <a:latin typeface="WNUOMA+Roboto-Regular" panose="02000500000000000000"/>
                <a:ea typeface="WNUOMA+Roboto-Regular" panose="02000500000000000000"/>
              </a:rPr>
              <a:t>for getting LLMs to do what we want and also</a:t>
            </a:r>
            <a:endParaRPr lang="en-US" altLang="zh-CN">
              <a:solidFill>
                <a:srgbClr val="595959"/>
              </a:solidFill>
              <a:latin typeface="WNUOMA+Roboto-Regular" panose="02000500000000000000"/>
              <a:ea typeface="WNUOMA+Roboto-Regular" panose="02000500000000000000"/>
            </a:endParaRPr>
          </a:p>
        </p:txBody>
      </p:sp>
      <p:sp>
        <p:nvSpPr>
          <p:cNvPr id="34821" name="object 5"/>
          <p:cNvSpPr/>
          <p:nvPr/>
        </p:nvSpPr>
        <p:spPr>
          <a:xfrm>
            <a:off x="854075" y="1408113"/>
            <a:ext cx="3200400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WNUOMA+Roboto-Regular" panose="02000500000000000000"/>
                <a:ea typeface="WNUOMA+Roboto-Regular" panose="02000500000000000000"/>
              </a:rPr>
              <a:t>effectively programming them</a:t>
            </a:r>
            <a:endParaRPr lang="en-US" altLang="zh-CN">
              <a:solidFill>
                <a:srgbClr val="595959"/>
              </a:solidFill>
              <a:latin typeface="WNUOMA+Roboto-Regular" panose="02000500000000000000"/>
              <a:ea typeface="WNUOMA+Roboto-Regular" panose="02000500000000000000"/>
            </a:endParaRPr>
          </a:p>
        </p:txBody>
      </p:sp>
      <p:sp>
        <p:nvSpPr>
          <p:cNvPr id="34822" name="object 6"/>
          <p:cNvSpPr/>
          <p:nvPr/>
        </p:nvSpPr>
        <p:spPr>
          <a:xfrm>
            <a:off x="7966075" y="3070225"/>
            <a:ext cx="1111250" cy="3698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90"/>
              </a:lnSpc>
            </a:pPr>
            <a:r>
              <a:rPr lang="en-US" altLang="zh-CN" sz="1100">
                <a:solidFill>
                  <a:srgbClr val="595959"/>
                </a:solidFill>
                <a:latin typeface="FNTCPF+Roboto-Italic" panose="02000500000000000000"/>
                <a:ea typeface="FNTCPF+Roboto-Italic" panose="02000500000000000000"/>
              </a:rPr>
              <a:t>Courtesy of</a:t>
            </a:r>
            <a:endParaRPr lang="en-US" altLang="zh-CN" sz="1100">
              <a:solidFill>
                <a:srgbClr val="595959"/>
              </a:solidFill>
              <a:latin typeface="FNTCPF+Roboto-Italic" panose="02000500000000000000"/>
              <a:ea typeface="FNTCPF+Roboto-Italic" panose="02000500000000000000"/>
            </a:endParaRPr>
          </a:p>
          <a:p>
            <a:pPr>
              <a:lnSpc>
                <a:spcPts val="1290"/>
              </a:lnSpc>
              <a:spcBef>
                <a:spcPts val="25"/>
              </a:spcBef>
            </a:pPr>
            <a:r>
              <a:rPr lang="en-US" altLang="zh-CN" sz="1100" u="sng">
                <a:solidFill>
                  <a:srgbClr val="0097A7"/>
                </a:solidFill>
                <a:latin typeface="FNTCPF+Roboto-Italic" panose="02000500000000000000"/>
                <a:ea typeface="FNTCPF+Roboto-Italic" panose="02000500000000000000"/>
              </a:rPr>
              <a:t>Andrej Karpathy</a:t>
            </a:r>
            <a:endParaRPr lang="en-US" altLang="zh-CN" sz="1100" u="sng">
              <a:solidFill>
                <a:srgbClr val="0097A7"/>
              </a:solidFill>
              <a:latin typeface="FNTCPF+Roboto-Italic" panose="02000500000000000000"/>
              <a:ea typeface="FNTCPF+Roboto-Italic" panose="02000500000000000000"/>
            </a:endParaRPr>
          </a:p>
        </p:txBody>
      </p:sp>
      <p:sp>
        <p:nvSpPr>
          <p:cNvPr id="34823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IUHDEP+Arial-BoldMT" panose="02000500000000000000"/>
                <a:ea typeface="IUHDEP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IUHDEP+Arial-BoldMT" panose="02000500000000000000"/>
              <a:ea typeface="IUHDEP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635760"/>
            <a:ext cx="7842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提示词是让大语言模型按照我们的需求执行任务的通用语言，也是对其进行高效编程的方式</a:t>
            </a:r>
            <a:endParaRPr lang="zh-CN" altLang="en-US" sz="140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584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5843" name="object 3"/>
          <p:cNvSpPr/>
          <p:nvPr/>
        </p:nvSpPr>
        <p:spPr>
          <a:xfrm>
            <a:off x="396875" y="465138"/>
            <a:ext cx="173196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PABOOR+Roboto-Regular" panose="02000500000000000000"/>
                <a:ea typeface="PABOOR+Roboto-Regular" panose="02000500000000000000"/>
              </a:rPr>
              <a:t>An analogy</a:t>
            </a:r>
            <a:endParaRPr lang="en-US" altLang="zh-CN" sz="2500">
              <a:solidFill>
                <a:srgbClr val="000000"/>
              </a:solidFill>
              <a:latin typeface="PABOOR+Roboto-Regular" panose="02000500000000000000"/>
              <a:ea typeface="PABOOR+Roboto-Regular" panose="02000500000000000000"/>
            </a:endParaRPr>
          </a:p>
        </p:txBody>
      </p:sp>
      <p:sp>
        <p:nvSpPr>
          <p:cNvPr id="35844" name="object 4"/>
          <p:cNvSpPr/>
          <p:nvPr/>
        </p:nvSpPr>
        <p:spPr>
          <a:xfrm>
            <a:off x="487363" y="1093788"/>
            <a:ext cx="6430962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PIWOAG+Arial-BoldMT" panose="02000500000000000000"/>
                <a:ea typeface="PIWOAG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PABOOR+Roboto-Regular" panose="02000500000000000000"/>
                <a:ea typeface="PABOOR+Roboto-Regular" panose="02000500000000000000"/>
              </a:rPr>
              <a:t>Look to how we’ve changed our search engine interactions</a:t>
            </a:r>
            <a:endParaRPr lang="en-US" altLang="zh-CN">
              <a:solidFill>
                <a:srgbClr val="595959"/>
              </a:solidFill>
              <a:latin typeface="PABOOR+Roboto-Regular" panose="02000500000000000000"/>
              <a:ea typeface="PABOOR+Roboto-Regular" panose="02000500000000000000"/>
            </a:endParaRPr>
          </a:p>
        </p:txBody>
      </p:sp>
      <p:sp>
        <p:nvSpPr>
          <p:cNvPr id="35845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PIWOAG+Arial-BoldMT" panose="02000500000000000000"/>
                <a:ea typeface="PIWOAG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PIWOAG+Arial-BoldMT" panose="02000500000000000000"/>
              <a:ea typeface="PIWOAG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7685" y="1379855"/>
            <a:ext cx="3900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参考我们与搜索引擎的交互方式变化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686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6867" name="object 3"/>
          <p:cNvSpPr/>
          <p:nvPr/>
        </p:nvSpPr>
        <p:spPr>
          <a:xfrm>
            <a:off x="396875" y="465138"/>
            <a:ext cx="341947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ARAHSV+Roboto-Regular" panose="02000500000000000000"/>
                <a:ea typeface="ARAHSV+Roboto-Regular" panose="02000500000000000000"/>
              </a:rPr>
              <a:t>Prompting Background</a:t>
            </a:r>
            <a:endParaRPr lang="en-US" altLang="zh-CN" sz="2500">
              <a:solidFill>
                <a:srgbClr val="000000"/>
              </a:solidFill>
              <a:latin typeface="ARAHSV+Roboto-Regular" panose="02000500000000000000"/>
              <a:ea typeface="ARAHSV+Roboto-Regular" panose="02000500000000000000"/>
            </a:endParaRPr>
          </a:p>
        </p:txBody>
      </p:sp>
      <p:sp>
        <p:nvSpPr>
          <p:cNvPr id="36868" name="object 4"/>
          <p:cNvSpPr/>
          <p:nvPr/>
        </p:nvSpPr>
        <p:spPr>
          <a:xfrm>
            <a:off x="487363" y="1093788"/>
            <a:ext cx="7761287" cy="6207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DEGLOT+Arial-BoldMT" panose="02000500000000000000"/>
                <a:ea typeface="DEGLOT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ARAHSV+Roboto-Regular" panose="02000500000000000000"/>
                <a:ea typeface="ARAHSV+Roboto-Regular" panose="02000500000000000000"/>
              </a:rPr>
              <a:t>Prompting is both an art and a science</a:t>
            </a:r>
            <a:endParaRPr lang="en-US" altLang="zh-CN">
              <a:solidFill>
                <a:srgbClr val="595959"/>
              </a:solidFill>
              <a:latin typeface="ARAHSV+Roboto-Regular" panose="02000500000000000000"/>
              <a:ea typeface="ARAHSV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RMTMWD+ArialMT" panose="02000500000000000000"/>
                <a:ea typeface="RMTMWD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ARAHSV+Roboto-Regular" panose="02000500000000000000"/>
                <a:ea typeface="ARAHSV+Roboto-Regular" panose="02000500000000000000"/>
              </a:rPr>
              <a:t>Black-box nature of LLMs means there’s some magic to </a:t>
            </a:r>
            <a:r>
              <a:rPr lang="en-US" altLang="zh-CN">
                <a:solidFill>
                  <a:srgbClr val="595959"/>
                </a:solidFill>
                <a:latin typeface="WAQTVW+Roboto-Italic" panose="02000500000000000000"/>
                <a:ea typeface="WAQTVW+Roboto-Italic" panose="02000500000000000000"/>
              </a:rPr>
              <a:t>LLM-whispering</a:t>
            </a:r>
            <a:endParaRPr lang="en-US" altLang="zh-CN">
              <a:solidFill>
                <a:srgbClr val="595959"/>
              </a:solidFill>
              <a:latin typeface="WAQTVW+Roboto-Italic" panose="02000500000000000000"/>
              <a:ea typeface="WAQTVW+Roboto-Italic" panose="02000500000000000000"/>
            </a:endParaRPr>
          </a:p>
        </p:txBody>
      </p:sp>
      <p:sp>
        <p:nvSpPr>
          <p:cNvPr id="36869" name="object 5"/>
          <p:cNvSpPr/>
          <p:nvPr/>
        </p:nvSpPr>
        <p:spPr>
          <a:xfrm>
            <a:off x="854075" y="1724025"/>
            <a:ext cx="1200150" cy="3063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ARAHSV+Roboto-Regular" panose="02000500000000000000"/>
                <a:ea typeface="ARAHSV+Roboto-Regular" panose="02000500000000000000"/>
              </a:rPr>
              <a:t>effectively</a:t>
            </a:r>
            <a:endParaRPr lang="en-US" altLang="zh-CN">
              <a:solidFill>
                <a:srgbClr val="595959"/>
              </a:solidFill>
              <a:latin typeface="ARAHSV+Roboto-Regular" panose="02000500000000000000"/>
              <a:ea typeface="ARAHSV+Roboto-Regular" panose="02000500000000000000"/>
            </a:endParaRPr>
          </a:p>
        </p:txBody>
      </p:sp>
      <p:sp>
        <p:nvSpPr>
          <p:cNvPr id="36870" name="object 6"/>
          <p:cNvSpPr/>
          <p:nvPr/>
        </p:nvSpPr>
        <p:spPr>
          <a:xfrm>
            <a:off x="487363" y="2039938"/>
            <a:ext cx="8010525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RMTMWD+ArialMT" panose="02000500000000000000"/>
                <a:ea typeface="RMTMWD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ARAHSV+Roboto-Regular" panose="02000500000000000000"/>
                <a:ea typeface="ARAHSV+Roboto-Regular" panose="02000500000000000000"/>
              </a:rPr>
              <a:t>…but there are established techniques that have empirically improved LLM</a:t>
            </a:r>
            <a:endParaRPr lang="en-US" altLang="zh-CN">
              <a:solidFill>
                <a:srgbClr val="595959"/>
              </a:solidFill>
              <a:latin typeface="ARAHSV+Roboto-Regular" panose="02000500000000000000"/>
              <a:ea typeface="ARAHSV+Roboto-Regular" panose="02000500000000000000"/>
            </a:endParaRPr>
          </a:p>
        </p:txBody>
      </p:sp>
      <p:sp>
        <p:nvSpPr>
          <p:cNvPr id="36871" name="object 7"/>
          <p:cNvSpPr/>
          <p:nvPr/>
        </p:nvSpPr>
        <p:spPr>
          <a:xfrm>
            <a:off x="854075" y="2354263"/>
            <a:ext cx="1458913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ARAHSV+Roboto-Regular" panose="02000500000000000000"/>
                <a:ea typeface="ARAHSV+Roboto-Regular" panose="02000500000000000000"/>
              </a:rPr>
              <a:t>performance</a:t>
            </a:r>
            <a:endParaRPr lang="en-US" altLang="zh-CN">
              <a:solidFill>
                <a:srgbClr val="595959"/>
              </a:solidFill>
              <a:latin typeface="ARAHSV+Roboto-Regular" panose="02000500000000000000"/>
              <a:ea typeface="ARAHSV+Roboto-Regular" panose="02000500000000000000"/>
            </a:endParaRPr>
          </a:p>
        </p:txBody>
      </p:sp>
      <p:sp>
        <p:nvSpPr>
          <p:cNvPr id="36872" name="object 8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DEGLOT+Arial-BoldMT" panose="02000500000000000000"/>
                <a:ea typeface="DEGLOT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DEGLOT+Arial-BoldMT" panose="02000500000000000000"/>
              <a:ea typeface="DEGLOT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155" y="2646680"/>
            <a:ext cx="7567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提示词设计既是一门艺术，也是一门科学</a:t>
            </a:r>
            <a:endParaRPr lang="zh-CN" altLang="en-US"/>
          </a:p>
          <a:p>
            <a:r>
              <a:rPr lang="zh-CN" altLang="en-US"/>
              <a:t>大语言模型的</a:t>
            </a:r>
            <a:r>
              <a:rPr lang="en-US" altLang="zh-CN"/>
              <a:t>“</a:t>
            </a:r>
            <a:r>
              <a:rPr lang="zh-CN" altLang="en-US"/>
              <a:t>黑箱</a:t>
            </a:r>
            <a:r>
              <a:rPr lang="en-US" altLang="zh-CN"/>
              <a:t>”</a:t>
            </a:r>
            <a:r>
              <a:rPr lang="zh-CN" altLang="en-US"/>
              <a:t>特性，意味着想要高效驾驭它需要一些技巧</a:t>
            </a:r>
            <a:endParaRPr lang="zh-CN" altLang="en-US"/>
          </a:p>
          <a:p>
            <a:r>
              <a:rPr lang="zh-CN" altLang="en-US"/>
              <a:t>但也有经过实践验证、能提升大语言模型表现的成熟方法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789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7891" name="object 3"/>
          <p:cNvSpPr/>
          <p:nvPr/>
        </p:nvSpPr>
        <p:spPr>
          <a:xfrm>
            <a:off x="396875" y="541338"/>
            <a:ext cx="3060700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GUKNFC+Roboto-Regular" panose="02000500000000000000"/>
                <a:ea typeface="GUKNFC+Roboto-Regular" panose="02000500000000000000"/>
              </a:rPr>
              <a:t>Zero-shot prompting</a:t>
            </a:r>
            <a:endParaRPr lang="en-US" altLang="zh-CN" sz="2500">
              <a:solidFill>
                <a:srgbClr val="000000"/>
              </a:solidFill>
              <a:latin typeface="GUKNFC+Roboto-Regular" panose="02000500000000000000"/>
              <a:ea typeface="GUKNFC+Roboto-Regular" panose="02000500000000000000"/>
            </a:endParaRPr>
          </a:p>
        </p:txBody>
      </p:sp>
      <p:sp>
        <p:nvSpPr>
          <p:cNvPr id="37892" name="object 4"/>
          <p:cNvSpPr/>
          <p:nvPr/>
        </p:nvSpPr>
        <p:spPr>
          <a:xfrm>
            <a:off x="487363" y="1246188"/>
            <a:ext cx="3105150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BILUSV+Arial-BoldMT" panose="02000500000000000000"/>
                <a:ea typeface="BILUSV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GUKNFC+Roboto-Regular" panose="02000500000000000000"/>
                <a:ea typeface="GUKNFC+Roboto-Regular" panose="02000500000000000000"/>
              </a:rPr>
              <a:t>Ask the LLM to do a thing</a:t>
            </a:r>
            <a:endParaRPr lang="en-US" altLang="zh-CN">
              <a:solidFill>
                <a:srgbClr val="595959"/>
              </a:solidFill>
              <a:latin typeface="GUKNFC+Roboto-Regular" panose="02000500000000000000"/>
              <a:ea typeface="GUKNFC+Roboto-Regular" panose="02000500000000000000"/>
            </a:endParaRPr>
          </a:p>
        </p:txBody>
      </p:sp>
      <p:sp>
        <p:nvSpPr>
          <p:cNvPr id="37893" name="object 5"/>
          <p:cNvSpPr/>
          <p:nvPr/>
        </p:nvSpPr>
        <p:spPr>
          <a:xfrm>
            <a:off x="976313" y="1563688"/>
            <a:ext cx="26035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BILUSV+Arial-BoldMT" panose="02000500000000000000"/>
                <a:ea typeface="BILUSV+Arial-Bold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BILUSV+Arial-BoldMT" panose="02000500000000000000"/>
              <a:ea typeface="BILUSV+Arial-BoldMT" panose="02000500000000000000"/>
            </a:endParaRPr>
          </a:p>
          <a:p>
            <a:pPr>
              <a:lnSpc>
                <a:spcPts val="1565"/>
              </a:lnSpc>
              <a:spcBef>
                <a:spcPts val="315"/>
              </a:spcBef>
            </a:pPr>
            <a:r>
              <a:rPr lang="en-US" altLang="zh-CN" sz="1400">
                <a:solidFill>
                  <a:srgbClr val="595959"/>
                </a:solidFill>
                <a:latin typeface="BILUSV+Arial-BoldMT" panose="02000500000000000000"/>
                <a:ea typeface="BILUSV+Arial-Bold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BILUSV+Arial-BoldMT" panose="02000500000000000000"/>
              <a:ea typeface="BILUSV+Arial-BoldMT" panose="02000500000000000000"/>
            </a:endParaRPr>
          </a:p>
        </p:txBody>
      </p:sp>
      <p:sp>
        <p:nvSpPr>
          <p:cNvPr id="37894" name="object 6"/>
          <p:cNvSpPr/>
          <p:nvPr/>
        </p:nvSpPr>
        <p:spPr>
          <a:xfrm>
            <a:off x="1311275" y="1558925"/>
            <a:ext cx="1158875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GUKNFC+Roboto-Regular" panose="02000500000000000000"/>
                <a:ea typeface="GUKNFC+Roboto-Regular" panose="02000500000000000000"/>
              </a:rPr>
              <a:t>no support</a:t>
            </a:r>
            <a:endParaRPr lang="en-US" altLang="zh-CN" sz="1400">
              <a:solidFill>
                <a:srgbClr val="595959"/>
              </a:solidFill>
              <a:latin typeface="GUKNFC+Roboto-Regular" panose="02000500000000000000"/>
              <a:ea typeface="GUKNFC+Roboto-Regular" panose="02000500000000000000"/>
            </a:endParaRPr>
          </a:p>
          <a:p>
            <a:pPr>
              <a:lnSpc>
                <a:spcPts val="1640"/>
              </a:lnSpc>
              <a:spcBef>
                <a:spcPts val="340"/>
              </a:spcBef>
            </a:pPr>
            <a:r>
              <a:rPr lang="en-US" altLang="zh-CN" sz="1400">
                <a:solidFill>
                  <a:srgbClr val="595959"/>
                </a:solidFill>
                <a:latin typeface="GUKNFC+Roboto-Regular" panose="02000500000000000000"/>
                <a:ea typeface="GUKNFC+Roboto-Regular" panose="02000500000000000000"/>
              </a:rPr>
              <a:t>no examples</a:t>
            </a:r>
            <a:endParaRPr lang="en-US" altLang="zh-CN" sz="1400">
              <a:solidFill>
                <a:srgbClr val="595959"/>
              </a:solidFill>
              <a:latin typeface="GUKNFC+Roboto-Regular" panose="02000500000000000000"/>
              <a:ea typeface="GUKNFC+Roboto-Regular" panose="02000500000000000000"/>
            </a:endParaRPr>
          </a:p>
        </p:txBody>
      </p:sp>
      <p:sp>
        <p:nvSpPr>
          <p:cNvPr id="37895" name="object 7"/>
          <p:cNvSpPr/>
          <p:nvPr/>
        </p:nvSpPr>
        <p:spPr>
          <a:xfrm>
            <a:off x="2603500" y="2822575"/>
            <a:ext cx="4311650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SUUAHH+Arial-BoldItalicMT" panose="02000500000000000000"/>
                <a:ea typeface="SUUAHH+Arial-BoldItalicMT" panose="02000500000000000000"/>
              </a:rPr>
              <a:t>Write me a Rust for-loop that iterates over a list of strings</a:t>
            </a:r>
            <a:endParaRPr lang="en-US" altLang="zh-CN" sz="1200">
              <a:solidFill>
                <a:srgbClr val="595959"/>
              </a:solidFill>
              <a:latin typeface="SUUAHH+Arial-BoldItalicMT" panose="02000500000000000000"/>
              <a:ea typeface="SUUAHH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SUUAHH+Arial-BoldItalicMT" panose="02000500000000000000"/>
                <a:ea typeface="SUUAHH+Arial-BoldItalicMT" panose="02000500000000000000"/>
              </a:rPr>
              <a:t>for every, printing every value in an even index</a:t>
            </a:r>
            <a:endParaRPr lang="en-US" altLang="zh-CN" sz="1200">
              <a:solidFill>
                <a:srgbClr val="595959"/>
              </a:solidFill>
              <a:latin typeface="SUUAHH+Arial-BoldItalicMT" panose="02000500000000000000"/>
              <a:ea typeface="SUUAHH+Arial-BoldItalicMT" panose="02000500000000000000"/>
            </a:endParaRPr>
          </a:p>
        </p:txBody>
      </p:sp>
      <p:sp>
        <p:nvSpPr>
          <p:cNvPr id="37896" name="object 8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BILUSV+Arial-BoldMT" panose="02000500000000000000"/>
                <a:ea typeface="BILUSV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BILUSV+Arial-BoldMT" panose="02000500000000000000"/>
              <a:ea typeface="BILUSV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7905" y="527050"/>
            <a:ext cx="2094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零样本提示词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3562350" y="1246505"/>
            <a:ext cx="32550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直接让大语言模型执行任务</a:t>
            </a:r>
            <a:endParaRPr lang="zh-CN" altLang="en-US"/>
          </a:p>
          <a:p>
            <a:r>
              <a:rPr lang="zh-CN" altLang="en-US"/>
              <a:t>无辅助信息</a:t>
            </a:r>
            <a:endParaRPr lang="zh-CN" altLang="en-US"/>
          </a:p>
          <a:p>
            <a:r>
              <a:rPr lang="zh-CN" altLang="en-US"/>
              <a:t>无示例参考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891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8915" name="object 3"/>
          <p:cNvSpPr/>
          <p:nvPr/>
        </p:nvSpPr>
        <p:spPr>
          <a:xfrm>
            <a:off x="396875" y="541338"/>
            <a:ext cx="2605088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PUMCUU+Roboto-Regular" panose="02000500000000000000"/>
                <a:ea typeface="PUMCUU+Roboto-Regular" panose="02000500000000000000"/>
              </a:rPr>
              <a:t>K-shot prompting</a:t>
            </a:r>
            <a:endParaRPr lang="en-US" altLang="zh-CN" sz="2500">
              <a:solidFill>
                <a:srgbClr val="000000"/>
              </a:solidFill>
              <a:latin typeface="PUMCUU+Roboto-Regular" panose="02000500000000000000"/>
              <a:ea typeface="PUMCUU+Roboto-Regular" panose="02000500000000000000"/>
            </a:endParaRPr>
          </a:p>
        </p:txBody>
      </p:sp>
      <p:sp>
        <p:nvSpPr>
          <p:cNvPr id="38916" name="object 4"/>
          <p:cNvSpPr/>
          <p:nvPr/>
        </p:nvSpPr>
        <p:spPr>
          <a:xfrm>
            <a:off x="487363" y="1246188"/>
            <a:ext cx="7524750" cy="14271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FFNHCS+Arial-BoldMT" panose="02000500000000000000"/>
                <a:ea typeface="FFNHCS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PUMCUU+Roboto-Regular" panose="02000500000000000000"/>
                <a:ea typeface="PUMCUU+Roboto-Regular" panose="02000500000000000000"/>
              </a:rPr>
              <a:t>Ask the LLM to do the thing but give it some examples of how to do it</a:t>
            </a:r>
            <a:endParaRPr lang="en-US" altLang="zh-CN">
              <a:solidFill>
                <a:srgbClr val="595959"/>
              </a:solidFill>
              <a:latin typeface="PUMCUU+Roboto-Regular" panose="02000500000000000000"/>
              <a:ea typeface="PUMCUU+Roboto-Regular" panose="02000500000000000000"/>
            </a:endParaRPr>
          </a:p>
          <a:p>
            <a:pPr>
              <a:lnSpc>
                <a:spcPts val="1640"/>
              </a:lnSpc>
              <a:spcBef>
                <a:spcPts val="350"/>
              </a:spcBef>
            </a:pPr>
            <a:r>
              <a:rPr lang="en-US" altLang="zh-CN" sz="1400">
                <a:solidFill>
                  <a:srgbClr val="595959"/>
                </a:solidFill>
                <a:latin typeface="EMASWL+ArialMT" panose="02000500000000000000"/>
                <a:ea typeface="EMASWL+ArialMT" panose="02000500000000000000"/>
              </a:rPr>
              <a:t>○</a:t>
            </a:r>
            <a:r>
              <a:rPr lang="en-US" altLang="zh-CN" sz="14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400">
                <a:solidFill>
                  <a:srgbClr val="595959"/>
                </a:solidFill>
                <a:latin typeface="PUMCUU+Roboto-Regular" panose="02000500000000000000"/>
                <a:ea typeface="PUMCUU+Roboto-Regular" panose="02000500000000000000"/>
              </a:rPr>
              <a:t>Sometimes called </a:t>
            </a:r>
            <a:r>
              <a:rPr lang="en-US" altLang="zh-CN" sz="1400">
                <a:solidFill>
                  <a:srgbClr val="595959"/>
                </a:solidFill>
                <a:latin typeface="GDQWRE+Roboto-Italic" panose="02000500000000000000"/>
                <a:ea typeface="GDQWRE+Roboto-Italic" panose="02000500000000000000"/>
              </a:rPr>
              <a:t>in-context learning</a:t>
            </a:r>
            <a:endParaRPr lang="en-US" altLang="zh-CN" sz="1400">
              <a:solidFill>
                <a:srgbClr val="595959"/>
              </a:solidFill>
              <a:latin typeface="GDQWRE+Roboto-Italic" panose="02000500000000000000"/>
              <a:ea typeface="GDQWRE+Roboto-Italic" panose="02000500000000000000"/>
            </a:endParaRP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altLang="zh-CN">
                <a:solidFill>
                  <a:srgbClr val="595959"/>
                </a:solidFill>
                <a:latin typeface="FFNHCS+Arial-BoldMT" panose="02000500000000000000"/>
                <a:ea typeface="FFNHCS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PUMCUU+Roboto-Regular" panose="02000500000000000000"/>
                <a:ea typeface="PUMCUU+Roboto-Regular" panose="02000500000000000000"/>
              </a:rPr>
              <a:t>k-shot</a:t>
            </a:r>
            <a:endParaRPr lang="en-US" altLang="zh-CN">
              <a:solidFill>
                <a:srgbClr val="595959"/>
              </a:solidFill>
              <a:latin typeface="PUMCUU+Roboto-Regular" panose="02000500000000000000"/>
              <a:ea typeface="PUMCUU+Roboto-Regular" panose="02000500000000000000"/>
            </a:endParaRPr>
          </a:p>
          <a:p>
            <a:pPr>
              <a:lnSpc>
                <a:spcPts val="1640"/>
              </a:lnSpc>
              <a:spcBef>
                <a:spcPts val="350"/>
              </a:spcBef>
            </a:pPr>
            <a:r>
              <a:rPr lang="en-US" altLang="zh-CN" sz="1400">
                <a:solidFill>
                  <a:srgbClr val="595959"/>
                </a:solidFill>
                <a:latin typeface="FFNHCS+Arial-BoldMT" panose="02000500000000000000"/>
                <a:ea typeface="FFNHCS+Arial-BoldMT" panose="02000500000000000000"/>
              </a:rPr>
              <a:t>○</a:t>
            </a:r>
            <a:r>
              <a:rPr lang="en-US" altLang="zh-CN" sz="14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400">
                <a:solidFill>
                  <a:srgbClr val="595959"/>
                </a:solidFill>
                <a:latin typeface="PUMCUU+Roboto-Regular" panose="02000500000000000000"/>
                <a:ea typeface="PUMCUU+Roboto-Regular" panose="02000500000000000000"/>
              </a:rPr>
              <a:t>1, 3, 5 (some empirical results justify these numbers)</a:t>
            </a:r>
            <a:endParaRPr lang="en-US" altLang="zh-CN" sz="1400">
              <a:solidFill>
                <a:srgbClr val="595959"/>
              </a:solidFill>
              <a:latin typeface="PUMCUU+Roboto-Regular" panose="02000500000000000000"/>
              <a:ea typeface="PUMCUU+Roboto-Regular" panose="02000500000000000000"/>
            </a:endParaRP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altLang="zh-CN">
                <a:solidFill>
                  <a:srgbClr val="595959"/>
                </a:solidFill>
                <a:latin typeface="EMASWL+ArialMT" panose="02000500000000000000"/>
                <a:ea typeface="EMASWL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PUMCUU+Roboto-Regular" panose="02000500000000000000"/>
                <a:ea typeface="PUMCUU+Roboto-Regular" panose="02000500000000000000"/>
              </a:rPr>
              <a:t>Ideal for tasks that don’t have too many reasoning steps</a:t>
            </a:r>
            <a:endParaRPr lang="en-US" altLang="zh-CN">
              <a:solidFill>
                <a:srgbClr val="595959"/>
              </a:solidFill>
              <a:latin typeface="PUMCUU+Roboto-Regular" panose="02000500000000000000"/>
              <a:ea typeface="PUMCUU+Roboto-Regular" panose="02000500000000000000"/>
            </a:endParaRPr>
          </a:p>
        </p:txBody>
      </p:sp>
      <p:sp>
        <p:nvSpPr>
          <p:cNvPr id="38917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FFNHCS+Arial-BoldMT" panose="02000500000000000000"/>
                <a:ea typeface="FFNHCS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FFNHCS+Arial-BoldMT" panose="02000500000000000000"/>
              <a:ea typeface="FFNHCS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62275" y="546100"/>
            <a:ext cx="18884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K</a:t>
            </a:r>
            <a:r>
              <a:rPr lang="zh-CN" altLang="en-US" b="1"/>
              <a:t>样本提示词页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33400" y="2646680"/>
            <a:ext cx="749490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让大语言模型执行任务，同时提供相关执行示例</a:t>
            </a:r>
            <a:endParaRPr lang="zh-CN" altLang="en-US"/>
          </a:p>
          <a:p>
            <a:r>
              <a:rPr lang="zh-CN" altLang="en-US" sz="1400"/>
              <a:t>有时也被称为上下文学习</a:t>
            </a:r>
            <a:endParaRPr lang="zh-CN" altLang="en-US" sz="1400"/>
          </a:p>
          <a:p>
            <a:r>
              <a:rPr lang="en-US" altLang="zh-CN"/>
              <a:t>K </a:t>
            </a:r>
            <a:r>
              <a:rPr lang="zh-CN" altLang="en-US"/>
              <a:t>样本数量</a:t>
            </a:r>
            <a:endParaRPr lang="zh-CN" altLang="en-US"/>
          </a:p>
          <a:p>
            <a:r>
              <a:rPr lang="en-US" altLang="zh-CN" sz="1400"/>
              <a:t>  1</a:t>
            </a:r>
            <a:r>
              <a:rPr lang="zh-CN" altLang="en-US" sz="1400"/>
              <a:t>、</a:t>
            </a:r>
            <a:r>
              <a:rPr lang="en-US" altLang="zh-CN" sz="1400"/>
              <a:t>3</a:t>
            </a:r>
            <a:r>
              <a:rPr lang="zh-CN" altLang="en-US" sz="1400"/>
              <a:t>、</a:t>
            </a:r>
            <a:r>
              <a:rPr lang="en-US" altLang="zh-CN" sz="1400"/>
              <a:t>5 </a:t>
            </a:r>
            <a:r>
              <a:rPr lang="zh-CN" altLang="en-US" sz="1400"/>
              <a:t>个（部分实证研究验证了这些数量的有效性）</a:t>
            </a:r>
            <a:endParaRPr lang="zh-CN" altLang="en-US" sz="1400"/>
          </a:p>
          <a:p>
            <a:r>
              <a:rPr lang="zh-CN" altLang="en-US"/>
              <a:t>适用于推理步骤不复杂的任务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3993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39939" name="object 3"/>
          <p:cNvSpPr/>
          <p:nvPr/>
        </p:nvSpPr>
        <p:spPr>
          <a:xfrm>
            <a:off x="5243513" y="1314450"/>
            <a:ext cx="2855912" cy="939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Write a for-loop iterating over a list of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strings using the naming convention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in our repo. Here are some examples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of how we typically format variable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names.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</p:txBody>
      </p:sp>
      <p:sp>
        <p:nvSpPr>
          <p:cNvPr id="39940" name="object 4"/>
          <p:cNvSpPr/>
          <p:nvPr/>
        </p:nvSpPr>
        <p:spPr>
          <a:xfrm>
            <a:off x="1146175" y="2292350"/>
            <a:ext cx="2409825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Write a for-loop iterating over a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list of strings using the naming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convention in our repo.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</p:txBody>
      </p:sp>
      <p:sp>
        <p:nvSpPr>
          <p:cNvPr id="39941" name="object 5"/>
          <p:cNvSpPr/>
          <p:nvPr/>
        </p:nvSpPr>
        <p:spPr>
          <a:xfrm>
            <a:off x="5243513" y="2411413"/>
            <a:ext cx="2905125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&lt;example&gt;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var StRaRrAy = [‘cat’, ‘dog’, ‘wombat’]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&lt;/example&gt;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</p:txBody>
      </p:sp>
      <p:sp>
        <p:nvSpPr>
          <p:cNvPr id="39942" name="object 6"/>
          <p:cNvSpPr/>
          <p:nvPr/>
        </p:nvSpPr>
        <p:spPr>
          <a:xfrm>
            <a:off x="5243513" y="3143250"/>
            <a:ext cx="2527300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&lt;example&gt;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def func CaPiTaLiZeStR = () =&gt; {}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JCTR+Arial-BoldItalicMT" panose="02000500000000000000"/>
                <a:ea typeface="GRJCTR+Arial-BoldItalicMT" panose="02000500000000000000"/>
              </a:rPr>
              <a:t>&lt;/example&gt;</a:t>
            </a:r>
            <a:endParaRPr lang="en-US" altLang="zh-CN" sz="1200">
              <a:solidFill>
                <a:srgbClr val="595959"/>
              </a:solidFill>
              <a:latin typeface="GRJCTR+Arial-BoldItalicMT" panose="02000500000000000000"/>
              <a:ea typeface="GRJCTR+Arial-BoldItalicMT" panose="02000500000000000000"/>
            </a:endParaRPr>
          </a:p>
        </p:txBody>
      </p:sp>
      <p:sp>
        <p:nvSpPr>
          <p:cNvPr id="39943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SSLBGN+Arial-BoldMT" panose="02000500000000000000"/>
                <a:ea typeface="SSLBGN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SSLBGN+Arial-BoldMT" panose="02000500000000000000"/>
              <a:ea typeface="SSLBGN+Arial-BoldMT" panose="0200050000000000000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096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0963" name="object 3"/>
          <p:cNvSpPr/>
          <p:nvPr/>
        </p:nvSpPr>
        <p:spPr>
          <a:xfrm>
            <a:off x="396875" y="541338"/>
            <a:ext cx="418782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DJDHTJ+Roboto-Regular" panose="02000500000000000000"/>
                <a:ea typeface="DJDHTJ+Roboto-Regular" panose="02000500000000000000"/>
              </a:rPr>
              <a:t>Chain-of-Thought Prompting</a:t>
            </a:r>
            <a:endParaRPr lang="en-US" altLang="zh-CN" sz="2500">
              <a:solidFill>
                <a:srgbClr val="000000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64" name="object 4"/>
          <p:cNvSpPr/>
          <p:nvPr/>
        </p:nvSpPr>
        <p:spPr>
          <a:xfrm>
            <a:off x="487363" y="1246188"/>
            <a:ext cx="4371975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UEGROG+Arial-BoldMT" panose="02000500000000000000"/>
                <a:ea typeface="UEGROG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Show reasoning steps for a given task</a:t>
            </a:r>
            <a:endParaRPr lang="en-US" altLang="zh-CN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65" name="object 5"/>
          <p:cNvSpPr/>
          <p:nvPr/>
        </p:nvSpPr>
        <p:spPr>
          <a:xfrm>
            <a:off x="976313" y="1563688"/>
            <a:ext cx="260350" cy="12176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UEGROG+Arial-BoldMT" panose="02000500000000000000"/>
                <a:ea typeface="UEGROG+Arial-Bold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UEGROG+Arial-BoldMT" panose="02000500000000000000"/>
              <a:ea typeface="UEGROG+Arial-BoldMT" panose="02000500000000000000"/>
            </a:endParaRPr>
          </a:p>
          <a:p>
            <a:pPr>
              <a:lnSpc>
                <a:spcPts val="1565"/>
              </a:lnSpc>
              <a:spcBef>
                <a:spcPts val="2240"/>
              </a:spcBef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  <a:p>
            <a:pPr>
              <a:lnSpc>
                <a:spcPts val="1565"/>
              </a:lnSpc>
              <a:spcBef>
                <a:spcPts val="2290"/>
              </a:spcBef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</p:txBody>
      </p:sp>
      <p:sp>
        <p:nvSpPr>
          <p:cNvPr id="40966" name="object 6"/>
          <p:cNvSpPr/>
          <p:nvPr/>
        </p:nvSpPr>
        <p:spPr>
          <a:xfrm>
            <a:off x="1311275" y="1558925"/>
            <a:ext cx="1316038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Multi-shot CoT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67" name="object 7"/>
          <p:cNvSpPr/>
          <p:nvPr/>
        </p:nvSpPr>
        <p:spPr>
          <a:xfrm>
            <a:off x="1433513" y="1808163"/>
            <a:ext cx="260350" cy="2365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■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</p:txBody>
      </p:sp>
      <p:sp>
        <p:nvSpPr>
          <p:cNvPr id="40968" name="object 8"/>
          <p:cNvSpPr/>
          <p:nvPr/>
        </p:nvSpPr>
        <p:spPr>
          <a:xfrm>
            <a:off x="1768475" y="1804988"/>
            <a:ext cx="2220913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Work out reasoning traces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69" name="object 9"/>
          <p:cNvSpPr/>
          <p:nvPr/>
        </p:nvSpPr>
        <p:spPr>
          <a:xfrm>
            <a:off x="1311275" y="2049463"/>
            <a:ext cx="1276350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Zero-shot CoT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70" name="object 10"/>
          <p:cNvSpPr/>
          <p:nvPr/>
        </p:nvSpPr>
        <p:spPr>
          <a:xfrm>
            <a:off x="1433513" y="2298700"/>
            <a:ext cx="260350" cy="2365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■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</p:txBody>
      </p:sp>
      <p:sp>
        <p:nvSpPr>
          <p:cNvPr id="40971" name="object 11"/>
          <p:cNvSpPr/>
          <p:nvPr/>
        </p:nvSpPr>
        <p:spPr>
          <a:xfrm>
            <a:off x="1768475" y="2295525"/>
            <a:ext cx="2085975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“Let’s think step-by-step”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72" name="object 12"/>
          <p:cNvSpPr/>
          <p:nvPr/>
        </p:nvSpPr>
        <p:spPr>
          <a:xfrm>
            <a:off x="1311275" y="2541588"/>
            <a:ext cx="4022725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Prompt for reasoning in explicit &lt;reasoning&gt; tags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73" name="object 13"/>
          <p:cNvSpPr/>
          <p:nvPr/>
        </p:nvSpPr>
        <p:spPr>
          <a:xfrm>
            <a:off x="487363" y="2787650"/>
            <a:ext cx="4635500" cy="3063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Best for steps with multiple logical steps</a:t>
            </a:r>
            <a:endParaRPr lang="en-US" altLang="zh-CN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74" name="object 14"/>
          <p:cNvSpPr/>
          <p:nvPr/>
        </p:nvSpPr>
        <p:spPr>
          <a:xfrm>
            <a:off x="976313" y="3105150"/>
            <a:ext cx="26035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  <a:p>
            <a:pPr>
              <a:lnSpc>
                <a:spcPts val="1565"/>
              </a:lnSpc>
              <a:spcBef>
                <a:spcPts val="315"/>
              </a:spcBef>
            </a:pPr>
            <a:r>
              <a:rPr lang="en-US" altLang="zh-CN" sz="1400">
                <a:solidFill>
                  <a:srgbClr val="595959"/>
                </a:solidFill>
                <a:latin typeface="JIJOMR+ArialMT" panose="02000500000000000000"/>
                <a:ea typeface="JIJOMR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JIJOMR+ArialMT" panose="02000500000000000000"/>
              <a:ea typeface="JIJOMR+ArialMT" panose="02000500000000000000"/>
            </a:endParaRPr>
          </a:p>
        </p:txBody>
      </p:sp>
      <p:sp>
        <p:nvSpPr>
          <p:cNvPr id="40975" name="object 15"/>
          <p:cNvSpPr/>
          <p:nvPr/>
        </p:nvSpPr>
        <p:spPr>
          <a:xfrm>
            <a:off x="1311275" y="3101975"/>
            <a:ext cx="1236663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Programming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  <a:p>
            <a:pPr>
              <a:lnSpc>
                <a:spcPts val="1640"/>
              </a:lnSpc>
              <a:spcBef>
                <a:spcPts val="340"/>
              </a:spcBef>
            </a:pPr>
            <a:r>
              <a:rPr lang="en-US" altLang="zh-CN" sz="1400">
                <a:solidFill>
                  <a:srgbClr val="595959"/>
                </a:solidFill>
                <a:latin typeface="DJDHTJ+Roboto-Regular" panose="02000500000000000000"/>
                <a:ea typeface="DJDHTJ+Roboto-Regular" panose="02000500000000000000"/>
              </a:rPr>
              <a:t>Math</a:t>
            </a:r>
            <a:endParaRPr lang="en-US" altLang="zh-CN" sz="1400">
              <a:solidFill>
                <a:srgbClr val="595959"/>
              </a:solidFill>
              <a:latin typeface="DJDHTJ+Roboto-Regular" panose="02000500000000000000"/>
              <a:ea typeface="DJDHTJ+Roboto-Regular" panose="02000500000000000000"/>
            </a:endParaRPr>
          </a:p>
        </p:txBody>
      </p:sp>
      <p:sp>
        <p:nvSpPr>
          <p:cNvPr id="40976" name="object 16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UEGROG+Arial-BoldMT" panose="02000500000000000000"/>
                <a:ea typeface="UEGROG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UEGROG+Arial-BoldMT" panose="02000500000000000000"/>
              <a:ea typeface="UEGROG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38675" y="537210"/>
            <a:ext cx="23818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思维链提示词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186045" y="1188720"/>
            <a:ext cx="409638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为指定任务展示推理步骤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多样本思维链（</a:t>
            </a:r>
            <a:r>
              <a:rPr lang="en-US" altLang="zh-CN" sz="1600"/>
              <a:t>Multi-shot CoT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en-US" altLang="zh-CN" sz="1600"/>
              <a:t>      </a:t>
            </a:r>
            <a:r>
              <a:rPr lang="zh-CN" altLang="en-US" sz="1600"/>
              <a:t>给出完整的推理轨迹示例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零样本思维链（</a:t>
            </a:r>
            <a:r>
              <a:rPr lang="en-US" altLang="zh-CN" sz="1600"/>
              <a:t>Zero-shot CoT</a:t>
            </a:r>
            <a:r>
              <a:rPr lang="zh-CN" altLang="en-US" sz="1600"/>
              <a:t>）</a:t>
            </a:r>
            <a:endParaRPr lang="zh-CN" altLang="en-US" sz="1600"/>
          </a:p>
          <a:p>
            <a:r>
              <a:rPr lang="en-US" altLang="zh-CN" sz="1600"/>
              <a:t>      </a:t>
            </a:r>
            <a:r>
              <a:rPr lang="zh-CN" altLang="en-US" sz="1600"/>
              <a:t>直接加入提示语：</a:t>
            </a:r>
            <a:r>
              <a:rPr lang="en-US" altLang="zh-CN" sz="1600"/>
              <a:t>“</a:t>
            </a:r>
            <a:r>
              <a:rPr lang="zh-CN" altLang="en-US" sz="1600"/>
              <a:t>让我们一步步思考</a:t>
            </a:r>
            <a:r>
              <a:rPr lang="en-US" altLang="zh-CN" sz="1600"/>
              <a:t>”</a:t>
            </a:r>
            <a:endParaRPr lang="en-US" altLang="zh-CN" sz="1600"/>
          </a:p>
          <a:p>
            <a:r>
              <a:rPr lang="en-US" altLang="zh-CN" sz="1600"/>
              <a:t>  </a:t>
            </a:r>
            <a:r>
              <a:rPr lang="zh-CN" altLang="en-US" sz="1600"/>
              <a:t>在提示词中用</a:t>
            </a:r>
            <a:r>
              <a:rPr lang="en-US" altLang="zh-CN" sz="1600"/>
              <a:t>&lt;reasoning&gt;</a:t>
            </a:r>
            <a:r>
              <a:rPr lang="zh-CN" altLang="en-US" sz="1600"/>
              <a:t>标签明确要求输出推理过程</a:t>
            </a:r>
            <a:endParaRPr lang="zh-CN" altLang="en-US" sz="1600"/>
          </a:p>
          <a:p>
            <a:r>
              <a:rPr lang="zh-CN" altLang="en-US" sz="1600"/>
              <a:t>适用于包含多个逻辑步骤的任务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编程</a:t>
            </a:r>
            <a:endParaRPr lang="zh-CN" altLang="en-US" sz="1600"/>
          </a:p>
          <a:p>
            <a:r>
              <a:rPr lang="en-US" altLang="zh-CN" sz="1600"/>
              <a:t>  </a:t>
            </a:r>
            <a:r>
              <a:rPr lang="zh-CN" altLang="en-US" sz="1600"/>
              <a:t>数学计算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198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1987" name="object 3"/>
          <p:cNvSpPr/>
          <p:nvPr/>
        </p:nvSpPr>
        <p:spPr>
          <a:xfrm>
            <a:off x="425450" y="85725"/>
            <a:ext cx="1814513" cy="334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340"/>
              </a:lnSpc>
            </a:pPr>
            <a:r>
              <a:rPr lang="en-US" altLang="zh-CN" sz="2000">
                <a:solidFill>
                  <a:srgbClr val="595959"/>
                </a:solidFill>
                <a:latin typeface="BWAMQJ+Roboto-Regular" panose="02000500000000000000"/>
                <a:ea typeface="BWAMQJ+Roboto-Regular" panose="02000500000000000000"/>
              </a:rPr>
              <a:t>Multi-shot CoT</a:t>
            </a:r>
            <a:endParaRPr lang="en-US" altLang="zh-CN" sz="2000">
              <a:solidFill>
                <a:srgbClr val="595959"/>
              </a:solidFill>
              <a:latin typeface="BWAMQJ+Roboto-Regular" panose="02000500000000000000"/>
              <a:ea typeface="BWAMQJ+Roboto-Regular" panose="02000500000000000000"/>
            </a:endParaRPr>
          </a:p>
        </p:txBody>
      </p:sp>
      <p:sp>
        <p:nvSpPr>
          <p:cNvPr id="41988" name="object 4"/>
          <p:cNvSpPr/>
          <p:nvPr/>
        </p:nvSpPr>
        <p:spPr>
          <a:xfrm>
            <a:off x="5243513" y="779463"/>
            <a:ext cx="2897187" cy="1031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I want to write a function to check if a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number is a perfect cube and a perfect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14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square. Make sure to provide your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reasoning first. Here are some examples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of how to provide reasoning for a coding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task.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</p:txBody>
      </p:sp>
      <p:sp>
        <p:nvSpPr>
          <p:cNvPr id="41989" name="object 5"/>
          <p:cNvSpPr/>
          <p:nvPr/>
        </p:nvSpPr>
        <p:spPr>
          <a:xfrm>
            <a:off x="5243513" y="1952625"/>
            <a:ext cx="874712" cy="193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&lt;example&gt;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</p:txBody>
      </p:sp>
      <p:sp>
        <p:nvSpPr>
          <p:cNvPr id="41990" name="object 6"/>
          <p:cNvSpPr/>
          <p:nvPr/>
        </p:nvSpPr>
        <p:spPr>
          <a:xfrm>
            <a:off x="5243513" y="2120900"/>
            <a:ext cx="2809875" cy="8651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Write a function that finds the maximum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element in a list.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14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Steps: Initialize a variable with the first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element. Traverse the list, comparing…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&lt;/example&gt;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</p:txBody>
      </p:sp>
      <p:sp>
        <p:nvSpPr>
          <p:cNvPr id="41991" name="object 7"/>
          <p:cNvSpPr/>
          <p:nvPr/>
        </p:nvSpPr>
        <p:spPr>
          <a:xfrm>
            <a:off x="1076325" y="2243138"/>
            <a:ext cx="2393950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Write a function to check if a</a:t>
            </a:r>
            <a:endParaRPr lang="en-US" altLang="zh-CN" sz="12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number is a perfect cube and a</a:t>
            </a:r>
            <a:endParaRPr lang="en-US" altLang="zh-CN" sz="12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perfect square.</a:t>
            </a:r>
            <a:endParaRPr lang="en-US" altLang="zh-CN" sz="12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</p:txBody>
      </p:sp>
      <p:sp>
        <p:nvSpPr>
          <p:cNvPr id="41992" name="object 8"/>
          <p:cNvSpPr/>
          <p:nvPr/>
        </p:nvSpPr>
        <p:spPr>
          <a:xfrm>
            <a:off x="5243513" y="3125788"/>
            <a:ext cx="2833687" cy="10318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&lt;example&gt;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Write a function that checks is a number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14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is a palindrome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Steps: Take the number. Reverse the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elements in the numbers. Check if …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GRPHSD+Arial-BoldItalicMT" panose="02000500000000000000"/>
                <a:ea typeface="GRPHSD+Arial-BoldItalicMT" panose="02000500000000000000"/>
              </a:rPr>
              <a:t>&lt;/example&gt;</a:t>
            </a:r>
            <a:endParaRPr lang="en-US" altLang="zh-CN" sz="1100">
              <a:solidFill>
                <a:srgbClr val="595959"/>
              </a:solidFill>
              <a:latin typeface="GRPHSD+Arial-BoldItalicMT" panose="02000500000000000000"/>
              <a:ea typeface="GRPHSD+Arial-BoldItalicMT" panose="02000500000000000000"/>
            </a:endParaRPr>
          </a:p>
        </p:txBody>
      </p:sp>
      <p:sp>
        <p:nvSpPr>
          <p:cNvPr id="41993" name="object 9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VAVTTI+Arial-BoldMT" panose="02000500000000000000"/>
                <a:ea typeface="VAVTTI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VAVTTI+Arial-BoldMT" panose="02000500000000000000"/>
              <a:ea typeface="VAVTTI+Arial-BoldMT" panose="0200050000000000000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301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3011" name="object 3"/>
          <p:cNvSpPr/>
          <p:nvPr/>
        </p:nvSpPr>
        <p:spPr>
          <a:xfrm>
            <a:off x="425450" y="85725"/>
            <a:ext cx="1757363" cy="334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340"/>
              </a:lnSpc>
            </a:pPr>
            <a:r>
              <a:rPr lang="en-US" altLang="zh-CN" sz="2000">
                <a:solidFill>
                  <a:srgbClr val="595959"/>
                </a:solidFill>
                <a:latin typeface="LVISBL+Roboto-Regular" panose="02000500000000000000"/>
                <a:ea typeface="LVISBL+Roboto-Regular" panose="02000500000000000000"/>
              </a:rPr>
              <a:t>Zero-shot CoT</a:t>
            </a:r>
            <a:endParaRPr lang="en-US" altLang="zh-CN" sz="2000">
              <a:solidFill>
                <a:srgbClr val="595959"/>
              </a:solidFill>
              <a:latin typeface="LVISBL+Roboto-Regular" panose="02000500000000000000"/>
              <a:ea typeface="LVISBL+Roboto-Regular" panose="02000500000000000000"/>
            </a:endParaRPr>
          </a:p>
        </p:txBody>
      </p:sp>
      <p:sp>
        <p:nvSpPr>
          <p:cNvPr id="43012" name="object 4"/>
          <p:cNvSpPr/>
          <p:nvPr/>
        </p:nvSpPr>
        <p:spPr>
          <a:xfrm>
            <a:off x="5222875" y="1546225"/>
            <a:ext cx="2778125" cy="3905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Write a function to find the longest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increasing subsequence in an array.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</p:txBody>
      </p:sp>
      <p:sp>
        <p:nvSpPr>
          <p:cNvPr id="43013" name="object 5"/>
          <p:cNvSpPr/>
          <p:nvPr/>
        </p:nvSpPr>
        <p:spPr>
          <a:xfrm>
            <a:off x="5222875" y="2093913"/>
            <a:ext cx="2774950" cy="939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Think step by step about the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subproblems before coding. Include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worked out examples of subarrays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you are considering as you answer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this question.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</p:txBody>
      </p:sp>
      <p:sp>
        <p:nvSpPr>
          <p:cNvPr id="43014" name="object 6"/>
          <p:cNvSpPr/>
          <p:nvPr/>
        </p:nvSpPr>
        <p:spPr>
          <a:xfrm>
            <a:off x="1039813" y="2235200"/>
            <a:ext cx="2513012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Write a function to find the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longest increasing subsequence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BATTPE+Arial-BoldItalicMT" panose="02000500000000000000"/>
                <a:ea typeface="BATTPE+Arial-BoldItalicMT" panose="02000500000000000000"/>
              </a:rPr>
              <a:t>in an array.</a:t>
            </a:r>
            <a:endParaRPr lang="en-US" altLang="zh-CN" sz="1200">
              <a:solidFill>
                <a:srgbClr val="595959"/>
              </a:solidFill>
              <a:latin typeface="BATTPE+Arial-BoldItalicMT" panose="02000500000000000000"/>
              <a:ea typeface="BATTPE+Arial-BoldItalicMT" panose="02000500000000000000"/>
            </a:endParaRPr>
          </a:p>
        </p:txBody>
      </p:sp>
      <p:sp>
        <p:nvSpPr>
          <p:cNvPr id="43015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HCNHKU+Arial-BoldMT" panose="02000500000000000000"/>
                <a:ea typeface="HCNHKU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HCNHKU+Arial-BoldMT" panose="02000500000000000000"/>
              <a:ea typeface="HCNHKU+Arial-BoldMT" panose="0200050000000000000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403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4035" name="object 3"/>
          <p:cNvSpPr/>
          <p:nvPr/>
        </p:nvSpPr>
        <p:spPr>
          <a:xfrm>
            <a:off x="396875" y="541338"/>
            <a:ext cx="406082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HASDQR+Roboto-Regular" panose="02000500000000000000"/>
                <a:ea typeface="HASDQR+Roboto-Regular" panose="02000500000000000000"/>
              </a:rPr>
              <a:t>Self-consistency Prompting</a:t>
            </a:r>
            <a:endParaRPr lang="en-US" altLang="zh-CN" sz="2500">
              <a:solidFill>
                <a:srgbClr val="000000"/>
              </a:solidFill>
              <a:latin typeface="HASDQR+Roboto-Regular" panose="02000500000000000000"/>
              <a:ea typeface="HASDQR+Roboto-Regular" panose="02000500000000000000"/>
            </a:endParaRPr>
          </a:p>
        </p:txBody>
      </p:sp>
      <p:sp>
        <p:nvSpPr>
          <p:cNvPr id="44036" name="object 4"/>
          <p:cNvSpPr/>
          <p:nvPr/>
        </p:nvSpPr>
        <p:spPr>
          <a:xfrm>
            <a:off x="487363" y="1246188"/>
            <a:ext cx="8334375" cy="12525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PFCLGE+Arial-BoldMT" panose="02000500000000000000"/>
                <a:ea typeface="PFCLGE+Arial-Bold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HASDQR+Roboto-Regular" panose="02000500000000000000"/>
                <a:ea typeface="HASDQR+Roboto-Regular" panose="02000500000000000000"/>
              </a:rPr>
              <a:t>Sample multiple times from output (typically with CoT) and aggregate most</a:t>
            </a:r>
            <a:endParaRPr lang="en-US" altLang="zh-CN">
              <a:solidFill>
                <a:srgbClr val="595959"/>
              </a:solidFill>
              <a:latin typeface="HASDQR+Roboto-Regular" panose="02000500000000000000"/>
              <a:ea typeface="HASDQR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HASDQR+Roboto-Regular" panose="02000500000000000000"/>
                <a:ea typeface="HASDQR+Roboto-Regular" panose="02000500000000000000"/>
              </a:rPr>
              <a:t>common results</a:t>
            </a:r>
            <a:endParaRPr lang="en-US" altLang="zh-CN">
              <a:solidFill>
                <a:srgbClr val="595959"/>
              </a:solidFill>
              <a:latin typeface="HASDQR+Roboto-Regular" panose="02000500000000000000"/>
              <a:ea typeface="HASDQR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UMCKAO+ArialMT" panose="02000500000000000000"/>
                <a:ea typeface="UMCKAO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HASDQR+Roboto-Regular" panose="02000500000000000000"/>
                <a:ea typeface="HASDQR+Roboto-Regular" panose="02000500000000000000"/>
              </a:rPr>
              <a:t>Reduces hallucinations/incorrect answers via a form of model ensembling by</a:t>
            </a:r>
            <a:endParaRPr lang="en-US" altLang="zh-CN">
              <a:solidFill>
                <a:srgbClr val="595959"/>
              </a:solidFill>
              <a:latin typeface="HASDQR+Roboto-Regular" panose="02000500000000000000"/>
              <a:ea typeface="HASDQR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HASDQR+Roboto-Regular" panose="02000500000000000000"/>
                <a:ea typeface="HASDQR+Roboto-Regular" panose="02000500000000000000"/>
              </a:rPr>
              <a:t>sampling diverse reasoning paths</a:t>
            </a:r>
            <a:endParaRPr lang="en-US" altLang="zh-CN">
              <a:solidFill>
                <a:srgbClr val="595959"/>
              </a:solidFill>
              <a:latin typeface="HASDQR+Roboto-Regular" panose="02000500000000000000"/>
              <a:ea typeface="HASDQR+Roboto-Regular" panose="02000500000000000000"/>
            </a:endParaRPr>
          </a:p>
        </p:txBody>
      </p:sp>
      <p:sp>
        <p:nvSpPr>
          <p:cNvPr id="44037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PFCLGE+Arial-BoldMT" panose="02000500000000000000"/>
                <a:ea typeface="PFCLGE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PFCLGE+Arial-BoldMT" panose="02000500000000000000"/>
              <a:ea typeface="PFCLGE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6250" y="2517775"/>
            <a:ext cx="8409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让模型对同一任务多次生成输出（通常结合思维链），并取出现频次最高的结果</a:t>
            </a:r>
            <a:endParaRPr lang="zh-CN" altLang="en-US"/>
          </a:p>
          <a:p>
            <a:r>
              <a:rPr lang="zh-CN" altLang="en-US"/>
              <a:t>通过采样不同的推理路径实现模型集成效果，从而减少幻觉问题与错误答案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81525" y="565150"/>
            <a:ext cx="2222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自洽性提示词</a:t>
            </a:r>
            <a:endParaRPr lang="zh-CN" altLang="en-US" b="1"/>
          </a:p>
          <a:p>
            <a:endParaRPr lang="zh-CN" altLang="en-US" b="1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505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5059" name="object 3"/>
          <p:cNvSpPr/>
          <p:nvPr/>
        </p:nvSpPr>
        <p:spPr>
          <a:xfrm>
            <a:off x="5245100" y="1108075"/>
            <a:ext cx="2738438" cy="11223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What’s the root cause for this error: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Traceback (most recent call last):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File "example.py", line 3, in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&lt;module&gt;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print(nums[i])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IndexError: list index out of range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</p:txBody>
      </p:sp>
      <p:sp>
        <p:nvSpPr>
          <p:cNvPr id="45060" name="object 4"/>
          <p:cNvSpPr/>
          <p:nvPr/>
        </p:nvSpPr>
        <p:spPr>
          <a:xfrm>
            <a:off x="1062038" y="1789113"/>
            <a:ext cx="2562225" cy="9398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What’s the root cause for this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error: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Traceback (most recent call last):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File "example.py", line 3, in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&lt;module&gt;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</p:txBody>
      </p:sp>
      <p:sp>
        <p:nvSpPr>
          <p:cNvPr id="45061" name="object 5"/>
          <p:cNvSpPr/>
          <p:nvPr/>
        </p:nvSpPr>
        <p:spPr>
          <a:xfrm>
            <a:off x="1231900" y="2703513"/>
            <a:ext cx="1143000" cy="2079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print(nums[i])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</p:txBody>
      </p:sp>
      <p:sp>
        <p:nvSpPr>
          <p:cNvPr id="45062" name="object 6"/>
          <p:cNvSpPr/>
          <p:nvPr/>
        </p:nvSpPr>
        <p:spPr>
          <a:xfrm>
            <a:off x="1062038" y="2886075"/>
            <a:ext cx="2597150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QUBWCQ+Arial-BoldItalicMT" panose="02000500000000000000"/>
                <a:ea typeface="QUBWCQ+Arial-BoldItalicMT" panose="02000500000000000000"/>
              </a:rPr>
              <a:t>IndexError: list index out of range</a:t>
            </a:r>
            <a:endParaRPr lang="en-US" altLang="zh-CN" sz="1200">
              <a:solidFill>
                <a:srgbClr val="595959"/>
              </a:solidFill>
              <a:latin typeface="QUBWCQ+Arial-BoldItalicMT" panose="02000500000000000000"/>
              <a:ea typeface="QUBWCQ+Arial-BoldItalicMT" panose="02000500000000000000"/>
            </a:endParaRPr>
          </a:p>
        </p:txBody>
      </p:sp>
      <p:sp>
        <p:nvSpPr>
          <p:cNvPr id="45063" name="object 7"/>
          <p:cNvSpPr/>
          <p:nvPr/>
        </p:nvSpPr>
        <p:spPr>
          <a:xfrm>
            <a:off x="6332538" y="2959100"/>
            <a:ext cx="788987" cy="193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KACFBR+ArialMT" panose="02000500000000000000"/>
                <a:ea typeface="KACFBR+ArialMT" panose="02000500000000000000"/>
              </a:rPr>
              <a:t>Prompt 5x</a:t>
            </a:r>
            <a:endParaRPr lang="en-US" altLang="zh-CN" sz="1100">
              <a:solidFill>
                <a:srgbClr val="595959"/>
              </a:solidFill>
              <a:latin typeface="KACFBR+ArialMT" panose="02000500000000000000"/>
              <a:ea typeface="KACFBR+ArialMT" panose="02000500000000000000"/>
            </a:endParaRPr>
          </a:p>
        </p:txBody>
      </p:sp>
      <p:sp>
        <p:nvSpPr>
          <p:cNvPr id="45064" name="object 8"/>
          <p:cNvSpPr/>
          <p:nvPr/>
        </p:nvSpPr>
        <p:spPr>
          <a:xfrm>
            <a:off x="6076950" y="3559175"/>
            <a:ext cx="1355725" cy="193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KACFBR+ArialMT" panose="02000500000000000000"/>
                <a:ea typeface="KACFBR+ArialMT" panose="02000500000000000000"/>
              </a:rPr>
              <a:t>Take majority result</a:t>
            </a:r>
            <a:endParaRPr lang="en-US" altLang="zh-CN" sz="1100">
              <a:solidFill>
                <a:srgbClr val="595959"/>
              </a:solidFill>
              <a:latin typeface="KACFBR+ArialMT" panose="02000500000000000000"/>
              <a:ea typeface="KACFBR+ArialMT" panose="02000500000000000000"/>
            </a:endParaRPr>
          </a:p>
        </p:txBody>
      </p:sp>
      <p:sp>
        <p:nvSpPr>
          <p:cNvPr id="45065" name="object 9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WAWRKJ+Arial-BoldMT" panose="02000500000000000000"/>
                <a:ea typeface="WAWRKJ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WAWRKJ+Arial-BoldMT" panose="02000500000000000000"/>
              <a:ea typeface="WAWRKJ+Arial-BoldMT" panose="0200050000000000000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608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6083" name="object 3"/>
          <p:cNvSpPr/>
          <p:nvPr/>
        </p:nvSpPr>
        <p:spPr>
          <a:xfrm>
            <a:off x="396875" y="541338"/>
            <a:ext cx="1392238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AIQIPU+Roboto-Regular" panose="02000500000000000000"/>
                <a:ea typeface="AIQIPU+Roboto-Regular" panose="02000500000000000000"/>
              </a:rPr>
              <a:t>Tool Use</a:t>
            </a:r>
            <a:endParaRPr lang="en-US" altLang="zh-CN" sz="2500">
              <a:solidFill>
                <a:srgbClr val="000000"/>
              </a:solidFill>
              <a:latin typeface="AIQIPU+Roboto-Regular" panose="02000500000000000000"/>
              <a:ea typeface="AIQIPU+Roboto-Regular" panose="02000500000000000000"/>
            </a:endParaRPr>
          </a:p>
        </p:txBody>
      </p:sp>
      <p:sp>
        <p:nvSpPr>
          <p:cNvPr id="46084" name="object 4"/>
          <p:cNvSpPr/>
          <p:nvPr/>
        </p:nvSpPr>
        <p:spPr>
          <a:xfrm>
            <a:off x="487363" y="1246188"/>
            <a:ext cx="7566025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KSJFIU+ArialMT" panose="02000500000000000000"/>
                <a:ea typeface="KSJFIU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AIQIPU+Roboto-Regular" panose="02000500000000000000"/>
                <a:ea typeface="AIQIPU+Roboto-Regular" panose="02000500000000000000"/>
              </a:rPr>
              <a:t>Allow LLM to defer to an external system that it needs to interact with</a:t>
            </a:r>
            <a:endParaRPr lang="en-US" altLang="zh-CN">
              <a:solidFill>
                <a:srgbClr val="595959"/>
              </a:solidFill>
              <a:latin typeface="AIQIPU+Roboto-Regular" panose="02000500000000000000"/>
              <a:ea typeface="AIQIPU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KSJFIU+ArialMT" panose="02000500000000000000"/>
                <a:ea typeface="KSJFIU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AIQIPU+Roboto-Regular" panose="02000500000000000000"/>
                <a:ea typeface="AIQIPU+Roboto-Regular" panose="02000500000000000000"/>
              </a:rPr>
              <a:t>One of the most important techniques for reducing hallucinations and</a:t>
            </a:r>
            <a:endParaRPr lang="en-US" altLang="zh-CN">
              <a:solidFill>
                <a:srgbClr val="595959"/>
              </a:solidFill>
              <a:latin typeface="AIQIPU+Roboto-Regular" panose="02000500000000000000"/>
              <a:ea typeface="AIQIPU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AIQIPU+Roboto-Regular" panose="02000500000000000000"/>
                <a:ea typeface="AIQIPU+Roboto-Regular" panose="02000500000000000000"/>
              </a:rPr>
              <a:t>enabling the autonomy of LLMs</a:t>
            </a:r>
            <a:endParaRPr lang="en-US" altLang="zh-CN">
              <a:solidFill>
                <a:srgbClr val="595959"/>
              </a:solidFill>
              <a:latin typeface="AIQIPU+Roboto-Regular" panose="02000500000000000000"/>
              <a:ea typeface="AIQIPU+Roboto-Regular" panose="02000500000000000000"/>
            </a:endParaRPr>
          </a:p>
        </p:txBody>
      </p:sp>
      <p:sp>
        <p:nvSpPr>
          <p:cNvPr id="46085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BAFIJT+Arial-BoldMT" panose="02000500000000000000"/>
                <a:ea typeface="BAFIJT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BAFIJT+Arial-BoldMT" panose="02000500000000000000"/>
              <a:ea typeface="BAFIJT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00225" y="565785"/>
            <a:ext cx="2267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工具调用提示词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637540" y="2199005"/>
            <a:ext cx="6959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让大语言模型调用所需的外部系统</a:t>
            </a:r>
            <a:r>
              <a:rPr lang="en-US" altLang="zh-CN"/>
              <a:t>/</a:t>
            </a:r>
            <a:r>
              <a:rPr lang="zh-CN" altLang="en-US"/>
              <a:t>工具完成任务</a:t>
            </a:r>
            <a:endParaRPr lang="zh-CN" altLang="en-US"/>
          </a:p>
          <a:p>
            <a:r>
              <a:rPr lang="zh-CN" altLang="en-US"/>
              <a:t>这是减少模型幻觉、提升大语言模型自主能力的最重要技巧之一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710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7107" name="object 3"/>
          <p:cNvSpPr/>
          <p:nvPr/>
        </p:nvSpPr>
        <p:spPr>
          <a:xfrm>
            <a:off x="5367338" y="1617663"/>
            <a:ext cx="2525712" cy="5302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Fix the IndexError. Ensure the CI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tests still pass once you have made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225"/>
              </a:lnSpc>
              <a:spcBef>
                <a:spcPts val="140"/>
              </a:spcBef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the fix. Here are the available tools.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</p:txBody>
      </p:sp>
      <p:sp>
        <p:nvSpPr>
          <p:cNvPr id="47108" name="object 4"/>
          <p:cNvSpPr/>
          <p:nvPr/>
        </p:nvSpPr>
        <p:spPr>
          <a:xfrm>
            <a:off x="1062038" y="2093913"/>
            <a:ext cx="2403475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After you have fixed this</a:t>
            </a:r>
            <a:endParaRPr lang="en-US" altLang="zh-CN" sz="12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IndexError can you ensure that</a:t>
            </a:r>
            <a:endParaRPr lang="en-US" altLang="zh-CN" sz="12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the CI tests still pass?</a:t>
            </a:r>
            <a:endParaRPr lang="en-US" altLang="zh-CN" sz="12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</p:txBody>
      </p:sp>
      <p:sp>
        <p:nvSpPr>
          <p:cNvPr id="47109" name="object 5"/>
          <p:cNvSpPr/>
          <p:nvPr/>
        </p:nvSpPr>
        <p:spPr>
          <a:xfrm>
            <a:off x="5367338" y="2287588"/>
            <a:ext cx="1966912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&lt;tools&gt;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pytest -s /path/to/unit_tests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</p:txBody>
      </p:sp>
      <p:sp>
        <p:nvSpPr>
          <p:cNvPr id="47110" name="object 6"/>
          <p:cNvSpPr/>
          <p:nvPr/>
        </p:nvSpPr>
        <p:spPr>
          <a:xfrm>
            <a:off x="5367338" y="2790825"/>
            <a:ext cx="2432050" cy="361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225"/>
              </a:lnSpc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pytest -v /path/to/integration_tests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  <a:p>
            <a:pPr>
              <a:lnSpc>
                <a:spcPts val="1225"/>
              </a:lnSpc>
              <a:spcBef>
                <a:spcPts val="90"/>
              </a:spcBef>
            </a:pPr>
            <a:r>
              <a:rPr lang="en-US" altLang="zh-CN" sz="1100">
                <a:solidFill>
                  <a:srgbClr val="595959"/>
                </a:solidFill>
                <a:latin typeface="CBGUTD+Arial-BoldItalicMT" panose="02000500000000000000"/>
                <a:ea typeface="CBGUTD+Arial-BoldItalicMT" panose="02000500000000000000"/>
              </a:rPr>
              <a:t>&lt;/tools&gt;</a:t>
            </a:r>
            <a:endParaRPr lang="en-US" altLang="zh-CN" sz="1100">
              <a:solidFill>
                <a:srgbClr val="595959"/>
              </a:solidFill>
              <a:latin typeface="CBGUTD+Arial-BoldItalicMT" panose="02000500000000000000"/>
              <a:ea typeface="CBGUTD+Arial-BoldItalicMT" panose="02000500000000000000"/>
            </a:endParaRPr>
          </a:p>
        </p:txBody>
      </p:sp>
      <p:sp>
        <p:nvSpPr>
          <p:cNvPr id="47111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KDCTUK+Arial-BoldMT" panose="02000500000000000000"/>
                <a:ea typeface="KDCTUK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KDCTUK+Arial-BoldMT" panose="02000500000000000000"/>
              <a:ea typeface="KDCTUK+Arial-BoldMT" panose="0200050000000000000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813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8131" name="object 3"/>
          <p:cNvSpPr/>
          <p:nvPr/>
        </p:nvSpPr>
        <p:spPr>
          <a:xfrm>
            <a:off x="396875" y="541338"/>
            <a:ext cx="473551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SLOTMT+Roboto-Regular" panose="02000500000000000000"/>
                <a:ea typeface="SLOTMT+Roboto-Regular" panose="02000500000000000000"/>
              </a:rPr>
              <a:t>Retrieval Augmented Generation</a:t>
            </a:r>
            <a:endParaRPr lang="en-US" altLang="zh-CN" sz="2500">
              <a:solidFill>
                <a:srgbClr val="000000"/>
              </a:solidFill>
              <a:latin typeface="SLOTMT+Roboto-Regular" panose="02000500000000000000"/>
              <a:ea typeface="SLOTMT+Roboto-Regular" panose="02000500000000000000"/>
            </a:endParaRPr>
          </a:p>
        </p:txBody>
      </p:sp>
      <p:sp>
        <p:nvSpPr>
          <p:cNvPr id="48132" name="object 4"/>
          <p:cNvSpPr/>
          <p:nvPr/>
        </p:nvSpPr>
        <p:spPr>
          <a:xfrm>
            <a:off x="487363" y="1246188"/>
            <a:ext cx="4967287" cy="14970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SVLTFM+ArialMT" panose="02000500000000000000"/>
                <a:ea typeface="SVLTFM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SLOTMT+Roboto-Regular" panose="02000500000000000000"/>
                <a:ea typeface="SLOTMT+Roboto-Regular" panose="02000500000000000000"/>
              </a:rPr>
              <a:t>Infuse the LLM with contextual data</a:t>
            </a:r>
            <a:endParaRPr lang="en-US" altLang="zh-CN">
              <a:solidFill>
                <a:srgbClr val="595959"/>
              </a:solidFill>
              <a:latin typeface="SLOTMT+Roboto-Regular" panose="02000500000000000000"/>
              <a:ea typeface="SLOTMT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SVLTFM+ArialMT" panose="02000500000000000000"/>
                <a:ea typeface="SVLTFM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SLOTMT+Roboto-Regular" panose="02000500000000000000"/>
                <a:ea typeface="SLOTMT+Roboto-Regular" panose="02000500000000000000"/>
              </a:rPr>
              <a:t>Keeps LLMs up-to-date (without retraining)</a:t>
            </a:r>
            <a:endParaRPr lang="en-US" altLang="zh-CN">
              <a:solidFill>
                <a:srgbClr val="595959"/>
              </a:solidFill>
              <a:latin typeface="SLOTMT+Roboto-Regular" panose="02000500000000000000"/>
              <a:ea typeface="SLOTMT+Roboto-Regular" panose="02000500000000000000"/>
            </a:endParaRPr>
          </a:p>
          <a:p>
            <a:pPr>
              <a:lnSpc>
                <a:spcPts val="1640"/>
              </a:lnSpc>
              <a:spcBef>
                <a:spcPts val="350"/>
              </a:spcBef>
            </a:pPr>
            <a:r>
              <a:rPr lang="en-US" altLang="zh-CN" sz="1400">
                <a:solidFill>
                  <a:srgbClr val="595959"/>
                </a:solidFill>
                <a:latin typeface="SVLTFM+ArialMT" panose="02000500000000000000"/>
                <a:ea typeface="SVLTFM+ArialMT" panose="02000500000000000000"/>
              </a:rPr>
              <a:t>○</a:t>
            </a:r>
            <a:r>
              <a:rPr lang="en-US" altLang="zh-CN" sz="14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400">
                <a:solidFill>
                  <a:srgbClr val="595959"/>
                </a:solidFill>
                <a:latin typeface="SLOTMT+Roboto-Regular" panose="02000500000000000000"/>
                <a:ea typeface="SLOTMT+Roboto-Regular" panose="02000500000000000000"/>
              </a:rPr>
              <a:t>Faster iteration</a:t>
            </a:r>
            <a:endParaRPr lang="en-US" altLang="zh-CN" sz="1400">
              <a:solidFill>
                <a:srgbClr val="595959"/>
              </a:solidFill>
              <a:latin typeface="SLOTMT+Roboto-Regular" panose="02000500000000000000"/>
              <a:ea typeface="SLOTMT+Roboto-Regular" panose="02000500000000000000"/>
            </a:endParaRP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altLang="zh-CN">
                <a:solidFill>
                  <a:srgbClr val="595959"/>
                </a:solidFill>
                <a:latin typeface="SVLTFM+ArialMT" panose="02000500000000000000"/>
                <a:ea typeface="SVLTFM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SLOTMT+Roboto-Regular" panose="02000500000000000000"/>
                <a:ea typeface="SLOTMT+Roboto-Regular" panose="02000500000000000000"/>
              </a:rPr>
              <a:t>You get interpretability and citations for free</a:t>
            </a:r>
            <a:endParaRPr lang="en-US" altLang="zh-CN">
              <a:solidFill>
                <a:srgbClr val="595959"/>
              </a:solidFill>
              <a:latin typeface="SLOTMT+Roboto-Regular" panose="02000500000000000000"/>
              <a:ea typeface="SLOTMT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SVLTFM+ArialMT" panose="02000500000000000000"/>
                <a:ea typeface="SVLTFM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SLOTMT+Roboto-Regular" panose="02000500000000000000"/>
                <a:ea typeface="SLOTMT+Roboto-Regular" panose="02000500000000000000"/>
              </a:rPr>
              <a:t>Reduces hallucinations</a:t>
            </a:r>
            <a:endParaRPr lang="en-US" altLang="zh-CN">
              <a:solidFill>
                <a:srgbClr val="595959"/>
              </a:solidFill>
              <a:latin typeface="SLOTMT+Roboto-Regular" panose="02000500000000000000"/>
              <a:ea typeface="SLOTMT+Roboto-Regular" panose="02000500000000000000"/>
            </a:endParaRPr>
          </a:p>
        </p:txBody>
      </p:sp>
      <p:sp>
        <p:nvSpPr>
          <p:cNvPr id="48133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PUEANQ+Arial-BoldMT" panose="02000500000000000000"/>
                <a:ea typeface="PUEANQ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PUEANQ+Arial-BoldMT" panose="02000500000000000000"/>
              <a:ea typeface="PUEANQ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05400" y="541655"/>
            <a:ext cx="3858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检索增强生成提示词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80390" y="2732405"/>
            <a:ext cx="4784090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为大语言模型注入相关上下文数据</a:t>
            </a:r>
            <a:endParaRPr lang="zh-CN" altLang="en-US" sz="1600"/>
          </a:p>
          <a:p>
            <a:r>
              <a:rPr lang="zh-CN" altLang="en-US" sz="1600"/>
              <a:t>让大语言模型保持信息时效性（无需重新训练）</a:t>
            </a:r>
            <a:endParaRPr lang="zh-CN" altLang="en-US" sz="1600"/>
          </a:p>
          <a:p>
            <a:r>
              <a:rPr lang="en-US" altLang="zh-CN" sz="1200"/>
              <a:t>      </a:t>
            </a:r>
            <a:r>
              <a:rPr lang="zh-CN" altLang="en-US" sz="1200"/>
              <a:t>实现更快的迭代更新</a:t>
            </a:r>
            <a:endParaRPr lang="zh-CN" altLang="en-US" sz="1200"/>
          </a:p>
          <a:p>
            <a:r>
              <a:rPr lang="zh-CN" altLang="en-US" sz="1600"/>
              <a:t>同时获得可解释性的推理过程与引用来源</a:t>
            </a:r>
            <a:endParaRPr lang="zh-CN" altLang="en-US" sz="1600"/>
          </a:p>
          <a:p>
            <a:r>
              <a:rPr lang="zh-CN" altLang="en-US" sz="1600"/>
              <a:t>有效减少幻觉问题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4915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49155" name="object 3"/>
          <p:cNvSpPr/>
          <p:nvPr/>
        </p:nvSpPr>
        <p:spPr>
          <a:xfrm>
            <a:off x="5383213" y="1169988"/>
            <a:ext cx="2549525" cy="4841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I want to extend the UserAuthService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class to check that the client provides a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valid OAuth token.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</p:txBody>
      </p:sp>
      <p:sp>
        <p:nvSpPr>
          <p:cNvPr id="49156" name="object 4"/>
          <p:cNvSpPr/>
          <p:nvPr/>
        </p:nvSpPr>
        <p:spPr>
          <a:xfrm>
            <a:off x="5383213" y="1779588"/>
            <a:ext cx="2549525" cy="179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Here is how the UserAuthService works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</p:txBody>
      </p:sp>
      <p:sp>
        <p:nvSpPr>
          <p:cNvPr id="49157" name="object 5"/>
          <p:cNvSpPr/>
          <p:nvPr/>
        </p:nvSpPr>
        <p:spPr>
          <a:xfrm>
            <a:off x="5383213" y="1931988"/>
            <a:ext cx="449262" cy="179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now: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</p:txBody>
      </p:sp>
      <p:sp>
        <p:nvSpPr>
          <p:cNvPr id="49158" name="object 6"/>
          <p:cNvSpPr/>
          <p:nvPr/>
        </p:nvSpPr>
        <p:spPr>
          <a:xfrm>
            <a:off x="1062038" y="2063750"/>
            <a:ext cx="2300287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Extend the UserAuthService</a:t>
            </a:r>
            <a:endParaRPr lang="en-US" altLang="zh-CN" sz="12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class to check that the client</a:t>
            </a:r>
            <a:endParaRPr lang="en-US" altLang="zh-CN" sz="12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provides a valid OAuth token.</a:t>
            </a:r>
            <a:endParaRPr lang="en-US" altLang="zh-CN" sz="12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</p:txBody>
      </p:sp>
      <p:sp>
        <p:nvSpPr>
          <p:cNvPr id="49159" name="object 7"/>
          <p:cNvSpPr/>
          <p:nvPr/>
        </p:nvSpPr>
        <p:spPr>
          <a:xfrm>
            <a:off x="5383213" y="2084388"/>
            <a:ext cx="1549400" cy="4841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&lt;code_snippet&gt;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def issue_oauth_token():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….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</p:txBody>
      </p:sp>
      <p:sp>
        <p:nvSpPr>
          <p:cNvPr id="49160" name="object 8"/>
          <p:cNvSpPr/>
          <p:nvPr/>
        </p:nvSpPr>
        <p:spPr>
          <a:xfrm>
            <a:off x="5383213" y="2541588"/>
            <a:ext cx="1092200" cy="179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&lt;/code_snippet&gt;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</p:txBody>
      </p:sp>
      <p:sp>
        <p:nvSpPr>
          <p:cNvPr id="49161" name="object 9"/>
          <p:cNvSpPr/>
          <p:nvPr/>
        </p:nvSpPr>
        <p:spPr>
          <a:xfrm>
            <a:off x="5383213" y="2846388"/>
            <a:ext cx="2587625" cy="941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115"/>
              </a:lnSpc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Here is the path to the requests-oauthlib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NBMHNP+Arial-BoldItalicMT" panose="02000500000000000000"/>
                <a:ea typeface="NBMHNP+Arial-BoldItalicMT" panose="02000500000000000000"/>
              </a:rPr>
              <a:t>documentation:</a:t>
            </a:r>
            <a:endParaRPr lang="en-US" altLang="zh-CN" sz="1000">
              <a:solidFill>
                <a:srgbClr val="595959"/>
              </a:solidFill>
              <a:latin typeface="NBMHNP+Arial-BoldItalicMT" panose="02000500000000000000"/>
              <a:ea typeface="NBMHNP+Arial-Bold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&lt;url&gt;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https://requests-oauthlib.readthedocs.io/en/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latest/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  <a:p>
            <a:pPr>
              <a:lnSpc>
                <a:spcPts val="1115"/>
              </a:lnSpc>
              <a:spcBef>
                <a:spcPts val="75"/>
              </a:spcBef>
            </a:pPr>
            <a:r>
              <a:rPr lang="en-US" altLang="zh-CN" sz="1000">
                <a:solidFill>
                  <a:srgbClr val="595959"/>
                </a:solidFill>
                <a:latin typeface="FDSIHK+Arial-ItalicMT" panose="02000500000000000000"/>
                <a:ea typeface="FDSIHK+Arial-ItalicMT" panose="02000500000000000000"/>
              </a:rPr>
              <a:t>&lt;/url&gt;</a:t>
            </a:r>
            <a:endParaRPr lang="en-US" altLang="zh-CN" sz="1000">
              <a:solidFill>
                <a:srgbClr val="595959"/>
              </a:solidFill>
              <a:latin typeface="FDSIHK+Arial-ItalicMT" panose="02000500000000000000"/>
              <a:ea typeface="FDSIHK+Arial-ItalicMT" panose="02000500000000000000"/>
            </a:endParaRPr>
          </a:p>
        </p:txBody>
      </p:sp>
      <p:sp>
        <p:nvSpPr>
          <p:cNvPr id="49162" name="object 10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LTUCQM+Arial-BoldMT" panose="02000500000000000000"/>
                <a:ea typeface="LTUCQM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LTUCQM+Arial-BoldMT" panose="02000500000000000000"/>
              <a:ea typeface="LTUCQM+Arial-BoldMT" panose="0200050000000000000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017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0179" name="object 3"/>
          <p:cNvSpPr/>
          <p:nvPr/>
        </p:nvSpPr>
        <p:spPr>
          <a:xfrm>
            <a:off x="396875" y="541338"/>
            <a:ext cx="1466850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UDGIHF+Roboto-Regular" panose="02000500000000000000"/>
                <a:ea typeface="UDGIHF+Roboto-Regular" panose="02000500000000000000"/>
              </a:rPr>
              <a:t>Reﬂexion</a:t>
            </a:r>
            <a:endParaRPr lang="en-US" altLang="zh-CN" sz="2500">
              <a:solidFill>
                <a:srgbClr val="000000"/>
              </a:solidFill>
              <a:latin typeface="UDGIHF+Roboto-Regular" panose="02000500000000000000"/>
              <a:ea typeface="UDGIHF+Roboto-Regular" panose="02000500000000000000"/>
            </a:endParaRPr>
          </a:p>
        </p:txBody>
      </p:sp>
      <p:sp>
        <p:nvSpPr>
          <p:cNvPr id="50180" name="object 4"/>
          <p:cNvSpPr/>
          <p:nvPr/>
        </p:nvSpPr>
        <p:spPr>
          <a:xfrm>
            <a:off x="487363" y="1246188"/>
            <a:ext cx="8339137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Make the LLM </a:t>
            </a:r>
            <a:r>
              <a:rPr lang="en-US" altLang="zh-CN">
                <a:solidFill>
                  <a:srgbClr val="595959"/>
                </a:solidFill>
                <a:latin typeface="CJQLBD+Roboto-Italic" panose="02000500000000000000"/>
                <a:ea typeface="CJQLBD+Roboto-Italic" panose="02000500000000000000"/>
              </a:rPr>
              <a:t>reﬂect </a:t>
            </a: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on its output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Verbal feedback from environment signals are reincorporated into the LLM by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augmenting the context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After an action is taken in an environment and an observation made, add a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  <a:p>
            <a:pPr>
              <a:lnSpc>
                <a:spcPts val="2100"/>
              </a:lnSpc>
              <a:spcBef>
                <a:spcPts val="315"/>
              </a:spcBef>
            </a:pP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prompt suﬃx: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</p:txBody>
      </p:sp>
      <p:sp>
        <p:nvSpPr>
          <p:cNvPr id="50181" name="object 5"/>
          <p:cNvSpPr/>
          <p:nvPr/>
        </p:nvSpPr>
        <p:spPr>
          <a:xfrm>
            <a:off x="976313" y="2825750"/>
            <a:ext cx="260350" cy="2365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NLKWMQ+ArialMT" panose="02000500000000000000"/>
              <a:ea typeface="NLKWMQ+ArialMT" panose="02000500000000000000"/>
            </a:endParaRPr>
          </a:p>
        </p:txBody>
      </p:sp>
      <p:sp>
        <p:nvSpPr>
          <p:cNvPr id="50182" name="object 6"/>
          <p:cNvSpPr/>
          <p:nvPr/>
        </p:nvSpPr>
        <p:spPr>
          <a:xfrm>
            <a:off x="1311275" y="2820988"/>
            <a:ext cx="6089650" cy="2460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“Now critique your answer. Was it correct? If not, explain why and try again.”</a:t>
            </a:r>
            <a:endParaRPr lang="en-US" altLang="zh-CN" sz="1400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</p:txBody>
      </p:sp>
      <p:sp>
        <p:nvSpPr>
          <p:cNvPr id="50183" name="object 7"/>
          <p:cNvSpPr/>
          <p:nvPr/>
        </p:nvSpPr>
        <p:spPr>
          <a:xfrm>
            <a:off x="487363" y="3068638"/>
            <a:ext cx="2601912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Multi-turn prompting</a:t>
            </a:r>
            <a:endParaRPr lang="en-US" altLang="zh-CN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</p:txBody>
      </p:sp>
      <p:sp>
        <p:nvSpPr>
          <p:cNvPr id="50184" name="object 8"/>
          <p:cNvSpPr/>
          <p:nvPr/>
        </p:nvSpPr>
        <p:spPr>
          <a:xfrm>
            <a:off x="976313" y="3386138"/>
            <a:ext cx="26035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NLKWMQ+ArialMT" panose="02000500000000000000"/>
              <a:ea typeface="NLKWMQ+ArialMT" panose="02000500000000000000"/>
            </a:endParaRPr>
          </a:p>
          <a:p>
            <a:pPr>
              <a:lnSpc>
                <a:spcPts val="1565"/>
              </a:lnSpc>
              <a:spcBef>
                <a:spcPts val="315"/>
              </a:spcBef>
            </a:pPr>
            <a:r>
              <a:rPr lang="en-US" altLang="zh-CN" sz="1400">
                <a:solidFill>
                  <a:srgbClr val="595959"/>
                </a:solidFill>
                <a:latin typeface="NLKWMQ+ArialMT" panose="02000500000000000000"/>
                <a:ea typeface="NLKWMQ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NLKWMQ+ArialMT" panose="02000500000000000000"/>
              <a:ea typeface="NLKWMQ+ArialMT" panose="02000500000000000000"/>
            </a:endParaRPr>
          </a:p>
        </p:txBody>
      </p:sp>
      <p:sp>
        <p:nvSpPr>
          <p:cNvPr id="50185" name="object 9"/>
          <p:cNvSpPr/>
          <p:nvPr/>
        </p:nvSpPr>
        <p:spPr>
          <a:xfrm>
            <a:off x="1311275" y="3381375"/>
            <a:ext cx="5076825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Turn 1: Model gives a ﬁrst try.</a:t>
            </a:r>
            <a:endParaRPr lang="en-US" altLang="zh-CN" sz="1400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  <a:p>
            <a:pPr>
              <a:lnSpc>
                <a:spcPts val="1640"/>
              </a:lnSpc>
              <a:spcBef>
                <a:spcPts val="340"/>
              </a:spcBef>
            </a:pPr>
            <a:r>
              <a:rPr lang="en-US" altLang="zh-CN" sz="1400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Turn 2: You ask “</a:t>
            </a:r>
            <a:r>
              <a:rPr lang="en-US" altLang="zh-CN" sz="1400">
                <a:solidFill>
                  <a:srgbClr val="595959"/>
                </a:solidFill>
                <a:latin typeface="CJQLBD+Roboto-Italic" panose="02000500000000000000"/>
                <a:ea typeface="CJQLBD+Roboto-Italic" panose="02000500000000000000"/>
              </a:rPr>
              <a:t>Was that correct? Reﬂect and revise if needed.</a:t>
            </a:r>
            <a:r>
              <a:rPr lang="en-US" altLang="zh-CN" sz="1400">
                <a:solidFill>
                  <a:srgbClr val="595959"/>
                </a:solidFill>
                <a:latin typeface="UDGIHF+Roboto-Regular" panose="02000500000000000000"/>
                <a:ea typeface="UDGIHF+Roboto-Regular" panose="02000500000000000000"/>
              </a:rPr>
              <a:t>”</a:t>
            </a:r>
            <a:endParaRPr lang="en-US" altLang="zh-CN" sz="1400">
              <a:solidFill>
                <a:srgbClr val="595959"/>
              </a:solidFill>
              <a:latin typeface="UDGIHF+Roboto-Regular" panose="02000500000000000000"/>
              <a:ea typeface="UDGIHF+Roboto-Regular" panose="02000500000000000000"/>
            </a:endParaRPr>
          </a:p>
        </p:txBody>
      </p:sp>
      <p:sp>
        <p:nvSpPr>
          <p:cNvPr id="50186" name="object 10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JRPVSI+Arial-BoldMT" panose="02000500000000000000"/>
                <a:ea typeface="JRPVSI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JRPVSI+Arial-BoldMT" panose="02000500000000000000"/>
              <a:ea typeface="JRPVSI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14525" y="498475"/>
            <a:ext cx="2441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反思提示词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3932555" y="195580"/>
            <a:ext cx="521144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让大语言模型对自身输出进行反思</a:t>
            </a:r>
            <a:endParaRPr lang="zh-CN" altLang="en-US" sz="1400"/>
          </a:p>
          <a:p>
            <a:r>
              <a:rPr lang="zh-CN" altLang="en-US" sz="1400"/>
              <a:t>将环境反馈的信息通过扩充上下文的方式重新输入模型</a:t>
            </a:r>
            <a:endParaRPr lang="zh-CN" altLang="en-US" sz="1400"/>
          </a:p>
          <a:p>
            <a:r>
              <a:rPr lang="zh-CN" altLang="en-US" sz="1400"/>
              <a:t>当模型在环境中执行操作并得到结果后，在提示词末尾添加：</a:t>
            </a:r>
            <a:endParaRPr lang="zh-CN" altLang="en-US" sz="1400"/>
          </a:p>
          <a:p>
            <a:r>
              <a:rPr lang="en-US" altLang="zh-CN" sz="1400"/>
              <a:t>      “</a:t>
            </a:r>
            <a:r>
              <a:rPr lang="zh-CN" altLang="en-US" sz="1400"/>
              <a:t>现在对你的答案进行评判。答案是否正确？如果不正确，说明原因并重新作答。</a:t>
            </a:r>
            <a:r>
              <a:rPr lang="en-US" altLang="zh-CN" sz="1400"/>
              <a:t>”</a:t>
            </a:r>
            <a:endParaRPr lang="en-US" altLang="zh-CN" sz="1400"/>
          </a:p>
        </p:txBody>
      </p:sp>
      <p:sp>
        <p:nvSpPr>
          <p:cNvPr id="4" name="文本框 3"/>
          <p:cNvSpPr txBox="1"/>
          <p:nvPr/>
        </p:nvSpPr>
        <p:spPr>
          <a:xfrm>
            <a:off x="604520" y="3875405"/>
            <a:ext cx="69202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多轮提示词交互</a:t>
            </a:r>
            <a:endParaRPr lang="zh-CN" altLang="en-US" sz="1400"/>
          </a:p>
          <a:p>
            <a:r>
              <a:rPr lang="zh-CN" altLang="en-US" sz="1400"/>
              <a:t>第一轮：模型首次作答</a:t>
            </a:r>
            <a:endParaRPr lang="zh-CN" altLang="en-US" sz="1400"/>
          </a:p>
          <a:p>
            <a:r>
              <a:rPr lang="zh-CN" altLang="en-US" sz="1400"/>
              <a:t>第二轮：提出问题</a:t>
            </a:r>
            <a:r>
              <a:rPr lang="en-US" altLang="zh-CN" sz="1400"/>
              <a:t>“</a:t>
            </a:r>
            <a:r>
              <a:rPr lang="zh-CN" altLang="en-US" sz="1400"/>
              <a:t>答案是否正确？请反思并在需要时修改。</a:t>
            </a:r>
            <a:r>
              <a:rPr lang="en-US" altLang="zh-CN" sz="1400"/>
              <a:t>”</a:t>
            </a:r>
            <a:endParaRPr lang="en-US" altLang="zh-CN" sz="14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120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1203" name="object 3"/>
          <p:cNvSpPr/>
          <p:nvPr/>
        </p:nvSpPr>
        <p:spPr>
          <a:xfrm>
            <a:off x="5367338" y="854075"/>
            <a:ext cx="2520950" cy="273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890"/>
              </a:lnSpc>
            </a:pPr>
            <a:r>
              <a:rPr lang="en-US" altLang="zh-CN" sz="8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Extend the logic for company_location to be able</a:t>
            </a:r>
            <a:endParaRPr lang="en-US" altLang="zh-CN" sz="8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  <a:p>
            <a:pPr>
              <a:lnSpc>
                <a:spcPts val="890"/>
              </a:lnSpc>
              <a:spcBef>
                <a:spcPts val="65"/>
              </a:spcBef>
            </a:pPr>
            <a:r>
              <a:rPr lang="en-US" altLang="zh-CN" sz="8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to handle string and json representations</a:t>
            </a:r>
            <a:endParaRPr lang="en-US" altLang="zh-CN" sz="8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</p:txBody>
      </p:sp>
      <p:sp>
        <p:nvSpPr>
          <p:cNvPr id="51204" name="object 4"/>
          <p:cNvSpPr/>
          <p:nvPr/>
        </p:nvSpPr>
        <p:spPr>
          <a:xfrm>
            <a:off x="6805613" y="1420813"/>
            <a:ext cx="449262" cy="138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775"/>
              </a:lnSpc>
            </a:pPr>
            <a:r>
              <a:rPr lang="en-US" altLang="zh-CN" sz="700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observe</a:t>
            </a:r>
            <a:endParaRPr lang="en-US" altLang="zh-CN" sz="700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</p:txBody>
      </p:sp>
      <p:sp>
        <p:nvSpPr>
          <p:cNvPr id="51205" name="object 5"/>
          <p:cNvSpPr/>
          <p:nvPr/>
        </p:nvSpPr>
        <p:spPr>
          <a:xfrm>
            <a:off x="5367338" y="1844675"/>
            <a:ext cx="2427287" cy="273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890"/>
              </a:lnSpc>
            </a:pPr>
            <a:r>
              <a:rPr lang="en-US" altLang="zh-CN" sz="800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The unit tests for the company_location type aren’t</a:t>
            </a:r>
            <a:endParaRPr lang="en-US" altLang="zh-CN" sz="800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  <a:p>
            <a:pPr>
              <a:lnSpc>
                <a:spcPts val="890"/>
              </a:lnSpc>
              <a:spcBef>
                <a:spcPts val="65"/>
              </a:spcBef>
            </a:pPr>
            <a:r>
              <a:rPr lang="en-US" altLang="zh-CN" sz="800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passing.</a:t>
            </a:r>
            <a:endParaRPr lang="en-US" altLang="zh-CN" sz="800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</p:txBody>
      </p:sp>
      <p:sp>
        <p:nvSpPr>
          <p:cNvPr id="51206" name="object 6"/>
          <p:cNvSpPr/>
          <p:nvPr/>
        </p:nvSpPr>
        <p:spPr>
          <a:xfrm>
            <a:off x="1062038" y="2017713"/>
            <a:ext cx="1260475" cy="2079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Ensure that the</a:t>
            </a:r>
            <a:endParaRPr lang="en-US" altLang="zh-CN" sz="12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</p:txBody>
      </p:sp>
      <p:sp>
        <p:nvSpPr>
          <p:cNvPr id="51207" name="object 7"/>
          <p:cNvSpPr/>
          <p:nvPr/>
        </p:nvSpPr>
        <p:spPr>
          <a:xfrm>
            <a:off x="1062038" y="2200275"/>
            <a:ext cx="2378075" cy="5746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company_location column can</a:t>
            </a:r>
            <a:endParaRPr lang="en-US" altLang="zh-CN" sz="12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  <a:p>
            <a:pPr>
              <a:lnSpc>
                <a:spcPts val="1340"/>
              </a:lnSpc>
              <a:spcBef>
                <a:spcPts val="140"/>
              </a:spcBef>
            </a:pPr>
            <a:r>
              <a:rPr lang="en-US" altLang="zh-CN" sz="12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handle string and json</a:t>
            </a:r>
            <a:endParaRPr lang="en-US" altLang="zh-CN" sz="12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  <a:p>
            <a:pPr>
              <a:lnSpc>
                <a:spcPts val="1340"/>
              </a:lnSpc>
              <a:spcBef>
                <a:spcPts val="90"/>
              </a:spcBef>
            </a:pPr>
            <a:r>
              <a:rPr lang="en-US" altLang="zh-CN" sz="12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representations.</a:t>
            </a:r>
            <a:endParaRPr lang="en-US" altLang="zh-CN" sz="12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</p:txBody>
      </p:sp>
      <p:sp>
        <p:nvSpPr>
          <p:cNvPr id="51208" name="object 8"/>
          <p:cNvSpPr/>
          <p:nvPr/>
        </p:nvSpPr>
        <p:spPr>
          <a:xfrm>
            <a:off x="6805613" y="2259013"/>
            <a:ext cx="374650" cy="138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775"/>
              </a:lnSpc>
            </a:pPr>
            <a:r>
              <a:rPr lang="en-US" altLang="zh-CN" sz="700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reflect</a:t>
            </a:r>
            <a:endParaRPr lang="en-US" altLang="zh-CN" sz="700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</p:txBody>
      </p:sp>
      <p:sp>
        <p:nvSpPr>
          <p:cNvPr id="51209" name="object 9"/>
          <p:cNvSpPr/>
          <p:nvPr/>
        </p:nvSpPr>
        <p:spPr>
          <a:xfrm>
            <a:off x="5367338" y="2682875"/>
            <a:ext cx="2573337" cy="273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890"/>
              </a:lnSpc>
            </a:pPr>
            <a:r>
              <a:rPr lang="en-US" altLang="zh-CN" sz="800" u="sng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It appears that the unit tests for company_location are</a:t>
            </a:r>
            <a:endParaRPr lang="en-US" altLang="zh-CN" sz="800" u="sng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  <a:p>
            <a:pPr>
              <a:lnSpc>
                <a:spcPts val="890"/>
              </a:lnSpc>
              <a:spcBef>
                <a:spcPts val="65"/>
              </a:spcBef>
            </a:pPr>
            <a:r>
              <a:rPr lang="en-US" altLang="zh-CN" sz="800" u="sng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throwing a JSONDecodeError.</a:t>
            </a:r>
            <a:endParaRPr lang="en-US" altLang="zh-CN" sz="800" u="sng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</p:txBody>
      </p:sp>
      <p:sp>
        <p:nvSpPr>
          <p:cNvPr id="51210" name="object 10"/>
          <p:cNvSpPr/>
          <p:nvPr/>
        </p:nvSpPr>
        <p:spPr>
          <a:xfrm>
            <a:off x="6805613" y="3249613"/>
            <a:ext cx="711200" cy="13811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775"/>
              </a:lnSpc>
            </a:pPr>
            <a:r>
              <a:rPr lang="en-US" altLang="zh-CN" sz="700">
                <a:solidFill>
                  <a:srgbClr val="595959"/>
                </a:solidFill>
                <a:latin typeface="WGDDEI+ArialMT" panose="02000500000000000000"/>
                <a:ea typeface="WGDDEI+ArialMT" panose="02000500000000000000"/>
              </a:rPr>
              <a:t>Extend prompt</a:t>
            </a:r>
            <a:endParaRPr lang="en-US" altLang="zh-CN" sz="700">
              <a:solidFill>
                <a:srgbClr val="595959"/>
              </a:solidFill>
              <a:latin typeface="WGDDEI+ArialMT" panose="02000500000000000000"/>
              <a:ea typeface="WGDDEI+ArialMT" panose="02000500000000000000"/>
            </a:endParaRPr>
          </a:p>
        </p:txBody>
      </p:sp>
      <p:sp>
        <p:nvSpPr>
          <p:cNvPr id="51211" name="object 11"/>
          <p:cNvSpPr/>
          <p:nvPr/>
        </p:nvSpPr>
        <p:spPr>
          <a:xfrm>
            <a:off x="5367338" y="3673475"/>
            <a:ext cx="2379662" cy="15081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890"/>
              </a:lnSpc>
            </a:pPr>
            <a:r>
              <a:rPr lang="en-US" altLang="zh-CN" sz="800">
                <a:solidFill>
                  <a:srgbClr val="595959"/>
                </a:solidFill>
                <a:latin typeface="INRCFG+Arial-BoldItalicMT" panose="02000500000000000000"/>
                <a:ea typeface="INRCFG+Arial-BoldItalicMT" panose="02000500000000000000"/>
              </a:rPr>
              <a:t>I am extending the company_location column.</a:t>
            </a:r>
            <a:endParaRPr lang="en-US" altLang="zh-CN" sz="800">
              <a:solidFill>
                <a:srgbClr val="595959"/>
              </a:solidFill>
              <a:latin typeface="INRCFG+Arial-BoldItalicMT" panose="02000500000000000000"/>
              <a:ea typeface="INRCFG+Arial-BoldItalicMT" panose="02000500000000000000"/>
            </a:endParaRPr>
          </a:p>
        </p:txBody>
      </p:sp>
      <p:sp>
        <p:nvSpPr>
          <p:cNvPr id="51212" name="object 12"/>
          <p:cNvSpPr/>
          <p:nvPr/>
        </p:nvSpPr>
        <p:spPr>
          <a:xfrm>
            <a:off x="5367338" y="3916363"/>
            <a:ext cx="2419350" cy="2730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890"/>
              </a:lnSpc>
            </a:pPr>
            <a:r>
              <a:rPr lang="en-US" altLang="zh-CN" sz="800">
                <a:solidFill>
                  <a:srgbClr val="E69138"/>
                </a:solidFill>
                <a:latin typeface="INRCFG+Arial-BoldItalicMT" panose="02000500000000000000"/>
                <a:ea typeface="INRCFG+Arial-BoldItalicMT" panose="02000500000000000000"/>
              </a:rPr>
              <a:t>I must ensure that when a string is provided as</a:t>
            </a:r>
            <a:endParaRPr lang="en-US" altLang="zh-CN" sz="800">
              <a:solidFill>
                <a:srgbClr val="E69138"/>
              </a:solidFill>
              <a:latin typeface="INRCFG+Arial-BoldItalicMT" panose="02000500000000000000"/>
              <a:ea typeface="INRCFG+Arial-BoldItalicMT" panose="02000500000000000000"/>
            </a:endParaRPr>
          </a:p>
          <a:p>
            <a:pPr>
              <a:lnSpc>
                <a:spcPts val="890"/>
              </a:lnSpc>
              <a:spcBef>
                <a:spcPts val="65"/>
              </a:spcBef>
            </a:pPr>
            <a:r>
              <a:rPr lang="en-US" altLang="zh-CN" sz="800">
                <a:solidFill>
                  <a:srgbClr val="E69138"/>
                </a:solidFill>
                <a:latin typeface="INRCFG+Arial-BoldItalicMT" panose="02000500000000000000"/>
                <a:ea typeface="INRCFG+Arial-BoldItalicMT" panose="02000500000000000000"/>
              </a:rPr>
              <a:t>input it doesn’t throw a JSONDecodeError.</a:t>
            </a:r>
            <a:endParaRPr lang="en-US" altLang="zh-CN" sz="800">
              <a:solidFill>
                <a:srgbClr val="E69138"/>
              </a:solidFill>
              <a:latin typeface="INRCFG+Arial-BoldItalicMT" panose="02000500000000000000"/>
              <a:ea typeface="INRCFG+Arial-BoldItalicMT" panose="02000500000000000000"/>
            </a:endParaRPr>
          </a:p>
        </p:txBody>
      </p:sp>
      <p:sp>
        <p:nvSpPr>
          <p:cNvPr id="51213" name="object 13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AKEOJE+Arial-BoldMT" panose="02000500000000000000"/>
                <a:ea typeface="AKEOJE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AKEOJE+Arial-BoldMT" panose="02000500000000000000"/>
              <a:ea typeface="AKEOJE+Arial-BoldMT" panose="0200050000000000000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222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2227" name="object 3"/>
          <p:cNvSpPr/>
          <p:nvPr/>
        </p:nvSpPr>
        <p:spPr>
          <a:xfrm>
            <a:off x="396875" y="541338"/>
            <a:ext cx="342741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KFIPAG+Roboto-Regular" panose="02000500000000000000"/>
                <a:ea typeface="KFIPAG+Roboto-Regular" panose="02000500000000000000"/>
              </a:rPr>
              <a:t>Additional Terminology</a:t>
            </a:r>
            <a:endParaRPr lang="en-US" altLang="zh-CN" sz="2500">
              <a:solidFill>
                <a:srgbClr val="000000"/>
              </a:solidFill>
              <a:latin typeface="KFIPAG+Roboto-Regular" panose="02000500000000000000"/>
              <a:ea typeface="KFIPAG+Roboto-Regular" panose="02000500000000000000"/>
            </a:endParaRPr>
          </a:p>
        </p:txBody>
      </p:sp>
      <p:sp>
        <p:nvSpPr>
          <p:cNvPr id="52228" name="object 4"/>
          <p:cNvSpPr/>
          <p:nvPr/>
        </p:nvSpPr>
        <p:spPr>
          <a:xfrm>
            <a:off x="487363" y="1246188"/>
            <a:ext cx="2070100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FRJURV+ArialMT" panose="02000500000000000000"/>
                <a:ea typeface="FRJURV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KFIPAG+Roboto-Regular" panose="02000500000000000000"/>
                <a:ea typeface="KFIPAG+Roboto-Regular" panose="02000500000000000000"/>
              </a:rPr>
              <a:t>System prompt</a:t>
            </a:r>
            <a:endParaRPr lang="en-US" altLang="zh-CN">
              <a:solidFill>
                <a:srgbClr val="595959"/>
              </a:solidFill>
              <a:latin typeface="KFIPAG+Roboto-Regular" panose="02000500000000000000"/>
              <a:ea typeface="KFIPAG+Roboto-Regular" panose="02000500000000000000"/>
            </a:endParaRPr>
          </a:p>
        </p:txBody>
      </p:sp>
      <p:sp>
        <p:nvSpPr>
          <p:cNvPr id="52229" name="object 5"/>
          <p:cNvSpPr/>
          <p:nvPr/>
        </p:nvSpPr>
        <p:spPr>
          <a:xfrm>
            <a:off x="976313" y="1563688"/>
            <a:ext cx="26035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FRJURV+ArialMT" panose="02000500000000000000"/>
                <a:ea typeface="FRJURV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FRJURV+ArialMT" panose="02000500000000000000"/>
              <a:ea typeface="FRJURV+ArialMT" panose="02000500000000000000"/>
            </a:endParaRPr>
          </a:p>
          <a:p>
            <a:pPr>
              <a:lnSpc>
                <a:spcPts val="1565"/>
              </a:lnSpc>
              <a:spcBef>
                <a:spcPts val="315"/>
              </a:spcBef>
            </a:pPr>
            <a:r>
              <a:rPr lang="en-US" altLang="zh-CN" sz="1400">
                <a:solidFill>
                  <a:srgbClr val="595959"/>
                </a:solidFill>
                <a:latin typeface="FRJURV+ArialMT" panose="02000500000000000000"/>
                <a:ea typeface="FRJURV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FRJURV+ArialMT" panose="02000500000000000000"/>
              <a:ea typeface="FRJURV+ArialMT" panose="02000500000000000000"/>
            </a:endParaRPr>
          </a:p>
        </p:txBody>
      </p:sp>
      <p:sp>
        <p:nvSpPr>
          <p:cNvPr id="52230" name="object 6"/>
          <p:cNvSpPr/>
          <p:nvPr/>
        </p:nvSpPr>
        <p:spPr>
          <a:xfrm>
            <a:off x="1311275" y="1558925"/>
            <a:ext cx="4987925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KFIPAG+Roboto-Regular" panose="02000500000000000000"/>
                <a:ea typeface="KFIPAG+Roboto-Regular" panose="02000500000000000000"/>
              </a:rPr>
              <a:t>First message provided to LLM (usually not seen by end user)</a:t>
            </a:r>
            <a:endParaRPr lang="en-US" altLang="zh-CN" sz="1400">
              <a:solidFill>
                <a:srgbClr val="595959"/>
              </a:solidFill>
              <a:latin typeface="KFIPAG+Roboto-Regular" panose="02000500000000000000"/>
              <a:ea typeface="KFIPAG+Roboto-Regular" panose="02000500000000000000"/>
            </a:endParaRPr>
          </a:p>
          <a:p>
            <a:pPr>
              <a:lnSpc>
                <a:spcPts val="1640"/>
              </a:lnSpc>
              <a:spcBef>
                <a:spcPts val="340"/>
              </a:spcBef>
            </a:pPr>
            <a:r>
              <a:rPr lang="en-US" altLang="zh-CN" sz="1400">
                <a:solidFill>
                  <a:srgbClr val="595959"/>
                </a:solidFill>
                <a:latin typeface="KFIPAG+Roboto-Regular" panose="02000500000000000000"/>
                <a:ea typeface="KFIPAG+Roboto-Regular" panose="02000500000000000000"/>
              </a:rPr>
              <a:t>Provides persona, rules about LLM output, style</a:t>
            </a:r>
            <a:endParaRPr lang="en-US" altLang="zh-CN" sz="1400">
              <a:solidFill>
                <a:srgbClr val="595959"/>
              </a:solidFill>
              <a:latin typeface="KFIPAG+Roboto-Regular" panose="02000500000000000000"/>
              <a:ea typeface="KFIPAG+Roboto-Regular" panose="02000500000000000000"/>
            </a:endParaRPr>
          </a:p>
        </p:txBody>
      </p:sp>
      <p:sp>
        <p:nvSpPr>
          <p:cNvPr id="52231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IHJSFL+Arial-BoldMT" panose="02000500000000000000"/>
                <a:ea typeface="IHJSFL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IHJSFL+Arial-BoldMT" panose="02000500000000000000"/>
              <a:ea typeface="IHJSFL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865" y="1998345"/>
            <a:ext cx="631317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系统提示词</a:t>
            </a:r>
            <a:endParaRPr lang="zh-CN" altLang="en-US" sz="1600"/>
          </a:p>
          <a:p>
            <a:pPr indent="457200"/>
            <a:r>
              <a:rPr lang="zh-CN" altLang="en-US" sz="1600"/>
              <a:t>提供给大语言模型的第一条信息（通常对终端用户不可见）</a:t>
            </a:r>
            <a:endParaRPr lang="zh-CN" altLang="en-US" sz="1600"/>
          </a:p>
          <a:p>
            <a:pPr indent="457200"/>
            <a:r>
              <a:rPr lang="zh-CN" altLang="en-US" sz="1600"/>
              <a:t>为模型设定角色、输出规则与语言风格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3895725" y="570230"/>
            <a:ext cx="2764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额外专业术语</a:t>
            </a:r>
            <a:endParaRPr lang="zh-CN" altLang="en-US" b="1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325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3251" name="object 3"/>
          <p:cNvSpPr/>
          <p:nvPr/>
        </p:nvSpPr>
        <p:spPr>
          <a:xfrm>
            <a:off x="4170363" y="1987550"/>
            <a:ext cx="349250" cy="350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450"/>
              </a:lnSpc>
            </a:pPr>
            <a:r>
              <a:rPr lang="en-US" altLang="zh-CN" sz="2100">
                <a:solidFill>
                  <a:srgbClr val="595959"/>
                </a:solidFill>
                <a:latin typeface="IORIRS+Roboto-Bold" panose="02000500000000000000"/>
                <a:ea typeface="IORIRS+Roboto-Bold" panose="02000500000000000000"/>
              </a:rPr>
              <a:t>…</a:t>
            </a:r>
            <a:endParaRPr lang="en-US" altLang="zh-CN" sz="2100">
              <a:solidFill>
                <a:srgbClr val="595959"/>
              </a:solidFill>
              <a:latin typeface="IORIRS+Roboto-Bold" panose="02000500000000000000"/>
              <a:ea typeface="IORIRS+Roboto-Bold" panose="02000500000000000000"/>
            </a:endParaRPr>
          </a:p>
        </p:txBody>
      </p:sp>
      <p:sp>
        <p:nvSpPr>
          <p:cNvPr id="53252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GJWPHE+Arial-BoldMT" panose="02000500000000000000"/>
                <a:ea typeface="GJWPHE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GJWPHE+Arial-BoldMT" panose="02000500000000000000"/>
              <a:ea typeface="GJWPHE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2000" y="84455"/>
            <a:ext cx="41751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本助手是克劳德，由</a:t>
            </a:r>
            <a:r>
              <a:rPr lang="en-US" altLang="zh-CN" sz="1400"/>
              <a:t>xx</a:t>
            </a:r>
            <a:r>
              <a:rPr lang="zh-CN" altLang="en-US" sz="1400"/>
              <a:t>公司开发。</a:t>
            </a:r>
            <a:endParaRPr lang="zh-CN" altLang="en-US" sz="1400"/>
          </a:p>
          <a:p>
            <a:r>
              <a:rPr lang="zh-CN" altLang="en-US" sz="1400"/>
              <a:t>当前日期为</a:t>
            </a:r>
            <a:r>
              <a:rPr lang="en-US" altLang="zh-CN" sz="1400"/>
              <a:t> {</a:t>
            </a:r>
            <a:r>
              <a:rPr lang="zh-CN" altLang="en-US" sz="1400"/>
              <a:t>当前日期时间</a:t>
            </a:r>
            <a:r>
              <a:rPr lang="en-US" altLang="zh-CN" sz="1400"/>
              <a:t>}</a:t>
            </a:r>
            <a:r>
              <a:rPr lang="zh-CN" altLang="en-US" sz="1400"/>
              <a:t>。</a:t>
            </a:r>
            <a:endParaRPr lang="zh-CN" altLang="en-US" sz="1400"/>
          </a:p>
          <a:p>
            <a:r>
              <a:rPr lang="zh-CN" altLang="en-US" sz="1400"/>
              <a:t>若用户提问，可参考以下关于克劳德及</a:t>
            </a:r>
            <a:r>
              <a:rPr lang="en-US" altLang="zh-CN" sz="1400"/>
              <a:t> Anthropic</a:t>
            </a:r>
            <a:endParaRPr lang="en-US" altLang="zh-CN" sz="1400"/>
          </a:p>
          <a:p>
            <a:r>
              <a:rPr lang="zh-CN" altLang="en-US" sz="1400"/>
              <a:t>产品的信息：</a:t>
            </a:r>
            <a:endParaRPr lang="zh-CN" altLang="en-US" sz="1400"/>
          </a:p>
        </p:txBody>
      </p:sp>
      <p:sp>
        <p:nvSpPr>
          <p:cNvPr id="3" name="文本框 2"/>
          <p:cNvSpPr txBox="1"/>
          <p:nvPr/>
        </p:nvSpPr>
        <p:spPr>
          <a:xfrm>
            <a:off x="6758305" y="2589530"/>
            <a:ext cx="1558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具体描述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427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4275" name="object 3"/>
          <p:cNvSpPr/>
          <p:nvPr/>
        </p:nvSpPr>
        <p:spPr>
          <a:xfrm>
            <a:off x="4194175" y="765175"/>
            <a:ext cx="349250" cy="3508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450"/>
              </a:lnSpc>
            </a:pPr>
            <a:r>
              <a:rPr lang="en-US" altLang="zh-CN" sz="2100">
                <a:solidFill>
                  <a:srgbClr val="595959"/>
                </a:solidFill>
                <a:latin typeface="OAECHE+Roboto-Bold" panose="02000500000000000000"/>
                <a:ea typeface="OAECHE+Roboto-Bold" panose="02000500000000000000"/>
              </a:rPr>
              <a:t>…</a:t>
            </a:r>
            <a:endParaRPr lang="en-US" altLang="zh-CN" sz="2100">
              <a:solidFill>
                <a:srgbClr val="595959"/>
              </a:solidFill>
              <a:latin typeface="OAECHE+Roboto-Bold" panose="02000500000000000000"/>
              <a:ea typeface="OAECHE+Roboto-Bold" panose="02000500000000000000"/>
            </a:endParaRPr>
          </a:p>
        </p:txBody>
      </p:sp>
      <p:sp>
        <p:nvSpPr>
          <p:cNvPr id="54276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KUJFBQ+Arial-BoldMT" panose="02000500000000000000"/>
                <a:ea typeface="KUJFBQ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KUJFBQ+Arial-BoldMT" panose="02000500000000000000"/>
              <a:ea typeface="KUJFBQ+Arial-BoldMT" panose="0200050000000000000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95425" y="35801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回答风格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529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5299" name="object 3"/>
          <p:cNvSpPr/>
          <p:nvPr/>
        </p:nvSpPr>
        <p:spPr>
          <a:xfrm>
            <a:off x="396875" y="541338"/>
            <a:ext cx="342741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DQFCEH+Roboto-Regular" panose="02000500000000000000"/>
                <a:ea typeface="DQFCEH+Roboto-Regular" panose="02000500000000000000"/>
              </a:rPr>
              <a:t>Additional Terminology</a:t>
            </a:r>
            <a:endParaRPr lang="en-US" altLang="zh-CN" sz="2500">
              <a:solidFill>
                <a:srgbClr val="000000"/>
              </a:solidFill>
              <a:latin typeface="DQFCEH+Roboto-Regular" panose="02000500000000000000"/>
              <a:ea typeface="DQFCEH+Roboto-Regular" panose="02000500000000000000"/>
            </a:endParaRPr>
          </a:p>
        </p:txBody>
      </p:sp>
      <p:sp>
        <p:nvSpPr>
          <p:cNvPr id="55300" name="object 4"/>
          <p:cNvSpPr/>
          <p:nvPr/>
        </p:nvSpPr>
        <p:spPr>
          <a:xfrm>
            <a:off x="487363" y="1246188"/>
            <a:ext cx="1778000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ATFAFG+ArialMT" panose="02000500000000000000"/>
                <a:ea typeface="ATFAFG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DQFCEH+Roboto-Regular" panose="02000500000000000000"/>
                <a:ea typeface="DQFCEH+Roboto-Regular" panose="02000500000000000000"/>
              </a:rPr>
              <a:t>User prompt</a:t>
            </a:r>
            <a:endParaRPr lang="en-US" altLang="zh-CN">
              <a:solidFill>
                <a:srgbClr val="595959"/>
              </a:solidFill>
              <a:latin typeface="DQFCEH+Roboto-Regular" panose="02000500000000000000"/>
              <a:ea typeface="DQFCEH+Roboto-Regular" panose="02000500000000000000"/>
            </a:endParaRPr>
          </a:p>
        </p:txBody>
      </p:sp>
      <p:sp>
        <p:nvSpPr>
          <p:cNvPr id="55301" name="object 5"/>
          <p:cNvSpPr/>
          <p:nvPr/>
        </p:nvSpPr>
        <p:spPr>
          <a:xfrm>
            <a:off x="976313" y="1563688"/>
            <a:ext cx="260350" cy="4826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ATFAFG+ArialMT" panose="02000500000000000000"/>
                <a:ea typeface="ATFAFG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ATFAFG+ArialMT" panose="02000500000000000000"/>
              <a:ea typeface="ATFAFG+ArialMT" panose="02000500000000000000"/>
            </a:endParaRPr>
          </a:p>
          <a:p>
            <a:pPr>
              <a:lnSpc>
                <a:spcPts val="1565"/>
              </a:lnSpc>
              <a:spcBef>
                <a:spcPts val="315"/>
              </a:spcBef>
            </a:pPr>
            <a:r>
              <a:rPr lang="en-US" altLang="zh-CN" sz="1400">
                <a:solidFill>
                  <a:srgbClr val="595959"/>
                </a:solidFill>
                <a:latin typeface="ATFAFG+ArialMT" panose="02000500000000000000"/>
                <a:ea typeface="ATFAFG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ATFAFG+ArialMT" panose="02000500000000000000"/>
              <a:ea typeface="ATFAFG+ArialMT" panose="02000500000000000000"/>
            </a:endParaRPr>
          </a:p>
        </p:txBody>
      </p:sp>
      <p:sp>
        <p:nvSpPr>
          <p:cNvPr id="55302" name="object 6"/>
          <p:cNvSpPr/>
          <p:nvPr/>
        </p:nvSpPr>
        <p:spPr>
          <a:xfrm>
            <a:off x="1311275" y="1558925"/>
            <a:ext cx="3548063" cy="4921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QFCEH+Roboto-Regular" panose="02000500000000000000"/>
                <a:ea typeface="DQFCEH+Roboto-Regular" panose="02000500000000000000"/>
              </a:rPr>
              <a:t>The actual ask or instruction from a human</a:t>
            </a:r>
            <a:endParaRPr lang="en-US" altLang="zh-CN" sz="1400">
              <a:solidFill>
                <a:srgbClr val="595959"/>
              </a:solidFill>
              <a:latin typeface="DQFCEH+Roboto-Regular" panose="02000500000000000000"/>
              <a:ea typeface="DQFCEH+Roboto-Regular" panose="02000500000000000000"/>
            </a:endParaRPr>
          </a:p>
          <a:p>
            <a:pPr>
              <a:lnSpc>
                <a:spcPts val="1640"/>
              </a:lnSpc>
              <a:spcBef>
                <a:spcPts val="340"/>
              </a:spcBef>
            </a:pPr>
            <a:r>
              <a:rPr lang="en-US" altLang="zh-CN" sz="1400">
                <a:solidFill>
                  <a:srgbClr val="595959"/>
                </a:solidFill>
                <a:latin typeface="DQFCEH+Roboto-Regular" panose="02000500000000000000"/>
                <a:ea typeface="DQFCEH+Roboto-Regular" panose="02000500000000000000"/>
              </a:rPr>
              <a:t>Basically all of our examples so far</a:t>
            </a:r>
            <a:endParaRPr lang="en-US" altLang="zh-CN" sz="1400">
              <a:solidFill>
                <a:srgbClr val="595959"/>
              </a:solidFill>
              <a:latin typeface="DQFCEH+Roboto-Regular" panose="02000500000000000000"/>
              <a:ea typeface="DQFCEH+Roboto-Regular" panose="02000500000000000000"/>
            </a:endParaRPr>
          </a:p>
        </p:txBody>
      </p:sp>
      <p:sp>
        <p:nvSpPr>
          <p:cNvPr id="55303" name="object 7"/>
          <p:cNvSpPr/>
          <p:nvPr/>
        </p:nvSpPr>
        <p:spPr>
          <a:xfrm>
            <a:off x="487363" y="2051050"/>
            <a:ext cx="1477962" cy="30638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ATFAFG+ArialMT" panose="02000500000000000000"/>
                <a:ea typeface="ATFAFG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DQFCEH+Roboto-Regular" panose="02000500000000000000"/>
                <a:ea typeface="DQFCEH+Roboto-Regular" panose="02000500000000000000"/>
              </a:rPr>
              <a:t>Assistant</a:t>
            </a:r>
            <a:endParaRPr lang="en-US" altLang="zh-CN">
              <a:solidFill>
                <a:srgbClr val="595959"/>
              </a:solidFill>
              <a:latin typeface="DQFCEH+Roboto-Regular" panose="02000500000000000000"/>
              <a:ea typeface="DQFCEH+Roboto-Regular" panose="02000500000000000000"/>
            </a:endParaRPr>
          </a:p>
        </p:txBody>
      </p:sp>
      <p:sp>
        <p:nvSpPr>
          <p:cNvPr id="55304" name="object 8"/>
          <p:cNvSpPr/>
          <p:nvPr/>
        </p:nvSpPr>
        <p:spPr>
          <a:xfrm>
            <a:off x="976313" y="2370138"/>
            <a:ext cx="260350" cy="23653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565"/>
              </a:lnSpc>
            </a:pPr>
            <a:r>
              <a:rPr lang="en-US" altLang="zh-CN" sz="1400">
                <a:solidFill>
                  <a:srgbClr val="595959"/>
                </a:solidFill>
                <a:latin typeface="ATFAFG+ArialMT" panose="02000500000000000000"/>
                <a:ea typeface="ATFAFG+ArialMT" panose="02000500000000000000"/>
              </a:rPr>
              <a:t>○</a:t>
            </a:r>
            <a:endParaRPr lang="en-US" altLang="zh-CN" sz="1400">
              <a:solidFill>
                <a:srgbClr val="595959"/>
              </a:solidFill>
              <a:latin typeface="ATFAFG+ArialMT" panose="02000500000000000000"/>
              <a:ea typeface="ATFAFG+ArialMT" panose="02000500000000000000"/>
            </a:endParaRPr>
          </a:p>
        </p:txBody>
      </p:sp>
      <p:sp>
        <p:nvSpPr>
          <p:cNvPr id="55305" name="object 9"/>
          <p:cNvSpPr/>
          <p:nvPr/>
        </p:nvSpPr>
        <p:spPr>
          <a:xfrm>
            <a:off x="1311275" y="2365375"/>
            <a:ext cx="2732088" cy="2460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640"/>
              </a:lnSpc>
            </a:pPr>
            <a:r>
              <a:rPr lang="en-US" altLang="zh-CN" sz="1400">
                <a:solidFill>
                  <a:srgbClr val="595959"/>
                </a:solidFill>
                <a:latin typeface="DQFCEH+Roboto-Regular" panose="02000500000000000000"/>
                <a:ea typeface="DQFCEH+Roboto-Regular" panose="02000500000000000000"/>
              </a:rPr>
              <a:t>What the LLM actually generates</a:t>
            </a:r>
            <a:endParaRPr lang="en-US" altLang="zh-CN" sz="1400">
              <a:solidFill>
                <a:srgbClr val="595959"/>
              </a:solidFill>
              <a:latin typeface="DQFCEH+Roboto-Regular" panose="02000500000000000000"/>
              <a:ea typeface="DQFCEH+Roboto-Regular" panose="02000500000000000000"/>
            </a:endParaRPr>
          </a:p>
        </p:txBody>
      </p:sp>
      <p:sp>
        <p:nvSpPr>
          <p:cNvPr id="55306" name="object 10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WADPMR+Arial-BoldMT" panose="02000500000000000000"/>
                <a:ea typeface="WADPMR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WADPMR+Arial-BoldMT" panose="02000500000000000000"/>
              <a:ea typeface="WADPMR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2715895"/>
            <a:ext cx="490537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用户提示词</a:t>
            </a:r>
            <a:endParaRPr lang="zh-CN" altLang="en-US" sz="1600"/>
          </a:p>
          <a:p>
            <a:pPr indent="457200"/>
            <a:r>
              <a:rPr lang="zh-CN" altLang="en-US" sz="1600"/>
              <a:t>人类向模型提出的实际问题或指令</a:t>
            </a:r>
            <a:endParaRPr lang="zh-CN" altLang="en-US" sz="1600"/>
          </a:p>
          <a:p>
            <a:pPr indent="457200"/>
            <a:r>
              <a:rPr lang="zh-CN" altLang="en-US" sz="1600"/>
              <a:t>截至目前我们的所有示例均为用户提示词</a:t>
            </a:r>
            <a:endParaRPr lang="zh-CN" altLang="en-US" sz="1600"/>
          </a:p>
          <a:p>
            <a:r>
              <a:rPr lang="zh-CN" altLang="en-US" sz="1600"/>
              <a:t>助手输出</a:t>
            </a:r>
            <a:endParaRPr lang="zh-CN" altLang="en-US" sz="1600"/>
          </a:p>
          <a:p>
            <a:pPr indent="457200"/>
            <a:r>
              <a:rPr lang="zh-CN" altLang="en-US" sz="1600"/>
              <a:t>大语言模型实际生成的内容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632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6323" name="object 3"/>
          <p:cNvSpPr/>
          <p:nvPr/>
        </p:nvSpPr>
        <p:spPr>
          <a:xfrm>
            <a:off x="3633788" y="1262063"/>
            <a:ext cx="1722437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BICJLR+Roboto-Bold" panose="02000500000000000000"/>
                <a:ea typeface="BICJLR+Roboto-Bold" panose="02000500000000000000"/>
              </a:rPr>
              <a:t>System prompt</a:t>
            </a:r>
            <a:endParaRPr lang="en-US" altLang="zh-CN">
              <a:solidFill>
                <a:srgbClr val="595959"/>
              </a:solidFill>
              <a:latin typeface="BICJLR+Roboto-Bold" panose="02000500000000000000"/>
              <a:ea typeface="BICJLR+Roboto-Bold" panose="02000500000000000000"/>
            </a:endParaRPr>
          </a:p>
        </p:txBody>
      </p:sp>
      <p:sp>
        <p:nvSpPr>
          <p:cNvPr id="56324" name="object 4"/>
          <p:cNvSpPr/>
          <p:nvPr/>
        </p:nvSpPr>
        <p:spPr>
          <a:xfrm>
            <a:off x="3743325" y="2827338"/>
            <a:ext cx="1425575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BICJLR+Roboto-Bold" panose="02000500000000000000"/>
                <a:ea typeface="BICJLR+Roboto-Bold" panose="02000500000000000000"/>
              </a:rPr>
              <a:t>User prompt</a:t>
            </a:r>
            <a:endParaRPr lang="en-US" altLang="zh-CN">
              <a:solidFill>
                <a:srgbClr val="595959"/>
              </a:solidFill>
              <a:latin typeface="BICJLR+Roboto-Bold" panose="02000500000000000000"/>
              <a:ea typeface="BICJLR+Roboto-Bold" panose="02000500000000000000"/>
            </a:endParaRPr>
          </a:p>
        </p:txBody>
      </p:sp>
      <p:sp>
        <p:nvSpPr>
          <p:cNvPr id="56325" name="object 5"/>
          <p:cNvSpPr/>
          <p:nvPr/>
        </p:nvSpPr>
        <p:spPr>
          <a:xfrm>
            <a:off x="3590925" y="3817938"/>
            <a:ext cx="1920875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BICJLR+Roboto-Bold" panose="02000500000000000000"/>
                <a:ea typeface="BICJLR+Roboto-Bold" panose="02000500000000000000"/>
              </a:rPr>
              <a:t>Assistant prompt</a:t>
            </a:r>
            <a:endParaRPr lang="en-US" altLang="zh-CN">
              <a:solidFill>
                <a:srgbClr val="595959"/>
              </a:solidFill>
              <a:latin typeface="BICJLR+Roboto-Bold" panose="02000500000000000000"/>
              <a:ea typeface="BICJLR+Roboto-Bold" panose="02000500000000000000"/>
            </a:endParaRPr>
          </a:p>
        </p:txBody>
      </p:sp>
      <p:sp>
        <p:nvSpPr>
          <p:cNvPr id="56326" name="object 6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CPQSRU+Arial-BoldMT" panose="02000500000000000000"/>
                <a:ea typeface="CPQSRU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CPQSRU+Arial-BoldMT" panose="02000500000000000000"/>
              <a:ea typeface="CPQSRU+Arial-BoldMT" panose="0200050000000000000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734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7347" name="object 3"/>
          <p:cNvSpPr/>
          <p:nvPr/>
        </p:nvSpPr>
        <p:spPr>
          <a:xfrm>
            <a:off x="396875" y="541338"/>
            <a:ext cx="220027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WTDCSU+Roboto-Regular" panose="02000500000000000000"/>
                <a:ea typeface="WTDCSU+Roboto-Regular" panose="02000500000000000000"/>
              </a:rPr>
              <a:t>Best Practices</a:t>
            </a:r>
            <a:endParaRPr lang="en-US" altLang="zh-CN" sz="2500">
              <a:solidFill>
                <a:srgbClr val="000000"/>
              </a:solidFill>
              <a:latin typeface="WTDCSU+Roboto-Regular" panose="02000500000000000000"/>
              <a:ea typeface="WTDCSU+Roboto-Regular" panose="02000500000000000000"/>
            </a:endParaRPr>
          </a:p>
        </p:txBody>
      </p:sp>
      <p:sp>
        <p:nvSpPr>
          <p:cNvPr id="57348" name="object 4"/>
          <p:cNvSpPr/>
          <p:nvPr/>
        </p:nvSpPr>
        <p:spPr>
          <a:xfrm>
            <a:off x="487363" y="1246188"/>
            <a:ext cx="8277225" cy="1427162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QUWRIB+ArialMT" panose="02000500000000000000"/>
                <a:ea typeface="QUWRIB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WTDCSU+Roboto-Regular" panose="02000500000000000000"/>
                <a:ea typeface="WTDCSU+Roboto-Regular" panose="02000500000000000000"/>
              </a:rPr>
              <a:t>Prompt improvement</a:t>
            </a:r>
            <a:endParaRPr lang="en-US" altLang="zh-CN">
              <a:solidFill>
                <a:srgbClr val="595959"/>
              </a:solidFill>
              <a:latin typeface="WTDCSU+Roboto-Regular" panose="02000500000000000000"/>
              <a:ea typeface="WTDCSU+Roboto-Regular" panose="02000500000000000000"/>
            </a:endParaRPr>
          </a:p>
          <a:p>
            <a:pPr>
              <a:lnSpc>
                <a:spcPts val="1640"/>
              </a:lnSpc>
              <a:spcBef>
                <a:spcPts val="350"/>
              </a:spcBef>
            </a:pPr>
            <a:r>
              <a:rPr lang="en-US" altLang="zh-CN" sz="1400">
                <a:solidFill>
                  <a:srgbClr val="595959"/>
                </a:solidFill>
                <a:latin typeface="QUWRIB+ArialMT" panose="02000500000000000000"/>
                <a:ea typeface="QUWRIB+ArialMT" panose="02000500000000000000"/>
              </a:rPr>
              <a:t>○</a:t>
            </a:r>
            <a:r>
              <a:rPr lang="en-US" altLang="zh-CN" sz="14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400" u="sng">
                <a:solidFill>
                  <a:srgbClr val="0097A7"/>
                </a:solidFill>
                <a:latin typeface="WTDCSU+Roboto-Regular" panose="02000500000000000000"/>
                <a:ea typeface="WTDCSU+Roboto-Regular" panose="02000500000000000000"/>
              </a:rPr>
              <a:t>https://docs.anthropic.com/en/docs/build-with-claude/prompt-engineering/prompt-improver</a:t>
            </a:r>
            <a:endParaRPr lang="en-US" altLang="zh-CN" sz="1400" u="sng">
              <a:solidFill>
                <a:srgbClr val="0097A7"/>
              </a:solidFill>
              <a:latin typeface="WTDCSU+Roboto-Regular" panose="02000500000000000000"/>
              <a:ea typeface="WTDCSU+Roboto-Regular" panose="02000500000000000000"/>
            </a:endParaRP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altLang="zh-CN">
                <a:solidFill>
                  <a:srgbClr val="595959"/>
                </a:solidFill>
                <a:latin typeface="QUWRIB+ArialMT" panose="02000500000000000000"/>
                <a:ea typeface="QUWRIB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WTDCSU+Roboto-Regular" panose="02000500000000000000"/>
                <a:ea typeface="WTDCSU+Roboto-Regular" panose="02000500000000000000"/>
              </a:rPr>
              <a:t>Clear prompting</a:t>
            </a:r>
            <a:endParaRPr lang="en-US" altLang="zh-CN">
              <a:solidFill>
                <a:srgbClr val="595959"/>
              </a:solidFill>
              <a:latin typeface="WTDCSU+Roboto-Regular" panose="02000500000000000000"/>
              <a:ea typeface="WTDCSU+Roboto-Regular" panose="02000500000000000000"/>
            </a:endParaRPr>
          </a:p>
          <a:p>
            <a:pPr>
              <a:lnSpc>
                <a:spcPts val="1640"/>
              </a:lnSpc>
              <a:spcBef>
                <a:spcPts val="350"/>
              </a:spcBef>
            </a:pPr>
            <a:r>
              <a:rPr lang="en-US" altLang="zh-CN" sz="1400">
                <a:solidFill>
                  <a:srgbClr val="595959"/>
                </a:solidFill>
                <a:latin typeface="QUWRIB+ArialMT" panose="02000500000000000000"/>
                <a:ea typeface="QUWRIB+ArialMT" panose="02000500000000000000"/>
              </a:rPr>
              <a:t>○</a:t>
            </a:r>
            <a:r>
              <a:rPr lang="en-US" altLang="zh-CN" sz="1400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400">
                <a:solidFill>
                  <a:srgbClr val="595959"/>
                </a:solidFill>
                <a:latin typeface="WTDCSU+Roboto-Regular" panose="02000500000000000000"/>
                <a:ea typeface="WTDCSU+Roboto-Regular" panose="02000500000000000000"/>
              </a:rPr>
              <a:t>Give prompt to someone with minimal context and if they’re confused an LLM will be too</a:t>
            </a:r>
            <a:endParaRPr lang="en-US" altLang="zh-CN" sz="1400">
              <a:solidFill>
                <a:srgbClr val="595959"/>
              </a:solidFill>
              <a:latin typeface="WTDCSU+Roboto-Regular" panose="02000500000000000000"/>
              <a:ea typeface="WTDCSU+Roboto-Regular" panose="02000500000000000000"/>
            </a:endParaRPr>
          </a:p>
          <a:p>
            <a:pPr>
              <a:lnSpc>
                <a:spcPts val="2100"/>
              </a:lnSpc>
              <a:spcBef>
                <a:spcPts val="300"/>
              </a:spcBef>
            </a:pPr>
            <a:r>
              <a:rPr lang="en-US" altLang="zh-CN">
                <a:solidFill>
                  <a:srgbClr val="595959"/>
                </a:solidFill>
                <a:latin typeface="QUWRIB+ArialMT" panose="02000500000000000000"/>
                <a:ea typeface="QUWRIB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WTDCSU+Roboto-Regular" panose="02000500000000000000"/>
                <a:ea typeface="WTDCSU+Roboto-Regular" panose="02000500000000000000"/>
              </a:rPr>
              <a:t>Use role prompting aggressively to make system prompts more powerful</a:t>
            </a:r>
            <a:endParaRPr lang="en-US" altLang="zh-CN">
              <a:solidFill>
                <a:srgbClr val="595959"/>
              </a:solidFill>
              <a:latin typeface="WTDCSU+Roboto-Regular" panose="02000500000000000000"/>
              <a:ea typeface="WTDCSU+Roboto-Regular" panose="02000500000000000000"/>
            </a:endParaRPr>
          </a:p>
        </p:txBody>
      </p:sp>
      <p:sp>
        <p:nvSpPr>
          <p:cNvPr id="57349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DLHDHT+Arial-BoldMT" panose="02000500000000000000"/>
                <a:ea typeface="DLHDHT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DLHDHT+Arial-BoldMT" panose="02000500000000000000"/>
              <a:ea typeface="DLHDHT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19425" y="1212850"/>
            <a:ext cx="1624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提示词优化工具</a:t>
            </a:r>
            <a:endParaRPr lang="zh-CN" altLang="en-US" sz="1600"/>
          </a:p>
        </p:txBody>
      </p:sp>
      <p:sp>
        <p:nvSpPr>
          <p:cNvPr id="3" name="文本框 2"/>
          <p:cNvSpPr txBox="1"/>
          <p:nvPr/>
        </p:nvSpPr>
        <p:spPr>
          <a:xfrm>
            <a:off x="561340" y="2622550"/>
            <a:ext cx="7746365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提示词表述清晰</a:t>
            </a:r>
            <a:endParaRPr lang="zh-CN" altLang="en-US" sz="1600"/>
          </a:p>
          <a:p>
            <a:pPr lvl="1"/>
            <a:r>
              <a:rPr lang="zh-CN" altLang="en-US" sz="1400"/>
              <a:t>若将提示词给一个不了解背景的人看，对方感到困惑，那么大语言模型也会理解困难</a:t>
            </a:r>
            <a:endParaRPr lang="zh-CN" altLang="en-US" sz="1400"/>
          </a:p>
          <a:p>
            <a:r>
              <a:rPr lang="zh-CN" altLang="en-US" sz="1600"/>
              <a:t>积极使用角色提示词，让系统提示词的效果更显著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837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8371" name="object 3"/>
          <p:cNvSpPr/>
          <p:nvPr/>
        </p:nvSpPr>
        <p:spPr>
          <a:xfrm>
            <a:off x="1020763" y="1847850"/>
            <a:ext cx="6713537" cy="85407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NNCOUH+Roboto-Italic" panose="02000500000000000000"/>
                <a:ea typeface="NNCOUH+Roboto-Italic" panose="02000500000000000000"/>
              </a:rPr>
              <a:t>You are a helpful assistant that loves programming at the level of a</a:t>
            </a:r>
            <a:endParaRPr lang="en-US" altLang="zh-CN">
              <a:solidFill>
                <a:srgbClr val="595959"/>
              </a:solidFill>
              <a:latin typeface="NNCOUH+Roboto-Italic" panose="02000500000000000000"/>
              <a:ea typeface="NNCOUH+Roboto-Italic" panose="02000500000000000000"/>
            </a:endParaRPr>
          </a:p>
          <a:p>
            <a:pPr>
              <a:lnSpc>
                <a:spcPts val="2100"/>
              </a:lnSpc>
              <a:spcBef>
                <a:spcPts val="50"/>
              </a:spcBef>
            </a:pPr>
            <a:r>
              <a:rPr lang="en-US" altLang="zh-CN">
                <a:solidFill>
                  <a:srgbClr val="595959"/>
                </a:solidFill>
                <a:latin typeface="NNCOUH+Roboto-Italic" panose="02000500000000000000"/>
                <a:ea typeface="NNCOUH+Roboto-Italic" panose="02000500000000000000"/>
              </a:rPr>
              <a:t>senior software developer and is very detailed and pedantic in your</a:t>
            </a:r>
            <a:endParaRPr lang="en-US" altLang="zh-CN">
              <a:solidFill>
                <a:srgbClr val="595959"/>
              </a:solidFill>
              <a:latin typeface="NNCOUH+Roboto-Italic" panose="02000500000000000000"/>
              <a:ea typeface="NNCOUH+Roboto-Italic" panose="02000500000000000000"/>
            </a:endParaRPr>
          </a:p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NNCOUH+Roboto-Italic" panose="02000500000000000000"/>
                <a:ea typeface="NNCOUH+Roboto-Italic" panose="02000500000000000000"/>
              </a:rPr>
              <a:t>answers.</a:t>
            </a:r>
            <a:endParaRPr lang="en-US" altLang="zh-CN">
              <a:solidFill>
                <a:srgbClr val="595959"/>
              </a:solidFill>
              <a:latin typeface="NNCOUH+Roboto-Italic" panose="02000500000000000000"/>
              <a:ea typeface="NNCOUH+Roboto-Italic" panose="02000500000000000000"/>
            </a:endParaRPr>
          </a:p>
        </p:txBody>
      </p:sp>
      <p:sp>
        <p:nvSpPr>
          <p:cNvPr id="58372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TQNJAP+Arial-BoldMT" panose="02000500000000000000"/>
                <a:ea typeface="TQNJAP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TQNJAP+Arial-BoldMT" panose="02000500000000000000"/>
              <a:ea typeface="TQNJAP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75665" y="2675255"/>
            <a:ext cx="69373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你是一位热心的助手，拥有高级软件开发工程师的编程水平，回答问题时会做</a:t>
            </a:r>
            <a:endParaRPr lang="zh-CN" altLang="en-US"/>
          </a:p>
          <a:p>
            <a:r>
              <a:rPr lang="zh-CN" altLang="en-US"/>
              <a:t>到细致入微、严谨专业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59394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59395" name="object 3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FLRQDF+Arial-BoldMT" panose="02000500000000000000"/>
                <a:ea typeface="FLRQDF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FLRQDF+Arial-BoldMT" panose="02000500000000000000"/>
              <a:ea typeface="FLRQDF+Arial-BoldMT" panose="02000500000000000000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0418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60419" name="object 3"/>
          <p:cNvSpPr/>
          <p:nvPr/>
        </p:nvSpPr>
        <p:spPr>
          <a:xfrm>
            <a:off x="1119188" y="447675"/>
            <a:ext cx="6570662" cy="5810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OLJTIF+Roboto-Italic" panose="02000500000000000000"/>
                <a:ea typeface="OLJTIF+Roboto-Italic" panose="02000500000000000000"/>
              </a:rPr>
              <a:t>You are a Gen Z digital bestie. Always sound like you’re texting on</a:t>
            </a:r>
            <a:endParaRPr lang="en-US" altLang="zh-CN">
              <a:solidFill>
                <a:srgbClr val="595959"/>
              </a:solidFill>
              <a:latin typeface="OLJTIF+Roboto-Italic" panose="02000500000000000000"/>
              <a:ea typeface="OLJTIF+Roboto-Italic" panose="02000500000000000000"/>
            </a:endParaRPr>
          </a:p>
          <a:p>
            <a:pPr>
              <a:lnSpc>
                <a:spcPts val="2100"/>
              </a:lnSpc>
              <a:spcBef>
                <a:spcPts val="50"/>
              </a:spcBef>
            </a:pPr>
            <a:r>
              <a:rPr lang="en-US" altLang="zh-CN">
                <a:solidFill>
                  <a:srgbClr val="595959"/>
                </a:solidFill>
                <a:latin typeface="OLJTIF+Roboto-Italic" panose="02000500000000000000"/>
                <a:ea typeface="OLJTIF+Roboto-Italic" panose="02000500000000000000"/>
              </a:rPr>
              <a:t>Snapchat at 2am.</a:t>
            </a:r>
            <a:endParaRPr lang="en-US" altLang="zh-CN">
              <a:solidFill>
                <a:srgbClr val="595959"/>
              </a:solidFill>
              <a:latin typeface="OLJTIF+Roboto-Italic" panose="02000500000000000000"/>
              <a:ea typeface="OLJTIF+Roboto-Italic" panose="02000500000000000000"/>
            </a:endParaRPr>
          </a:p>
        </p:txBody>
      </p:sp>
      <p:sp>
        <p:nvSpPr>
          <p:cNvPr id="60420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FWDBWF+Arial-BoldMT" panose="02000500000000000000"/>
                <a:ea typeface="FWDBWF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FWDBWF+Arial-BoldMT" panose="02000500000000000000"/>
              <a:ea typeface="FWDBWF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80440" y="879475"/>
            <a:ext cx="68484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你是一位</a:t>
            </a:r>
            <a:r>
              <a:rPr lang="en-US" altLang="zh-CN" sz="1600"/>
              <a:t> Z </a:t>
            </a:r>
            <a:r>
              <a:rPr lang="zh-CN" altLang="en-US" sz="1600"/>
              <a:t>世代线上好友，说话的语气就像凌晨</a:t>
            </a:r>
            <a:r>
              <a:rPr lang="en-US" altLang="zh-CN" sz="1600"/>
              <a:t> 2 </a:t>
            </a:r>
            <a:r>
              <a:rPr lang="zh-CN" altLang="en-US" sz="1600"/>
              <a:t>点在</a:t>
            </a:r>
            <a:r>
              <a:rPr lang="en-US" altLang="zh-CN" sz="1600"/>
              <a:t> Snapchat </a:t>
            </a:r>
            <a:r>
              <a:rPr lang="zh-CN" altLang="en-US" sz="1600"/>
              <a:t>上发消息一样轻松随意。</a:t>
            </a:r>
            <a:endParaRPr lang="zh-CN" altLang="en-US" sz="160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1442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61443" name="object 3"/>
          <p:cNvSpPr/>
          <p:nvPr/>
        </p:nvSpPr>
        <p:spPr>
          <a:xfrm>
            <a:off x="396875" y="541338"/>
            <a:ext cx="220027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WUCCVR+Roboto-Regular" panose="02000500000000000000"/>
                <a:ea typeface="WUCCVR+Roboto-Regular" panose="02000500000000000000"/>
              </a:rPr>
              <a:t>Best Practices</a:t>
            </a:r>
            <a:endParaRPr lang="en-US" altLang="zh-CN" sz="2500">
              <a:solidFill>
                <a:srgbClr val="000000"/>
              </a:solidFill>
              <a:latin typeface="WUCCVR+Roboto-Regular" panose="02000500000000000000"/>
              <a:ea typeface="WUCCVR+Roboto-Regular" panose="02000500000000000000"/>
            </a:endParaRPr>
          </a:p>
        </p:txBody>
      </p:sp>
      <p:sp>
        <p:nvSpPr>
          <p:cNvPr id="61444" name="object 4"/>
          <p:cNvSpPr/>
          <p:nvPr/>
        </p:nvSpPr>
        <p:spPr>
          <a:xfrm>
            <a:off x="487363" y="1246188"/>
            <a:ext cx="4957762" cy="306387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TSOPOO+ArialMT" panose="02000500000000000000"/>
                <a:ea typeface="TSOPOO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WUCCVR+Roboto-Regular" panose="02000500000000000000"/>
                <a:ea typeface="WUCCVR+Roboto-Regular" panose="02000500000000000000"/>
              </a:rPr>
              <a:t>Prompts should be formatted with structure</a:t>
            </a:r>
            <a:endParaRPr lang="en-US" altLang="zh-CN">
              <a:solidFill>
                <a:srgbClr val="595959"/>
              </a:solidFill>
              <a:latin typeface="WUCCVR+Roboto-Regular" panose="02000500000000000000"/>
              <a:ea typeface="WUCCVR+Roboto-Regular" panose="02000500000000000000"/>
            </a:endParaRPr>
          </a:p>
        </p:txBody>
      </p:sp>
      <p:sp>
        <p:nvSpPr>
          <p:cNvPr id="61445" name="object 5"/>
          <p:cNvSpPr/>
          <p:nvPr/>
        </p:nvSpPr>
        <p:spPr>
          <a:xfrm>
            <a:off x="3403600" y="2133600"/>
            <a:ext cx="2427288" cy="12509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875"/>
              </a:lnSpc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Here are the logs: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  <a:p>
            <a:pPr>
              <a:lnSpc>
                <a:spcPts val="1875"/>
              </a:lnSpc>
              <a:spcBef>
                <a:spcPts val="40"/>
              </a:spcBef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&lt;log&gt;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  <a:p>
            <a:pPr>
              <a:lnSpc>
                <a:spcPts val="1875"/>
              </a:lnSpc>
              <a:spcBef>
                <a:spcPts val="40"/>
              </a:spcBef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LOG MESSAGE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  <a:p>
            <a:pPr>
              <a:lnSpc>
                <a:spcPts val="1875"/>
              </a:lnSpc>
              <a:spcBef>
                <a:spcPts val="40"/>
              </a:spcBef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&lt;log&gt; and the stack trace: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  <a:p>
            <a:pPr>
              <a:lnSpc>
                <a:spcPts val="1875"/>
              </a:lnSpc>
              <a:spcBef>
                <a:spcPts val="90"/>
              </a:spcBef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&lt;error&gt;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</p:txBody>
      </p:sp>
      <p:sp>
        <p:nvSpPr>
          <p:cNvPr id="61446" name="object 6"/>
          <p:cNvSpPr/>
          <p:nvPr/>
        </p:nvSpPr>
        <p:spPr>
          <a:xfrm>
            <a:off x="3403600" y="3352800"/>
            <a:ext cx="1433513" cy="520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875"/>
              </a:lnSpc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STACK TRACE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  <a:p>
            <a:pPr>
              <a:lnSpc>
                <a:spcPts val="1875"/>
              </a:lnSpc>
              <a:spcBef>
                <a:spcPts val="40"/>
              </a:spcBef>
            </a:pPr>
            <a:r>
              <a:rPr lang="en-US" altLang="zh-CN" sz="1600">
                <a:solidFill>
                  <a:srgbClr val="595959"/>
                </a:solidFill>
                <a:latin typeface="LHPONO+Roboto-BoldItalic" panose="02000500000000000000"/>
                <a:ea typeface="LHPONO+Roboto-BoldItalic" panose="02000500000000000000"/>
              </a:rPr>
              <a:t>&lt;error&gt;</a:t>
            </a:r>
            <a:endParaRPr lang="en-US" altLang="zh-CN" sz="1600">
              <a:solidFill>
                <a:srgbClr val="595959"/>
              </a:solidFill>
              <a:latin typeface="LHPONO+Roboto-BoldItalic" panose="02000500000000000000"/>
              <a:ea typeface="LHPONO+Roboto-BoldItalic" panose="02000500000000000000"/>
            </a:endParaRPr>
          </a:p>
        </p:txBody>
      </p:sp>
      <p:sp>
        <p:nvSpPr>
          <p:cNvPr id="61447" name="object 7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QTIKQN+Arial-BoldMT" panose="02000500000000000000"/>
                <a:ea typeface="QTIKQN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QTIKQN+Arial-BoldMT" panose="02000500000000000000"/>
              <a:ea typeface="QTIKQN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1340" y="1470025"/>
            <a:ext cx="32912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为提示词设计结构化的格式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2466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62467" name="object 3"/>
          <p:cNvSpPr/>
          <p:nvPr/>
        </p:nvSpPr>
        <p:spPr>
          <a:xfrm>
            <a:off x="396875" y="541338"/>
            <a:ext cx="2200275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950"/>
              </a:lnSpc>
            </a:pPr>
            <a:r>
              <a:rPr lang="en-US" altLang="zh-CN" sz="2500">
                <a:solidFill>
                  <a:srgbClr val="000000"/>
                </a:solidFill>
                <a:latin typeface="NAMPDP+Roboto-Regular" panose="02000500000000000000"/>
                <a:ea typeface="NAMPDP+Roboto-Regular" panose="02000500000000000000"/>
              </a:rPr>
              <a:t>Best Practices</a:t>
            </a:r>
            <a:endParaRPr lang="en-US" altLang="zh-CN" sz="2500">
              <a:solidFill>
                <a:srgbClr val="000000"/>
              </a:solidFill>
              <a:latin typeface="NAMPDP+Roboto-Regular" panose="02000500000000000000"/>
              <a:ea typeface="NAMPDP+Roboto-Regular" panose="02000500000000000000"/>
            </a:endParaRPr>
          </a:p>
        </p:txBody>
      </p:sp>
      <p:sp>
        <p:nvSpPr>
          <p:cNvPr id="62468" name="object 4"/>
          <p:cNvSpPr/>
          <p:nvPr/>
        </p:nvSpPr>
        <p:spPr>
          <a:xfrm>
            <a:off x="487363" y="1246188"/>
            <a:ext cx="7138987" cy="93662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2100"/>
              </a:lnSpc>
            </a:pPr>
            <a:r>
              <a:rPr lang="en-US" altLang="zh-CN">
                <a:solidFill>
                  <a:srgbClr val="595959"/>
                </a:solidFill>
                <a:latin typeface="EWBLBW+ArialMT" panose="02000500000000000000"/>
                <a:ea typeface="EWBLBW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NAMPDP+Roboto-Regular" panose="02000500000000000000"/>
                <a:ea typeface="NAMPDP+Roboto-Regular" panose="02000500000000000000"/>
              </a:rPr>
              <a:t>Be explicit about what you want (languages, tech stacks, libraries,</a:t>
            </a:r>
            <a:endParaRPr lang="en-US" altLang="zh-CN">
              <a:solidFill>
                <a:srgbClr val="595959"/>
              </a:solidFill>
              <a:latin typeface="NAMPDP+Roboto-Regular" panose="02000500000000000000"/>
              <a:ea typeface="NAMPDP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NAMPDP+Roboto-Regular" panose="02000500000000000000"/>
                <a:ea typeface="NAMPDP+Roboto-Regular" panose="02000500000000000000"/>
              </a:rPr>
              <a:t>constraints)</a:t>
            </a:r>
            <a:endParaRPr lang="en-US" altLang="zh-CN">
              <a:solidFill>
                <a:srgbClr val="595959"/>
              </a:solidFill>
              <a:latin typeface="NAMPDP+Roboto-Regular" panose="02000500000000000000"/>
              <a:ea typeface="NAMPDP+Roboto-Regular" panose="02000500000000000000"/>
            </a:endParaRPr>
          </a:p>
          <a:p>
            <a:pPr>
              <a:lnSpc>
                <a:spcPts val="2100"/>
              </a:lnSpc>
              <a:spcBef>
                <a:spcPts val="365"/>
              </a:spcBef>
            </a:pPr>
            <a:r>
              <a:rPr lang="en-US" altLang="zh-CN">
                <a:solidFill>
                  <a:srgbClr val="595959"/>
                </a:solidFill>
                <a:latin typeface="EWBLBW+ArialMT" panose="02000500000000000000"/>
                <a:ea typeface="EWBLBW+ArialMT" panose="02000500000000000000"/>
              </a:rPr>
              <a:t>●</a:t>
            </a:r>
            <a:r>
              <a:rPr lang="en-US" altLang="zh-CN">
                <a:solidFill>
                  <a:srgbClr val="595959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>
                <a:solidFill>
                  <a:srgbClr val="595959"/>
                </a:solidFill>
                <a:latin typeface="NAMPDP+Roboto-Regular" panose="02000500000000000000"/>
                <a:ea typeface="NAMPDP+Roboto-Regular" panose="02000500000000000000"/>
              </a:rPr>
              <a:t>Decompose tasks</a:t>
            </a:r>
            <a:endParaRPr lang="en-US" altLang="zh-CN">
              <a:solidFill>
                <a:srgbClr val="595959"/>
              </a:solidFill>
              <a:latin typeface="NAMPDP+Roboto-Regular" panose="02000500000000000000"/>
              <a:ea typeface="NAMPDP+Roboto-Regular" panose="02000500000000000000"/>
            </a:endParaRPr>
          </a:p>
        </p:txBody>
      </p:sp>
      <p:sp>
        <p:nvSpPr>
          <p:cNvPr id="62469" name="object 5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SRNBKK+Arial-BoldMT" panose="02000500000000000000"/>
                <a:ea typeface="SRNBKK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SRNBKK+Arial-BoldMT" panose="02000500000000000000"/>
              <a:ea typeface="SRNBKK+Arial-BoldMT" panose="0200050000000000000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2179955"/>
            <a:ext cx="67945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明确说明你的需求（使用的编程语言、技术栈、库、约束条件等）</a:t>
            </a:r>
            <a:endParaRPr lang="zh-CN" altLang="en-US"/>
          </a:p>
          <a:p>
            <a:r>
              <a:rPr lang="zh-CN" altLang="en-US"/>
              <a:t>将复杂任务拆解为多个子任务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63490" name="objec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 w="9525">
            <a:noFill/>
          </a:ln>
        </p:spPr>
        <p:txBody>
          <a:bodyPr wrap="square" lIns="0" tIns="0" rIns="0" bIns="0">
            <a:spAutoFit/>
          </a:bodyPr>
          <a:p/>
        </p:txBody>
      </p:sp>
      <p:sp>
        <p:nvSpPr>
          <p:cNvPr id="63491" name="object 3"/>
          <p:cNvSpPr/>
          <p:nvPr/>
        </p:nvSpPr>
        <p:spPr>
          <a:xfrm>
            <a:off x="3357563" y="2263775"/>
            <a:ext cx="2265362" cy="528638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3865"/>
              </a:lnSpc>
            </a:pPr>
            <a:r>
              <a:rPr lang="en-US" altLang="zh-CN" sz="3300">
                <a:solidFill>
                  <a:srgbClr val="595959"/>
                </a:solidFill>
                <a:latin typeface="PREPWH+Roboto-Bold" panose="02000500000000000000"/>
                <a:ea typeface="PREPWH+Roboto-Bold" panose="02000500000000000000"/>
              </a:rPr>
              <a:t>Questions?</a:t>
            </a:r>
            <a:endParaRPr lang="en-US" altLang="zh-CN" sz="3300">
              <a:solidFill>
                <a:srgbClr val="595959"/>
              </a:solidFill>
              <a:latin typeface="PREPWH+Roboto-Bold" panose="02000500000000000000"/>
              <a:ea typeface="PREPWH+Roboto-Bold" panose="02000500000000000000"/>
            </a:endParaRPr>
          </a:p>
        </p:txBody>
      </p:sp>
      <p:sp>
        <p:nvSpPr>
          <p:cNvPr id="63492" name="object 4"/>
          <p:cNvSpPr/>
          <p:nvPr/>
        </p:nvSpPr>
        <p:spPr>
          <a:xfrm>
            <a:off x="7326313" y="4867275"/>
            <a:ext cx="1871662" cy="207963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>
            <a:spAutoFit/>
          </a:bodyPr>
          <a:p>
            <a:pPr>
              <a:lnSpc>
                <a:spcPts val="1340"/>
              </a:lnSpc>
            </a:pPr>
            <a:r>
              <a:rPr lang="en-US" altLang="zh-CN" sz="1200">
                <a:solidFill>
                  <a:srgbClr val="FFFFFF"/>
                </a:solidFill>
                <a:latin typeface="CFEVEP+Arial-BoldMT" panose="02000500000000000000"/>
                <a:ea typeface="CFEVEP+Arial-BoldMT" panose="02000500000000000000"/>
              </a:rPr>
              <a:t>themodernsoftware.dev</a:t>
            </a:r>
            <a:endParaRPr lang="en-US" altLang="zh-CN" sz="1200">
              <a:solidFill>
                <a:srgbClr val="FFFFFF"/>
              </a:solidFill>
              <a:latin typeface="CFEVEP+Arial-BoldMT" panose="02000500000000000000"/>
              <a:ea typeface="CFEVEP+Arial-BoldMT" panose="02000500000000000000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1.05.14"/>
  <p:tag name="AS_TITLE" val="Aspose.Slides for .NET 2.0"/>
  <p:tag name="AS_VERSION" val="21.5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7914</Words>
  <Application>WPS 演示</Application>
  <PresentationFormat>On-screen Show (4:3)</PresentationFormat>
  <Paragraphs>507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93</vt:i4>
      </vt:variant>
      <vt:variant>
        <vt:lpstr>主题</vt:lpstr>
      </vt:variant>
      <vt:variant>
        <vt:i4>31</vt:i4>
      </vt:variant>
      <vt:variant>
        <vt:lpstr>幻灯片标题</vt:lpstr>
      </vt:variant>
      <vt:variant>
        <vt:i4>31</vt:i4>
      </vt:variant>
    </vt:vector>
  </HeadingPairs>
  <TitlesOfParts>
    <vt:vector size="155" baseType="lpstr">
      <vt:lpstr>Arial</vt:lpstr>
      <vt:lpstr>宋体</vt:lpstr>
      <vt:lpstr>Wingdings</vt:lpstr>
      <vt:lpstr>Calibri</vt:lpstr>
      <vt:lpstr>Arial</vt:lpstr>
      <vt:lpstr>UBHHCA+Roboto-Regular</vt:lpstr>
      <vt:lpstr>RVIGTR+Roboto-Bold</vt:lpstr>
      <vt:lpstr>LNFEPR+Arial-BoldMT</vt:lpstr>
      <vt:lpstr>MMEEAA+Roboto-Regular</vt:lpstr>
      <vt:lpstr>HCDBAV+Arial-BoldMT</vt:lpstr>
      <vt:lpstr>WNUOMA+Roboto-Regular</vt:lpstr>
      <vt:lpstr>IUHDEP+Arial-BoldMT</vt:lpstr>
      <vt:lpstr>Times New Roman</vt:lpstr>
      <vt:lpstr>FNTCPF+Roboto-Italic</vt:lpstr>
      <vt:lpstr>PABOOR+Roboto-Regular</vt:lpstr>
      <vt:lpstr>PIWOAG+Arial-BoldMT</vt:lpstr>
      <vt:lpstr>ARAHSV+Roboto-Regular</vt:lpstr>
      <vt:lpstr>DEGLOT+Arial-BoldMT</vt:lpstr>
      <vt:lpstr>RMTMWD+ArialMT</vt:lpstr>
      <vt:lpstr>WAQTVW+Roboto-Italic</vt:lpstr>
      <vt:lpstr>GUKNFC+Roboto-Regular</vt:lpstr>
      <vt:lpstr>BILUSV+Arial-BoldMT</vt:lpstr>
      <vt:lpstr>SUUAHH+Arial-BoldItalicMT</vt:lpstr>
      <vt:lpstr>PUMCUU+Roboto-Regular</vt:lpstr>
      <vt:lpstr>FFNHCS+Arial-BoldMT</vt:lpstr>
      <vt:lpstr>EMASWL+ArialMT</vt:lpstr>
      <vt:lpstr>GDQWRE+Roboto-Italic</vt:lpstr>
      <vt:lpstr>GRJCTR+Arial-BoldItalicMT</vt:lpstr>
      <vt:lpstr>SSLBGN+Arial-BoldMT</vt:lpstr>
      <vt:lpstr>DJDHTJ+Roboto-Regular</vt:lpstr>
      <vt:lpstr>UEGROG+Arial-BoldMT</vt:lpstr>
      <vt:lpstr>JIJOMR+ArialMT</vt:lpstr>
      <vt:lpstr>BWAMQJ+Roboto-Regular</vt:lpstr>
      <vt:lpstr>GRPHSD+Arial-BoldItalicMT</vt:lpstr>
      <vt:lpstr>VAVTTI+Arial-BoldMT</vt:lpstr>
      <vt:lpstr>LVISBL+Roboto-Regular</vt:lpstr>
      <vt:lpstr>BATTPE+Arial-BoldItalicMT</vt:lpstr>
      <vt:lpstr>HCNHKU+Arial-BoldMT</vt:lpstr>
      <vt:lpstr>HASDQR+Roboto-Regular</vt:lpstr>
      <vt:lpstr>PFCLGE+Arial-BoldMT</vt:lpstr>
      <vt:lpstr>UMCKAO+ArialMT</vt:lpstr>
      <vt:lpstr>QUBWCQ+Arial-BoldItalicMT</vt:lpstr>
      <vt:lpstr>KACFBR+ArialMT</vt:lpstr>
      <vt:lpstr>WAWRKJ+Arial-BoldMT</vt:lpstr>
      <vt:lpstr>AIQIPU+Roboto-Regular</vt:lpstr>
      <vt:lpstr>KSJFIU+ArialMT</vt:lpstr>
      <vt:lpstr>BAFIJT+Arial-BoldMT</vt:lpstr>
      <vt:lpstr>CBGUTD+Arial-BoldItalicMT</vt:lpstr>
      <vt:lpstr>KDCTUK+Arial-BoldMT</vt:lpstr>
      <vt:lpstr>SLOTMT+Roboto-Regular</vt:lpstr>
      <vt:lpstr>SVLTFM+ArialMT</vt:lpstr>
      <vt:lpstr>PUEANQ+Arial-BoldMT</vt:lpstr>
      <vt:lpstr>NBMHNP+Arial-BoldItalicMT</vt:lpstr>
      <vt:lpstr>FDSIHK+Arial-ItalicMT</vt:lpstr>
      <vt:lpstr>LTUCQM+Arial-BoldMT</vt:lpstr>
      <vt:lpstr>UDGIHF+Roboto-Regular</vt:lpstr>
      <vt:lpstr>NLKWMQ+ArialMT</vt:lpstr>
      <vt:lpstr>CJQLBD+Roboto-Italic</vt:lpstr>
      <vt:lpstr>JRPVSI+Arial-BoldMT</vt:lpstr>
      <vt:lpstr>INRCFG+Arial-BoldItalicMT</vt:lpstr>
      <vt:lpstr>WGDDEI+ArialMT</vt:lpstr>
      <vt:lpstr>AKEOJE+Arial-BoldMT</vt:lpstr>
      <vt:lpstr>KFIPAG+Roboto-Regular</vt:lpstr>
      <vt:lpstr>FRJURV+ArialMT</vt:lpstr>
      <vt:lpstr>IHJSFL+Arial-BoldMT</vt:lpstr>
      <vt:lpstr>IORIRS+Roboto-Bold</vt:lpstr>
      <vt:lpstr>GJWPHE+Arial-BoldMT</vt:lpstr>
      <vt:lpstr>OAECHE+Roboto-Bold</vt:lpstr>
      <vt:lpstr>KUJFBQ+Arial-BoldMT</vt:lpstr>
      <vt:lpstr>DQFCEH+Roboto-Regular</vt:lpstr>
      <vt:lpstr>ATFAFG+ArialMT</vt:lpstr>
      <vt:lpstr>WADPMR+Arial-BoldMT</vt:lpstr>
      <vt:lpstr>BICJLR+Roboto-Bold</vt:lpstr>
      <vt:lpstr>CPQSRU+Arial-BoldMT</vt:lpstr>
      <vt:lpstr>WTDCSU+Roboto-Regular</vt:lpstr>
      <vt:lpstr>QUWRIB+ArialMT</vt:lpstr>
      <vt:lpstr>DLHDHT+Arial-BoldMT</vt:lpstr>
      <vt:lpstr>NNCOUH+Roboto-Italic</vt:lpstr>
      <vt:lpstr>TQNJAP+Arial-BoldMT</vt:lpstr>
      <vt:lpstr>FLRQDF+Arial-BoldMT</vt:lpstr>
      <vt:lpstr>OLJTIF+Roboto-Italic</vt:lpstr>
      <vt:lpstr>FWDBWF+Arial-BoldMT</vt:lpstr>
      <vt:lpstr>WUCCVR+Roboto-Regular</vt:lpstr>
      <vt:lpstr>TSOPOO+ArialMT</vt:lpstr>
      <vt:lpstr>LHPONO+Roboto-BoldItalic</vt:lpstr>
      <vt:lpstr>QTIKQN+Arial-BoldMT</vt:lpstr>
      <vt:lpstr>NAMPDP+Roboto-Regular</vt:lpstr>
      <vt:lpstr>EWBLBW+ArialMT</vt:lpstr>
      <vt:lpstr>SRNBKK+Arial-BoldMT</vt:lpstr>
      <vt:lpstr>PREPWH+Roboto-Bold</vt:lpstr>
      <vt:lpstr>CFEVEP+Arial-BoldMT</vt:lpstr>
      <vt:lpstr>微软雅黑</vt:lpstr>
      <vt:lpstr>Arial Unicode MS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Theme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Administrator</dc:creator>
  <cp:lastModifiedBy>王越</cp:lastModifiedBy>
  <cp:revision>2</cp:revision>
  <dcterms:created xsi:type="dcterms:W3CDTF">2026-03-03T11:29:03Z</dcterms:created>
  <dcterms:modified xsi:type="dcterms:W3CDTF">2026-03-03T11:47:55Z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E3E17957556748279F975B684F41A488_12</vt:lpwstr>
  </property>
</Properties>
</file>
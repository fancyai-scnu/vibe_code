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8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198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c3ca004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c3ca004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c53c6a7a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c53c6a7a5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Recall what we did in the last class, this was like the pre-MCP days. The APIs were pretty well-formatted so getting the LLM to use them wasn’t super challenging.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c3ca004c0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c3ca004c0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You want to enable your LLM to access a 3rd party API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think of all the things that could be challenging: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Poor documentation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Inconsistent data exchange formats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Authentication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Error handling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onus is on your to interpret all of those factors for this API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c3ca004c0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c3ca004c0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Now imagine having to do that for 100s of APIs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c3ca004c0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c3ca004c0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Now imagine integrating many LLM apps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It’s a mess: NxM connectors across LLM apps and API integration points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c3ca004c0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c3ca004c0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c3ca004c0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c3ca004c0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c53c6a7a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7c53c6a7a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Discuss Cursor hard limit on # of tools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ea7c0ae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8ea7c0ae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Discuss Cursor hard limit on # of tools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1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</a:rPr>
              <a:t>themodernsoftware.dev</a:t>
            </a:r>
            <a:endParaRPr sz="12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311700" y="1724275"/>
            <a:ext cx="8520600" cy="116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MCP and Beyond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</a:rPr>
              <a:t>themodernsoftware.dev</a:t>
            </a:r>
            <a:endParaRPr sz="12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</a:t>
            </a:r>
            <a:endParaRPr dirty="0"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LLMs have vast (but static) world knowledge that only updates when we retrain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To build fully autonomous systems we need robust ways to feed dynamic data in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What’s the weather today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Who’s president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What’s the price of Bitcoin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Who’s the narrator in Nike’s latest ad campaign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RAG and tool-calling are the best answer we have today</a:t>
            </a:r>
            <a:endParaRPr dirty="0"/>
          </a:p>
        </p:txBody>
      </p:sp>
      <p:sp>
        <p:nvSpPr>
          <p:cNvPr id="73" name="Google Shape;73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</a:rPr>
              <a:t>themodernsoftware.dev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5C32B5-FA38-4B21-88BF-F5C19DC95E26}"/>
              </a:ext>
            </a:extLst>
          </p:cNvPr>
          <p:cNvSpPr txBox="1"/>
          <p:nvPr/>
        </p:nvSpPr>
        <p:spPr>
          <a:xfrm>
            <a:off x="566601" y="3744804"/>
            <a:ext cx="87098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检索增强生成（</a:t>
            </a:r>
            <a:r>
              <a:rPr lang="en-US" altLang="zh-CN" sz="1000" dirty="0"/>
              <a:t>RAG</a:t>
            </a:r>
            <a:r>
              <a:rPr lang="zh-CN" altLang="en-US" sz="1000" dirty="0"/>
              <a:t>）：从外部知识库（如数据库、文档）中实时检索相关信息，并将其提供给</a:t>
            </a:r>
            <a:r>
              <a:rPr lang="en-US" altLang="zh-CN" sz="1000" dirty="0"/>
              <a:t>LLM</a:t>
            </a:r>
            <a:r>
              <a:rPr lang="zh-CN" altLang="en-US" sz="1000" dirty="0"/>
              <a:t>，作为生成答案的依据。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14D00E-A2D4-3EDE-9606-6692E5CD40C4}"/>
              </a:ext>
            </a:extLst>
          </p:cNvPr>
          <p:cNvSpPr txBox="1"/>
          <p:nvPr/>
        </p:nvSpPr>
        <p:spPr>
          <a:xfrm>
            <a:off x="566601" y="3948309"/>
            <a:ext cx="815122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/>
              <a:t>工具调用（</a:t>
            </a:r>
            <a:r>
              <a:rPr lang="en-US" altLang="zh-CN" sz="900" dirty="0"/>
              <a:t>Tool-Calling</a:t>
            </a:r>
            <a:r>
              <a:rPr lang="zh-CN" altLang="en-US" sz="900" dirty="0"/>
              <a:t>）：让</a:t>
            </a:r>
            <a:r>
              <a:rPr lang="en-US" altLang="zh-CN" sz="900" dirty="0"/>
              <a:t>LLM</a:t>
            </a:r>
            <a:r>
              <a:rPr lang="zh-CN" altLang="en-US" sz="900" dirty="0"/>
              <a:t>具备调用外部工具、</a:t>
            </a:r>
            <a:r>
              <a:rPr lang="en-US" altLang="zh-CN" sz="900" dirty="0"/>
              <a:t>API</a:t>
            </a:r>
            <a:r>
              <a:rPr lang="zh-CN" altLang="en-US" sz="900" dirty="0"/>
              <a:t>或函数的能力（例如调用天气</a:t>
            </a:r>
            <a:r>
              <a:rPr lang="en-US" altLang="zh-CN" sz="900" dirty="0"/>
              <a:t>API</a:t>
            </a:r>
            <a:r>
              <a:rPr lang="zh-CN" altLang="en-US" sz="900" dirty="0"/>
              <a:t>、查询数据库、执行计算），从而获取实时信息或执行具体操作。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2B62715-5A7E-65BF-485E-B758F145AD42}"/>
              </a:ext>
            </a:extLst>
          </p:cNvPr>
          <p:cNvSpPr txBox="1"/>
          <p:nvPr/>
        </p:nvSpPr>
        <p:spPr>
          <a:xfrm>
            <a:off x="1352007" y="541625"/>
            <a:ext cx="1195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背景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Basics</a:t>
            </a:r>
            <a:endParaRPr dirty="0"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" b="1" dirty="0"/>
              <a:t>M</a:t>
            </a:r>
            <a:r>
              <a:rPr lang="en" dirty="0"/>
              <a:t>odel </a:t>
            </a:r>
            <a:r>
              <a:rPr lang="en" b="1" dirty="0"/>
              <a:t>C</a:t>
            </a:r>
            <a:r>
              <a:rPr lang="en" dirty="0"/>
              <a:t>ontext </a:t>
            </a:r>
            <a:r>
              <a:rPr lang="en" b="1" dirty="0"/>
              <a:t>P</a:t>
            </a:r>
            <a:r>
              <a:rPr lang="en" dirty="0"/>
              <a:t>rotocol</a:t>
            </a:r>
            <a:r>
              <a:rPr lang="zh-CN" altLang="en-US" dirty="0"/>
              <a:t>（</a:t>
            </a:r>
            <a:r>
              <a:rPr lang="en-US" altLang="zh-CN" dirty="0"/>
              <a:t>MCP</a:t>
            </a:r>
            <a:r>
              <a:rPr lang="zh-CN" altLang="en-US" dirty="0"/>
              <a:t>）（模型上下文协议）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Open protocol that allows systems to provide context to AI models in a manner generalizable across integrations</a:t>
            </a:r>
            <a:endParaRPr sz="1800" dirty="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 dirty="0"/>
              <a:t>In English: standard format for exposing tools to LLMs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History: in the distant past pre-November 2024 when MCP was introduced…</a:t>
            </a:r>
            <a:endParaRPr sz="1800" dirty="0"/>
          </a:p>
        </p:txBody>
      </p:sp>
      <p:sp>
        <p:nvSpPr>
          <p:cNvPr id="81" name="Google Shape;81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</a:rPr>
              <a:t>themodernsoftware.dev</a:t>
            </a:r>
            <a:endParaRPr sz="12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3693572" y="872069"/>
            <a:ext cx="3953100" cy="3762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</a:rPr>
              <a:t>themodernsoftware.dev</a:t>
            </a:r>
            <a:endParaRPr sz="1200" b="1">
              <a:solidFill>
                <a:schemeClr val="lt1"/>
              </a:solidFill>
            </a:endParaRPr>
          </a:p>
        </p:txBody>
      </p:sp>
      <p:pic>
        <p:nvPicPr>
          <p:cNvPr id="90" name="Google Shape;90;p17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050" y="1987594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0472" y="944719"/>
            <a:ext cx="1134825" cy="63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1672" y="1615919"/>
            <a:ext cx="3512426" cy="2748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7"/>
          <p:cNvCxnSpPr/>
          <p:nvPr/>
        </p:nvCxnSpPr>
        <p:spPr>
          <a:xfrm>
            <a:off x="2390075" y="2365844"/>
            <a:ext cx="993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" name="Google Shape;94;p17"/>
          <p:cNvCxnSpPr/>
          <p:nvPr/>
        </p:nvCxnSpPr>
        <p:spPr>
          <a:xfrm rot="10800000">
            <a:off x="2364835" y="2518244"/>
            <a:ext cx="993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" name="Google Shape;95;p17"/>
          <p:cNvSpPr txBox="1"/>
          <p:nvPr/>
        </p:nvSpPr>
        <p:spPr>
          <a:xfrm>
            <a:off x="2602625" y="2492998"/>
            <a:ext cx="568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5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2156300" y="2034794"/>
            <a:ext cx="15630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What APIs do you expose?</a:t>
            </a:r>
            <a:endParaRPr sz="900" b="1" i="1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311700" y="21086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integrating with a questionable 3rd party API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2E316F-86B1-600E-CCCC-9197C5667959}"/>
              </a:ext>
            </a:extLst>
          </p:cNvPr>
          <p:cNvSpPr txBox="1"/>
          <p:nvPr/>
        </p:nvSpPr>
        <p:spPr>
          <a:xfrm>
            <a:off x="-9846" y="3035058"/>
            <a:ext cx="36086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LLM </a:t>
            </a:r>
            <a:r>
              <a:rPr lang="zh-CN" altLang="en-US" dirty="0"/>
              <a:t>无法自动、可靠地理解这个 </a:t>
            </a:r>
            <a:r>
              <a:rPr lang="en-US" altLang="zh-CN" dirty="0"/>
              <a:t>API </a:t>
            </a:r>
            <a:r>
              <a:rPr lang="zh-CN" altLang="en-US" dirty="0"/>
              <a:t>能做什么以及如何调用它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64A9BF-B5FA-23C5-290C-BF3A3327F9F6}"/>
              </a:ext>
            </a:extLst>
          </p:cNvPr>
          <p:cNvSpPr txBox="1"/>
          <p:nvPr/>
        </p:nvSpPr>
        <p:spPr>
          <a:xfrm>
            <a:off x="91013" y="4415398"/>
            <a:ext cx="45981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MCP </a:t>
            </a:r>
            <a:r>
              <a:rPr lang="zh-CN" altLang="en-US" dirty="0"/>
              <a:t>提供了一个标准的、机器可读的协议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4253750" y="863975"/>
            <a:ext cx="1543800" cy="1469400"/>
          </a:xfrm>
          <a:prstGeom prst="roundRect">
            <a:avLst>
              <a:gd name="adj" fmla="val 16667"/>
            </a:avLst>
          </a:prstGeom>
          <a:noFill/>
          <a:ln w="37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</a:rPr>
              <a:t>themodernsoftware.dev</a:t>
            </a:r>
            <a:endParaRPr sz="1200" b="1">
              <a:solidFill>
                <a:schemeClr val="lt1"/>
              </a:solidFill>
            </a:endParaRPr>
          </a:p>
        </p:txBody>
      </p:sp>
      <p:pic>
        <p:nvPicPr>
          <p:cNvPr id="105" name="Google Shape;105;p18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200" y="2234769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201" y="892348"/>
            <a:ext cx="443192" cy="249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8927" y="1154478"/>
            <a:ext cx="1371744" cy="1073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8"/>
          <p:cNvCxnSpPr/>
          <p:nvPr/>
        </p:nvCxnSpPr>
        <p:spPr>
          <a:xfrm rot="10800000" flipH="1">
            <a:off x="1932875" y="1744244"/>
            <a:ext cx="1870200" cy="62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Google Shape;109;p18"/>
          <p:cNvCxnSpPr/>
          <p:nvPr/>
        </p:nvCxnSpPr>
        <p:spPr>
          <a:xfrm flipH="1">
            <a:off x="1907700" y="1889450"/>
            <a:ext cx="1903500" cy="62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" name="Google Shape;110;p18"/>
          <p:cNvSpPr txBox="1"/>
          <p:nvPr/>
        </p:nvSpPr>
        <p:spPr>
          <a:xfrm>
            <a:off x="2575350" y="1707687"/>
            <a:ext cx="5682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1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 txBox="1">
            <a:spLocks noGrp="1"/>
          </p:cNvSpPr>
          <p:nvPr>
            <p:ph type="title"/>
          </p:nvPr>
        </p:nvSpPr>
        <p:spPr>
          <a:xfrm>
            <a:off x="311700" y="21086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many APIs</a:t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4274445" y="2845175"/>
            <a:ext cx="1543800" cy="1469400"/>
          </a:xfrm>
          <a:prstGeom prst="roundRect">
            <a:avLst>
              <a:gd name="adj" fmla="val 16667"/>
            </a:avLst>
          </a:prstGeom>
          <a:noFill/>
          <a:ln w="37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6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p18" title="fb_bad_ap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9882" y="3123050"/>
            <a:ext cx="1312925" cy="1124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0351" y="2897647"/>
            <a:ext cx="168899" cy="168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6331845" y="1738002"/>
            <a:ext cx="1543800" cy="1469400"/>
          </a:xfrm>
          <a:prstGeom prst="roundRect">
            <a:avLst>
              <a:gd name="adj" fmla="val 16667"/>
            </a:avLst>
          </a:prstGeom>
          <a:noFill/>
          <a:ln w="37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6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18" title="soap_api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26599" y="2035100"/>
            <a:ext cx="1186612" cy="107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89326" y="1740146"/>
            <a:ext cx="443200" cy="2949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8"/>
          <p:cNvCxnSpPr/>
          <p:nvPr/>
        </p:nvCxnSpPr>
        <p:spPr>
          <a:xfrm>
            <a:off x="1976777" y="3028047"/>
            <a:ext cx="1870200" cy="62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" name="Google Shape;119;p18"/>
          <p:cNvCxnSpPr/>
          <p:nvPr/>
        </p:nvCxnSpPr>
        <p:spPr>
          <a:xfrm rot="10800000">
            <a:off x="1951602" y="2875640"/>
            <a:ext cx="1903500" cy="62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" name="Google Shape;120;p18"/>
          <p:cNvSpPr txBox="1"/>
          <p:nvPr/>
        </p:nvSpPr>
        <p:spPr>
          <a:xfrm>
            <a:off x="2819152" y="2834650"/>
            <a:ext cx="5682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" name="Google Shape;121;p18"/>
          <p:cNvCxnSpPr/>
          <p:nvPr/>
        </p:nvCxnSpPr>
        <p:spPr>
          <a:xfrm>
            <a:off x="2152987" y="2723725"/>
            <a:ext cx="3911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" name="Google Shape;122;p18"/>
          <p:cNvCxnSpPr/>
          <p:nvPr/>
        </p:nvCxnSpPr>
        <p:spPr>
          <a:xfrm rot="10800000">
            <a:off x="2104075" y="2571325"/>
            <a:ext cx="3983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3" name="Google Shape;123;p18"/>
          <p:cNvSpPr txBox="1"/>
          <p:nvPr/>
        </p:nvSpPr>
        <p:spPr>
          <a:xfrm>
            <a:off x="3433775" y="2238950"/>
            <a:ext cx="5682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787EE7-5B2C-6684-C209-339AC04E0634}"/>
              </a:ext>
            </a:extLst>
          </p:cNvPr>
          <p:cNvSpPr txBox="1"/>
          <p:nvPr/>
        </p:nvSpPr>
        <p:spPr>
          <a:xfrm>
            <a:off x="2818352" y="258119"/>
            <a:ext cx="45817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大语言模型（</a:t>
            </a:r>
            <a:r>
              <a:rPr lang="en-US" altLang="zh-CN" dirty="0"/>
              <a:t>LLM</a:t>
            </a:r>
            <a:r>
              <a:rPr lang="zh-CN" altLang="en-US" dirty="0"/>
              <a:t>）在集成多个异构 </a:t>
            </a:r>
            <a:r>
              <a:rPr lang="en-US" altLang="zh-CN" dirty="0"/>
              <a:t>API </a:t>
            </a:r>
            <a:r>
              <a:rPr lang="zh-CN" altLang="en-US" dirty="0"/>
              <a:t>时面临的挑战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68BB77-C762-B4C6-50E2-0B44CCA7D57F}"/>
              </a:ext>
            </a:extLst>
          </p:cNvPr>
          <p:cNvSpPr txBox="1"/>
          <p:nvPr/>
        </p:nvSpPr>
        <p:spPr>
          <a:xfrm>
            <a:off x="465446" y="4377036"/>
            <a:ext cx="83668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MCP </a:t>
            </a:r>
            <a:r>
              <a:rPr lang="zh-CN" altLang="en-US" dirty="0"/>
              <a:t>通过定义统一的协议，让任何工具、服务或平台都可以封装成一个</a:t>
            </a:r>
            <a:r>
              <a:rPr lang="en-US" altLang="zh-CN" dirty="0"/>
              <a:t>MCP</a:t>
            </a:r>
            <a:r>
              <a:rPr lang="zh-CN" altLang="en-US" dirty="0"/>
              <a:t>智能体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493CD5-BF94-0922-1392-D5891B9777A2}"/>
              </a:ext>
            </a:extLst>
          </p:cNvPr>
          <p:cNvSpPr txBox="1"/>
          <p:nvPr/>
        </p:nvSpPr>
        <p:spPr>
          <a:xfrm>
            <a:off x="6086858" y="945089"/>
            <a:ext cx="17881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集成困难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DE5E89-1820-39AD-58DF-FACC6F5955C7}"/>
              </a:ext>
            </a:extLst>
          </p:cNvPr>
          <p:cNvSpPr txBox="1"/>
          <p:nvPr/>
        </p:nvSpPr>
        <p:spPr>
          <a:xfrm>
            <a:off x="6086858" y="718353"/>
            <a:ext cx="1543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理解困难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5625350" y="711575"/>
            <a:ext cx="1198200" cy="1140600"/>
          </a:xfrm>
          <a:prstGeom prst="roundRect">
            <a:avLst>
              <a:gd name="adj" fmla="val 16667"/>
            </a:avLst>
          </a:prstGeom>
          <a:noFill/>
          <a:ln w="28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725" tIns="27725" rIns="27725" bIns="277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</a:rPr>
              <a:t>themodernsoftware.dev</a:t>
            </a:r>
            <a:endParaRPr sz="1200" b="1">
              <a:solidFill>
                <a:schemeClr val="lt1"/>
              </a:solidFill>
            </a:endParaRPr>
          </a:p>
        </p:txBody>
      </p:sp>
      <p:pic>
        <p:nvPicPr>
          <p:cNvPr id="131" name="Google Shape;131;p19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650" y="2193069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78" y="733600"/>
            <a:ext cx="344040" cy="193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1471" y="937086"/>
            <a:ext cx="1064859" cy="83317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5641415" y="3392535"/>
            <a:ext cx="1198200" cy="1140600"/>
          </a:xfrm>
          <a:prstGeom prst="roundRect">
            <a:avLst>
              <a:gd name="adj" fmla="val 16667"/>
            </a:avLst>
          </a:prstGeom>
          <a:noFill/>
          <a:ln w="28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725" tIns="27725" rIns="27725" bIns="277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19" title="fb_bad_ap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1027" y="3608243"/>
            <a:ext cx="1019197" cy="872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58345" y="3433268"/>
            <a:ext cx="131113" cy="1311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19"/>
          <p:cNvCxnSpPr/>
          <p:nvPr/>
        </p:nvCxnSpPr>
        <p:spPr>
          <a:xfrm rot="10800000" flipH="1">
            <a:off x="2999675" y="1057844"/>
            <a:ext cx="2216400" cy="130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" name="Google Shape;138;p19"/>
          <p:cNvCxnSpPr/>
          <p:nvPr/>
        </p:nvCxnSpPr>
        <p:spPr>
          <a:xfrm flipH="1">
            <a:off x="2974550" y="1235400"/>
            <a:ext cx="2249700" cy="128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311700" y="210875"/>
            <a:ext cx="343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many LLM apps</a:t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5638336" y="2007737"/>
            <a:ext cx="1198200" cy="1140600"/>
          </a:xfrm>
          <a:prstGeom prst="roundRect">
            <a:avLst>
              <a:gd name="adj" fmla="val 16667"/>
            </a:avLst>
          </a:prstGeom>
          <a:noFill/>
          <a:ln w="28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725" tIns="27725" rIns="27725" bIns="277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19" title="soap_api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89521" y="2238367"/>
            <a:ext cx="921146" cy="833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71099" y="2009401"/>
            <a:ext cx="344046" cy="2289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19"/>
          <p:cNvCxnSpPr/>
          <p:nvPr/>
        </p:nvCxnSpPr>
        <p:spPr>
          <a:xfrm>
            <a:off x="3043577" y="3028047"/>
            <a:ext cx="2132100" cy="106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" name="Google Shape;144;p19"/>
          <p:cNvCxnSpPr/>
          <p:nvPr/>
        </p:nvCxnSpPr>
        <p:spPr>
          <a:xfrm rot="10800000">
            <a:off x="3018375" y="2875550"/>
            <a:ext cx="2100900" cy="101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45" name="Google Shape;145;p19" title="ChatGPT Image Sep 5, 2025, 11_17_46 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40373" y="3308779"/>
            <a:ext cx="1124175" cy="1124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19"/>
          <p:cNvCxnSpPr/>
          <p:nvPr/>
        </p:nvCxnSpPr>
        <p:spPr>
          <a:xfrm>
            <a:off x="3010262" y="4062548"/>
            <a:ext cx="2188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7" name="Google Shape;147;p19"/>
          <p:cNvCxnSpPr/>
          <p:nvPr/>
        </p:nvCxnSpPr>
        <p:spPr>
          <a:xfrm rot="10800000">
            <a:off x="2984983" y="3910050"/>
            <a:ext cx="222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48" name="Google Shape;148;p19" title="ChatGPT Image Sep 5, 2025, 11_15_36 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40700" y="989724"/>
            <a:ext cx="1092401" cy="10924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9"/>
          <p:cNvCxnSpPr/>
          <p:nvPr/>
        </p:nvCxnSpPr>
        <p:spPr>
          <a:xfrm>
            <a:off x="3011278" y="2767148"/>
            <a:ext cx="2188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" name="Google Shape;150;p19"/>
          <p:cNvCxnSpPr/>
          <p:nvPr/>
        </p:nvCxnSpPr>
        <p:spPr>
          <a:xfrm rot="10800000">
            <a:off x="2986000" y="2614650"/>
            <a:ext cx="222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" name="Google Shape;151;p19"/>
          <p:cNvCxnSpPr/>
          <p:nvPr/>
        </p:nvCxnSpPr>
        <p:spPr>
          <a:xfrm>
            <a:off x="3010262" y="1616074"/>
            <a:ext cx="2188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" name="Google Shape;152;p19"/>
          <p:cNvCxnSpPr/>
          <p:nvPr/>
        </p:nvCxnSpPr>
        <p:spPr>
          <a:xfrm rot="10800000">
            <a:off x="2984983" y="1463575"/>
            <a:ext cx="222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" name="Google Shape;153;p19"/>
          <p:cNvCxnSpPr/>
          <p:nvPr/>
        </p:nvCxnSpPr>
        <p:spPr>
          <a:xfrm>
            <a:off x="3033469" y="1920874"/>
            <a:ext cx="2113500" cy="56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" name="Google Shape;154;p19"/>
          <p:cNvCxnSpPr/>
          <p:nvPr/>
        </p:nvCxnSpPr>
        <p:spPr>
          <a:xfrm rot="10800000">
            <a:off x="3008200" y="1768350"/>
            <a:ext cx="2154000" cy="57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5" name="Google Shape;155;p19"/>
          <p:cNvCxnSpPr/>
          <p:nvPr/>
        </p:nvCxnSpPr>
        <p:spPr>
          <a:xfrm>
            <a:off x="3046089" y="1828525"/>
            <a:ext cx="2154000" cy="167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" name="Google Shape;156;p19"/>
          <p:cNvCxnSpPr/>
          <p:nvPr/>
        </p:nvCxnSpPr>
        <p:spPr>
          <a:xfrm rot="10800000">
            <a:off x="3020850" y="1676050"/>
            <a:ext cx="2171100" cy="1674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157;p19"/>
          <p:cNvCxnSpPr/>
          <p:nvPr/>
        </p:nvCxnSpPr>
        <p:spPr>
          <a:xfrm rot="10800000" flipH="1">
            <a:off x="2994113" y="3011974"/>
            <a:ext cx="2189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" name="Google Shape;158;p19"/>
          <p:cNvCxnSpPr/>
          <p:nvPr/>
        </p:nvCxnSpPr>
        <p:spPr>
          <a:xfrm flipH="1">
            <a:off x="2968700" y="2858400"/>
            <a:ext cx="2207100" cy="73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" name="Google Shape;159;p19"/>
          <p:cNvCxnSpPr/>
          <p:nvPr/>
        </p:nvCxnSpPr>
        <p:spPr>
          <a:xfrm rot="10800000" flipH="1">
            <a:off x="2977963" y="1865150"/>
            <a:ext cx="2189700" cy="1784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" name="Google Shape;160;p19"/>
          <p:cNvCxnSpPr/>
          <p:nvPr/>
        </p:nvCxnSpPr>
        <p:spPr>
          <a:xfrm flipH="1">
            <a:off x="2952550" y="1703725"/>
            <a:ext cx="2207100" cy="17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BF21B99-1DB0-4843-5DD9-D9F0A9CFFA5A}"/>
              </a:ext>
            </a:extLst>
          </p:cNvPr>
          <p:cNvSpPr txBox="1"/>
          <p:nvPr/>
        </p:nvSpPr>
        <p:spPr>
          <a:xfrm>
            <a:off x="308152" y="4439440"/>
            <a:ext cx="45817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MCP</a:t>
            </a:r>
            <a:r>
              <a:rPr lang="zh-CN" altLang="en-US" dirty="0"/>
              <a:t>可以大大降低这种复杂性，将</a:t>
            </a:r>
            <a:r>
              <a:rPr lang="en-US" altLang="zh-CN" dirty="0"/>
              <a:t>a*b</a:t>
            </a:r>
            <a:r>
              <a:rPr lang="zh-CN" altLang="en-US" dirty="0"/>
              <a:t>变成</a:t>
            </a:r>
            <a:r>
              <a:rPr lang="en-US" altLang="zh-CN" dirty="0" err="1"/>
              <a:t>a+b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MCP A Bit Deeper </a:t>
            </a:r>
            <a:r>
              <a:rPr lang="zh-CN" altLang="en-US" dirty="0"/>
              <a:t>深入了解</a:t>
            </a:r>
            <a:r>
              <a:rPr lang="en-US" altLang="zh-CN" dirty="0"/>
              <a:t>MCP</a:t>
            </a:r>
            <a:endParaRPr dirty="0"/>
          </a:p>
        </p:txBody>
      </p:sp>
      <p:sp>
        <p:nvSpPr>
          <p:cNvPr id="174" name="Google Shape;174;p21"/>
          <p:cNvSpPr txBox="1">
            <a:spLocks noGrp="1"/>
          </p:cNvSpPr>
          <p:nvPr>
            <p:ph type="body" idx="1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Terminology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 dirty="0"/>
              <a:t>Host</a:t>
            </a:r>
            <a:r>
              <a:rPr lang="en" dirty="0"/>
              <a:t>: Cursor, Claude Desktop</a:t>
            </a:r>
            <a:r>
              <a:rPr lang="en-US" altLang="zh-CN" dirty="0"/>
              <a:t>(</a:t>
            </a:r>
            <a:r>
              <a:rPr lang="zh-CN" altLang="en-US" dirty="0"/>
              <a:t>主机</a:t>
            </a:r>
            <a:r>
              <a:rPr lang="en-US" altLang="zh-CN" dirty="0"/>
              <a:t>)</a:t>
            </a:r>
            <a:r>
              <a:rPr lang="zh-CN" altLang="en-US" dirty="0"/>
              <a:t>：最终用户直接交互的应用程序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 dirty="0"/>
              <a:t>MCP Client</a:t>
            </a:r>
            <a:r>
              <a:rPr lang="en" dirty="0"/>
              <a:t>: Library embedded on host (stateful session per server)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en-US" altLang="zh-CN" dirty="0"/>
              <a:t>(</a:t>
            </a:r>
            <a:r>
              <a:rPr lang="zh-CN" altLang="en-US" dirty="0"/>
              <a:t>客户端</a:t>
            </a:r>
            <a:r>
              <a:rPr lang="en-US" altLang="zh-CN" dirty="0"/>
              <a:t>)</a:t>
            </a:r>
            <a:r>
              <a:rPr lang="zh-CN" altLang="en-US" dirty="0"/>
              <a:t>：嵌入在主机中的一个程序库</a:t>
            </a:r>
            <a:endParaRPr dirty="0"/>
          </a:p>
          <a:p>
            <a:pPr lvl="1"/>
            <a:r>
              <a:rPr lang="en" b="1" dirty="0"/>
              <a:t>MCP Server</a:t>
            </a:r>
            <a:r>
              <a:rPr lang="en" dirty="0"/>
              <a:t>: Lightweight wrapper in front of a tool</a:t>
            </a:r>
            <a:r>
              <a:rPr lang="en-US" altLang="zh-CN" dirty="0"/>
              <a:t>(</a:t>
            </a:r>
            <a:r>
              <a:rPr lang="zh-CN" altLang="en-US" dirty="0"/>
              <a:t>服务器</a:t>
            </a:r>
            <a:r>
              <a:rPr lang="en-US" altLang="zh-CN" dirty="0"/>
              <a:t>)</a:t>
            </a:r>
            <a:r>
              <a:rPr lang="zh-CN" altLang="en-US" dirty="0"/>
              <a:t>：位于某个具体工具前方的轻量级包装程序。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 dirty="0"/>
              <a:t>Tool</a:t>
            </a:r>
            <a:r>
              <a:rPr lang="en" dirty="0"/>
              <a:t>: Callable function (could be data source, API)</a:t>
            </a:r>
            <a:r>
              <a:rPr lang="zh-CN" altLang="en-US" dirty="0"/>
              <a:t>（工具）</a:t>
            </a:r>
            <a:endParaRPr dirty="0"/>
          </a:p>
          <a:p>
            <a:pPr lvl="0"/>
            <a:r>
              <a:rPr lang="en" dirty="0"/>
              <a:t>Flow </a:t>
            </a:r>
            <a:r>
              <a:rPr lang="zh-CN" altLang="en-US" dirty="0"/>
              <a:t>能力发现</a:t>
            </a:r>
            <a:r>
              <a:rPr lang="en-US" altLang="zh-CN" dirty="0"/>
              <a:t>-&gt;</a:t>
            </a:r>
            <a:r>
              <a:rPr lang="zh-CN" altLang="en-US" dirty="0"/>
              <a:t>自我描述</a:t>
            </a:r>
            <a:r>
              <a:rPr lang="en-US" altLang="zh-CN" dirty="0"/>
              <a:t>-&gt;</a:t>
            </a:r>
            <a:r>
              <a:rPr lang="zh-CN" altLang="en-US" dirty="0"/>
              <a:t>上下文注入</a:t>
            </a:r>
            <a:r>
              <a:rPr lang="en-US" altLang="zh-CN" dirty="0"/>
              <a:t>-&gt;</a:t>
            </a:r>
            <a:r>
              <a:rPr lang="zh-CN" altLang="en-US" dirty="0"/>
              <a:t>智能调用</a:t>
            </a:r>
            <a:r>
              <a:rPr lang="en-US" altLang="zh-CN" dirty="0"/>
              <a:t>-&gt;</a:t>
            </a:r>
            <a:r>
              <a:rPr lang="zh-CN" altLang="en-US" dirty="0"/>
              <a:t>执行操作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Client calls tools/list to MCP server (what can you do?)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Server returns JSON describing each tool (name, summary, JSON schema)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Host injects that JSON into model’s context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User prompt triggers model, emitting a structured tool call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MCP server executes and conversation resumes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MCP provides stdio and SSE transport layer</a:t>
            </a:r>
            <a:endParaRPr dirty="0"/>
          </a:p>
        </p:txBody>
      </p:sp>
      <p:sp>
        <p:nvSpPr>
          <p:cNvPr id="175" name="Google Shape;175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</a:rPr>
              <a:t>themodernsoftware.dev</a:t>
            </a:r>
            <a:endParaRPr sz="12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</a:rPr>
              <a:t>themodernsoftware.dev</a:t>
            </a:r>
            <a:endParaRPr sz="1200" b="1">
              <a:solidFill>
                <a:schemeClr val="lt1"/>
              </a:solidFill>
            </a:endParaRPr>
          </a:p>
        </p:txBody>
      </p:sp>
      <p:pic>
        <p:nvPicPr>
          <p:cNvPr id="183" name="Google Shape;18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3324" y="1865153"/>
            <a:ext cx="510112" cy="510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2424" y="2375266"/>
            <a:ext cx="510111" cy="510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3579" y="1394484"/>
            <a:ext cx="399045" cy="39904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/>
          <p:nvPr/>
        </p:nvSpPr>
        <p:spPr>
          <a:xfrm>
            <a:off x="2973350" y="1226300"/>
            <a:ext cx="580500" cy="1741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900" tIns="65900" rIns="65900" bIns="65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9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7100" y="1854148"/>
            <a:ext cx="673500" cy="67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2977217" y="831621"/>
            <a:ext cx="874711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 client</a:t>
            </a:r>
            <a:br>
              <a:rPr lang="en" sz="8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zh-CN" altLang="en-US" sz="8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客户端</a:t>
            </a:r>
            <a:endParaRPr sz="800" b="1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2"/>
          <p:cNvSpPr/>
          <p:nvPr/>
        </p:nvSpPr>
        <p:spPr>
          <a:xfrm flipH="1">
            <a:off x="1434600" y="1196778"/>
            <a:ext cx="1125000" cy="581100"/>
          </a:xfrm>
          <a:prstGeom prst="flowChartMagneticTap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1502225" y="1243653"/>
            <a:ext cx="11250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Summarize my emails from Jack</a:t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5872900" y="1226300"/>
            <a:ext cx="840600" cy="1741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300" tIns="50300" rIns="50300" bIns="503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7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59537" y="1339001"/>
            <a:ext cx="466650" cy="349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800000" flipH="1">
            <a:off x="6067526" y="1835423"/>
            <a:ext cx="466648" cy="55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0800" y="2500775"/>
            <a:ext cx="466650" cy="3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5919875" y="747520"/>
            <a:ext cx="808500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 server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服务器</a:t>
            </a:r>
            <a:endParaRPr sz="800" b="1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41699" y="1280588"/>
            <a:ext cx="389325" cy="3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71974" y="1936452"/>
            <a:ext cx="389325" cy="3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71974" y="2484820"/>
            <a:ext cx="389325" cy="389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22"/>
          <p:cNvCxnSpPr/>
          <p:nvPr/>
        </p:nvCxnSpPr>
        <p:spPr>
          <a:xfrm>
            <a:off x="6939300" y="1433350"/>
            <a:ext cx="673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0" name="Google Shape;200;p22"/>
          <p:cNvCxnSpPr/>
          <p:nvPr/>
        </p:nvCxnSpPr>
        <p:spPr>
          <a:xfrm rot="10800000">
            <a:off x="6939300" y="1539826"/>
            <a:ext cx="673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1" name="Google Shape;201;p22"/>
          <p:cNvCxnSpPr/>
          <p:nvPr/>
        </p:nvCxnSpPr>
        <p:spPr>
          <a:xfrm>
            <a:off x="6916075" y="2092763"/>
            <a:ext cx="673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" name="Google Shape;202;p22"/>
          <p:cNvCxnSpPr/>
          <p:nvPr/>
        </p:nvCxnSpPr>
        <p:spPr>
          <a:xfrm rot="10800000">
            <a:off x="6916075" y="2199238"/>
            <a:ext cx="673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" name="Google Shape;203;p22"/>
          <p:cNvCxnSpPr/>
          <p:nvPr/>
        </p:nvCxnSpPr>
        <p:spPr>
          <a:xfrm>
            <a:off x="6927700" y="2645688"/>
            <a:ext cx="673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" name="Google Shape;204;p22"/>
          <p:cNvCxnSpPr/>
          <p:nvPr/>
        </p:nvCxnSpPr>
        <p:spPr>
          <a:xfrm rot="10800000">
            <a:off x="6927700" y="2752163"/>
            <a:ext cx="673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05" name="Google Shape;205;p22" title="Screenshot 2025-09-04 at 10.41.08 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935805" y="3467125"/>
            <a:ext cx="655746" cy="63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22"/>
          <p:cNvCxnSpPr/>
          <p:nvPr/>
        </p:nvCxnSpPr>
        <p:spPr>
          <a:xfrm>
            <a:off x="1970325" y="1977459"/>
            <a:ext cx="734700" cy="0"/>
          </a:xfrm>
          <a:prstGeom prst="straightConnector1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7" name="Google Shape;207;p22"/>
          <p:cNvSpPr txBox="1"/>
          <p:nvPr/>
        </p:nvSpPr>
        <p:spPr>
          <a:xfrm>
            <a:off x="2238200" y="1701947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2016250" y="1935773"/>
            <a:ext cx="6969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Ask query</a:t>
            </a:r>
            <a:endParaRPr sz="800" i="1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" name="Google Shape;209;p22"/>
          <p:cNvCxnSpPr/>
          <p:nvPr/>
        </p:nvCxnSpPr>
        <p:spPr>
          <a:xfrm>
            <a:off x="3722925" y="1398475"/>
            <a:ext cx="2089800" cy="0"/>
          </a:xfrm>
          <a:prstGeom prst="straightConnector1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" name="Google Shape;210;p22"/>
          <p:cNvSpPr txBox="1"/>
          <p:nvPr/>
        </p:nvSpPr>
        <p:spPr>
          <a:xfrm>
            <a:off x="4600400" y="1122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454649" y="1463091"/>
            <a:ext cx="6969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Get tools</a:t>
            </a:r>
            <a:endParaRPr sz="800" i="1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" name="Google Shape;212;p22"/>
          <p:cNvCxnSpPr/>
          <p:nvPr/>
        </p:nvCxnSpPr>
        <p:spPr>
          <a:xfrm rot="10800000">
            <a:off x="3699283" y="1489643"/>
            <a:ext cx="2089800" cy="0"/>
          </a:xfrm>
          <a:prstGeom prst="straightConnector1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" name="Google Shape;213;p22"/>
          <p:cNvCxnSpPr/>
          <p:nvPr/>
        </p:nvCxnSpPr>
        <p:spPr>
          <a:xfrm rot="10800000">
            <a:off x="3676661" y="2706572"/>
            <a:ext cx="2089800" cy="0"/>
          </a:xfrm>
          <a:prstGeom prst="straightConnector1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" name="Google Shape;214;p22"/>
          <p:cNvCxnSpPr/>
          <p:nvPr/>
        </p:nvCxnSpPr>
        <p:spPr>
          <a:xfrm>
            <a:off x="3202799" y="3054105"/>
            <a:ext cx="0" cy="326400"/>
          </a:xfrm>
          <a:prstGeom prst="straightConnector1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p22"/>
          <p:cNvCxnSpPr/>
          <p:nvPr/>
        </p:nvCxnSpPr>
        <p:spPr>
          <a:xfrm rot="10800000">
            <a:off x="3324583" y="3054105"/>
            <a:ext cx="0" cy="326400"/>
          </a:xfrm>
          <a:prstGeom prst="straightConnector1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6" name="Google Shape;216;p22"/>
          <p:cNvSpPr txBox="1"/>
          <p:nvPr/>
        </p:nvSpPr>
        <p:spPr>
          <a:xfrm>
            <a:off x="2954956" y="3027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3387850" y="3032675"/>
            <a:ext cx="11250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Send query and pick tool with params</a:t>
            </a:r>
            <a:endParaRPr sz="800" i="1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8" name="Google Shape;218;p22"/>
          <p:cNvCxnSpPr/>
          <p:nvPr/>
        </p:nvCxnSpPr>
        <p:spPr>
          <a:xfrm>
            <a:off x="3669007" y="2607750"/>
            <a:ext cx="2089800" cy="0"/>
          </a:xfrm>
          <a:prstGeom prst="straightConnector1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9" name="Google Shape;219;p22"/>
          <p:cNvSpPr txBox="1"/>
          <p:nvPr/>
        </p:nvSpPr>
        <p:spPr>
          <a:xfrm>
            <a:off x="4600400" y="2265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3851928" y="2683283"/>
            <a:ext cx="1922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Call function for tool and get response</a:t>
            </a:r>
            <a:endParaRPr sz="800" i="1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1" name="Google Shape;221;p22"/>
          <p:cNvCxnSpPr/>
          <p:nvPr/>
        </p:nvCxnSpPr>
        <p:spPr>
          <a:xfrm rot="10800000">
            <a:off x="1970402" y="2435484"/>
            <a:ext cx="719400" cy="0"/>
          </a:xfrm>
          <a:prstGeom prst="straightConnector1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2" name="Google Shape;222;p22"/>
          <p:cNvSpPr txBox="1"/>
          <p:nvPr/>
        </p:nvSpPr>
        <p:spPr>
          <a:xfrm>
            <a:off x="1947025" y="2414201"/>
            <a:ext cx="852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Send response</a:t>
            </a:r>
            <a:endParaRPr sz="800" i="1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2230321" y="2142442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26D1A11-DE8A-53D9-D2AF-3C658A339DF2}"/>
              </a:ext>
            </a:extLst>
          </p:cNvPr>
          <p:cNvSpPr txBox="1"/>
          <p:nvPr/>
        </p:nvSpPr>
        <p:spPr>
          <a:xfrm>
            <a:off x="1042610" y="250111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用户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3D7ED5-507B-D7B9-7ED3-1D1E9CD685AD}"/>
              </a:ext>
            </a:extLst>
          </p:cNvPr>
          <p:cNvSpPr txBox="1"/>
          <p:nvPr/>
        </p:nvSpPr>
        <p:spPr>
          <a:xfrm>
            <a:off x="1188720" y="391886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具体工作流程演示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Limitations</a:t>
            </a:r>
            <a:r>
              <a:rPr lang="zh-CN" altLang="en-US" dirty="0"/>
              <a:t>局限性</a:t>
            </a:r>
            <a:endParaRPr dirty="0"/>
          </a:p>
        </p:txBody>
      </p:sp>
      <p:sp>
        <p:nvSpPr>
          <p:cNvPr id="237" name="Google Shape;237;p24"/>
          <p:cNvSpPr txBox="1">
            <a:spLocks noGrp="1"/>
          </p:cNvSpPr>
          <p:nvPr>
            <p:ph type="body" idx="1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" dirty="0"/>
              <a:t>Agents don’t handle many tools very well today</a:t>
            </a:r>
            <a:br>
              <a:rPr lang="en" dirty="0"/>
            </a:br>
            <a:r>
              <a:rPr lang="en" dirty="0"/>
              <a:t>        </a:t>
            </a:r>
            <a:r>
              <a:rPr lang="zh-CN" altLang="en-US" dirty="0"/>
              <a:t>多工具协同的处理能力尚不成熟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APIs eat up your context window quickly</a:t>
            </a:r>
          </a:p>
          <a:p>
            <a:pPr marL="114300" lv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传统</a:t>
            </a:r>
            <a:r>
              <a:rPr lang="en-US" altLang="zh-CN" dirty="0"/>
              <a:t>API</a:t>
            </a:r>
            <a:r>
              <a:rPr lang="zh-CN" altLang="en-US" dirty="0"/>
              <a:t>设计会消耗宝贵的上下文窗口</a:t>
            </a:r>
            <a:endParaRPr dirty="0"/>
          </a:p>
          <a:p>
            <a:pPr lvl="0"/>
            <a:r>
              <a:rPr lang="en" dirty="0"/>
              <a:t>Design APIs to be AI-native rather that rigid</a:t>
            </a:r>
            <a:br>
              <a:rPr lang="en" dirty="0"/>
            </a:br>
            <a:r>
              <a:rPr lang="en" dirty="0"/>
              <a:t>	</a:t>
            </a:r>
            <a:r>
              <a:rPr lang="zh-CN" altLang="en-US" dirty="0"/>
              <a:t>专门为</a:t>
            </a:r>
            <a:r>
              <a:rPr lang="en-US" altLang="zh-CN" dirty="0"/>
              <a:t>AI</a:t>
            </a:r>
            <a:r>
              <a:rPr lang="zh-CN" altLang="en-US" dirty="0"/>
              <a:t>的使用方式设计</a:t>
            </a:r>
            <a:r>
              <a:rPr lang="en-US" altLang="zh-CN" dirty="0"/>
              <a:t>API</a:t>
            </a:r>
            <a:endParaRPr dirty="0"/>
          </a:p>
        </p:txBody>
      </p:sp>
      <p:sp>
        <p:nvSpPr>
          <p:cNvPr id="238" name="Google Shape;238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</a:rPr>
              <a:t>themodernsoftware.dev</a:t>
            </a:r>
            <a:endParaRPr sz="12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</a:rPr>
              <a:t>themodernsoftware.dev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3125700" y="1920075"/>
            <a:ext cx="28926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4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731</Words>
  <Application>Microsoft Office PowerPoint</Application>
  <PresentationFormat>全屏显示(16:9)</PresentationFormat>
  <Paragraphs>95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Roboto</vt:lpstr>
      <vt:lpstr>Simple Light</vt:lpstr>
      <vt:lpstr>The Modern Software Developer</vt:lpstr>
      <vt:lpstr>To MCP and Beyond</vt:lpstr>
      <vt:lpstr>Why</vt:lpstr>
      <vt:lpstr>Basics</vt:lpstr>
      <vt:lpstr>Imagine integrating with a questionable 3rd party API</vt:lpstr>
      <vt:lpstr>Now many APIs</vt:lpstr>
      <vt:lpstr>Now many LLM apps</vt:lpstr>
      <vt:lpstr>MCP A Bit Deeper 深入了解MCP</vt:lpstr>
      <vt:lpstr>PowerPoint 演示文稿</vt:lpstr>
      <vt:lpstr>Limitations局限性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dik chen</cp:lastModifiedBy>
  <cp:revision>2</cp:revision>
  <dcterms:modified xsi:type="dcterms:W3CDTF">2026-03-01T10:01:35Z</dcterms:modified>
</cp:coreProperties>
</file>
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0723" y="1087373"/>
            <a:ext cx="6362553" cy="161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0723" y="1087373"/>
            <a:ext cx="6362553" cy="161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13025" y="4854740"/>
            <a:ext cx="1744979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7765" marR="5080" indent="-1134745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Structured </a:t>
            </a:r>
            <a:r>
              <a:rPr spc="15" dirty="0"/>
              <a:t>Writing</a:t>
            </a:r>
            <a:r>
              <a:rPr spc="-395" dirty="0"/>
              <a:t> </a:t>
            </a:r>
            <a:r>
              <a:rPr spc="145" dirty="0"/>
              <a:t>for  </a:t>
            </a:r>
            <a:r>
              <a:rPr spc="30" dirty="0"/>
              <a:t>Professionals</a:t>
            </a:r>
            <a:endParaRPr spc="30" dirty="0"/>
          </a:p>
        </p:txBody>
      </p:sp>
      <p:sp>
        <p:nvSpPr>
          <p:cNvPr id="3" name="object 3"/>
          <p:cNvSpPr txBox="1"/>
          <p:nvPr/>
        </p:nvSpPr>
        <p:spPr>
          <a:xfrm>
            <a:off x="3299666" y="2861775"/>
            <a:ext cx="2541905" cy="6356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5080" indent="753745">
              <a:lnSpc>
                <a:spcPct val="80000"/>
              </a:lnSpc>
              <a:spcBef>
                <a:spcPts val="470"/>
              </a:spcBef>
            </a:pPr>
            <a:r>
              <a:rPr sz="15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English </a:t>
            </a:r>
            <a:r>
              <a:rPr sz="15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170  Stanford </a:t>
            </a:r>
            <a:r>
              <a:rPr sz="155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University, </a:t>
            </a:r>
            <a:r>
              <a:rPr sz="15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Fall</a:t>
            </a:r>
            <a:r>
              <a:rPr sz="1550" spc="-1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2025</a:t>
            </a:r>
            <a:endParaRPr sz="1550">
              <a:latin typeface="Arial" panose="020B0604020202020204"/>
              <a:cs typeface="Arial" panose="020B0604020202020204"/>
            </a:endParaRPr>
          </a:p>
          <a:p>
            <a:pPr marL="809625">
              <a:lnSpc>
                <a:spcPts val="1480"/>
              </a:lnSpc>
            </a:pPr>
            <a:r>
              <a:rPr sz="1550" b="1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Mihail</a:t>
            </a:r>
            <a:r>
              <a:rPr sz="1550" b="1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50" b="1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Eric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7675" marR="5080" indent="-170561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The </a:t>
            </a:r>
            <a:r>
              <a:rPr spc="25" dirty="0"/>
              <a:t>Modern</a:t>
            </a:r>
            <a:r>
              <a:rPr spc="-285" dirty="0"/>
              <a:t> </a:t>
            </a:r>
            <a:r>
              <a:rPr spc="25" dirty="0"/>
              <a:t>Software  </a:t>
            </a:r>
            <a:r>
              <a:rPr spc="-80" dirty="0"/>
              <a:t>Developer</a:t>
            </a:r>
            <a:endParaRPr spc="-80" dirty="0"/>
          </a:p>
        </p:txBody>
      </p:sp>
      <p:sp>
        <p:nvSpPr>
          <p:cNvPr id="3" name="object 3"/>
          <p:cNvSpPr txBox="1"/>
          <p:nvPr/>
        </p:nvSpPr>
        <p:spPr>
          <a:xfrm>
            <a:off x="3299666" y="2861775"/>
            <a:ext cx="2541905" cy="635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 algn="ctr">
              <a:lnSpc>
                <a:spcPts val="1670"/>
              </a:lnSpc>
              <a:spcBef>
                <a:spcPts val="90"/>
              </a:spcBef>
            </a:pPr>
            <a:r>
              <a:rPr sz="1550" spc="-6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CS146S</a:t>
            </a:r>
            <a:endParaRPr sz="15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1480"/>
              </a:lnSpc>
            </a:pPr>
            <a:r>
              <a:rPr sz="15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Stanford </a:t>
            </a:r>
            <a:r>
              <a:rPr sz="155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University, </a:t>
            </a:r>
            <a:r>
              <a:rPr sz="15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Fall</a:t>
            </a:r>
            <a:r>
              <a:rPr sz="1550" spc="-1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2025</a:t>
            </a:r>
            <a:endParaRPr sz="1550">
              <a:latin typeface="Arial" panose="020B0604020202020204"/>
              <a:cs typeface="Arial" panose="020B0604020202020204"/>
            </a:endParaRPr>
          </a:p>
          <a:p>
            <a:pPr marL="1270" algn="ctr">
              <a:lnSpc>
                <a:spcPts val="1670"/>
              </a:lnSpc>
            </a:pPr>
            <a:r>
              <a:rPr sz="1550" b="1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Mihail</a:t>
            </a:r>
            <a:r>
              <a:rPr sz="1550" b="1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50" b="1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Eric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086" y="1468374"/>
            <a:ext cx="8126730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4940" marR="5080" indent="-2682875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Introduction </a:t>
            </a:r>
            <a:r>
              <a:rPr spc="-25" dirty="0"/>
              <a:t>and </a:t>
            </a:r>
            <a:r>
              <a:rPr spc="55" dirty="0"/>
              <a:t>How</a:t>
            </a:r>
            <a:r>
              <a:rPr spc="-570" dirty="0"/>
              <a:t> </a:t>
            </a:r>
            <a:r>
              <a:rPr spc="15" dirty="0"/>
              <a:t>LLMs  </a:t>
            </a:r>
            <a:r>
              <a:rPr spc="-80" dirty="0"/>
              <a:t>are</a:t>
            </a:r>
            <a:r>
              <a:rPr spc="-165" dirty="0"/>
              <a:t> </a:t>
            </a:r>
            <a:r>
              <a:rPr spc="5" dirty="0"/>
              <a:t>Made</a:t>
            </a:r>
            <a:endParaRPr spc="5" dirty="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85123"/>
            <a:ext cx="345186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5" dirty="0"/>
              <a:t>State </a:t>
            </a:r>
            <a:r>
              <a:rPr sz="2500" spc="110" dirty="0"/>
              <a:t>of </a:t>
            </a:r>
            <a:r>
              <a:rPr sz="2500" spc="20" dirty="0"/>
              <a:t>the </a:t>
            </a:r>
            <a:r>
              <a:rPr sz="2500" spc="-20" dirty="0"/>
              <a:t>World:</a:t>
            </a:r>
            <a:r>
              <a:rPr sz="2500" spc="-484" dirty="0"/>
              <a:t> </a:t>
            </a:r>
            <a:r>
              <a:rPr sz="2500" spc="20" dirty="0"/>
              <a:t>2025</a:t>
            </a:r>
            <a:endParaRPr sz="250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4100" y="1087986"/>
            <a:ext cx="4248850" cy="11497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0599" y="2533450"/>
            <a:ext cx="4412949" cy="1616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6475" y="1374677"/>
            <a:ext cx="3827099" cy="825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9845" y="3095656"/>
            <a:ext cx="4294956" cy="42477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9" name="文本框 8"/>
          <p:cNvSpPr txBox="1"/>
          <p:nvPr/>
        </p:nvSpPr>
        <p:spPr>
          <a:xfrm>
            <a:off x="163830" y="3638550"/>
            <a:ext cx="4300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Meta</a:t>
            </a:r>
            <a:r>
              <a:rPr lang="zh-CN" altLang="en-US"/>
              <a:t>的扎克伯格承诺投入数千亿美元用</a:t>
            </a:r>
            <a:endParaRPr lang="zh-CN" altLang="en-US"/>
          </a:p>
          <a:p>
            <a:r>
              <a:rPr lang="zh-CN" altLang="en-US"/>
              <a:t>于人工智能数据中心，以推动超级智能的</a:t>
            </a:r>
            <a:endParaRPr lang="zh-CN" altLang="en-US"/>
          </a:p>
          <a:p>
            <a:r>
              <a:rPr lang="zh-CN" altLang="en-US"/>
              <a:t>发展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675" y="246673"/>
            <a:ext cx="14624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35" dirty="0"/>
              <a:t>Bad</a:t>
            </a:r>
            <a:r>
              <a:rPr sz="2500" spc="-135" dirty="0"/>
              <a:t> </a:t>
            </a:r>
            <a:r>
              <a:rPr sz="2500" spc="10" dirty="0"/>
              <a:t>News</a:t>
            </a:r>
            <a:endParaRPr sz="250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5263" y="2132724"/>
            <a:ext cx="4429269" cy="6829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020" y="3325921"/>
            <a:ext cx="4897571" cy="5332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296" y="1102496"/>
            <a:ext cx="4739032" cy="3996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79674" y="1517979"/>
            <a:ext cx="1284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1465" algn="l"/>
              </a:tabLst>
            </a:pPr>
            <a:r>
              <a:rPr sz="12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-	</a:t>
            </a:r>
            <a:r>
              <a:rPr sz="12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Windsurf</a:t>
            </a:r>
            <a:r>
              <a:rPr sz="1200" spc="-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team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02263" y="795839"/>
            <a:ext cx="3453419" cy="376065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10" name="文本框 9"/>
          <p:cNvSpPr txBox="1"/>
          <p:nvPr/>
        </p:nvSpPr>
        <p:spPr>
          <a:xfrm>
            <a:off x="275590" y="2717165"/>
            <a:ext cx="4796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Anthropic</a:t>
            </a:r>
            <a:r>
              <a:rPr lang="zh-CN" altLang="en-US" sz="1600"/>
              <a:t>的首席执行官表示，在</a:t>
            </a:r>
            <a:r>
              <a:rPr lang="en-US" altLang="zh-CN" sz="1600"/>
              <a:t>3</a:t>
            </a:r>
            <a:r>
              <a:rPr lang="zh-CN" altLang="en-US" sz="1600"/>
              <a:t>到</a:t>
            </a:r>
            <a:r>
              <a:rPr lang="en-US" altLang="zh-CN" sz="1600"/>
              <a:t>6</a:t>
            </a:r>
            <a:r>
              <a:rPr lang="zh-CN" altLang="en-US" sz="1600"/>
              <a:t>个月内，人工智能将编写</a:t>
            </a:r>
            <a:r>
              <a:rPr lang="en-US" altLang="zh-CN" sz="1600"/>
              <a:t>90 %</a:t>
            </a:r>
            <a:r>
              <a:rPr lang="zh-CN" altLang="en-US" sz="1600"/>
              <a:t>原本由软件开发人员负责的代码。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225425" y="3821430"/>
            <a:ext cx="48037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谷歌首席科学家预测，人工智能在一年内可能达到初级程序员的水平。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52148"/>
            <a:ext cx="167132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30" dirty="0"/>
              <a:t>Good</a:t>
            </a:r>
            <a:r>
              <a:rPr sz="2500" spc="-145" dirty="0"/>
              <a:t> </a:t>
            </a:r>
            <a:r>
              <a:rPr sz="2500" spc="10" dirty="0"/>
              <a:t>News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022808"/>
            <a:ext cx="813244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5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Software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developers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have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potential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more</a:t>
            </a:r>
            <a:r>
              <a:rPr sz="18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productive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than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they</a:t>
            </a: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have  ever </a:t>
            </a: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been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800" spc="-10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history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79095" marR="1036955" indent="-367030">
              <a:lnSpc>
                <a:spcPct val="115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coding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engineer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can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pick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up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stacks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tools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 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unprecedented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pace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79095" marR="25400" indent="-367030">
              <a:lnSpc>
                <a:spcPct val="115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won’t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replaced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AI.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You’ll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replaced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8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competent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engineer</a:t>
            </a:r>
            <a:r>
              <a:rPr sz="18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who  knows how </a:t>
            </a:r>
            <a:r>
              <a:rPr sz="1800" spc="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8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use</a:t>
            </a:r>
            <a:r>
              <a:rPr sz="1800" spc="-3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AI.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735965" y="2944495"/>
            <a:ext cx="8190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软件开发人员有望达到历史上从未有过的高效水平。</a:t>
            </a:r>
            <a:endParaRPr lang="zh-CN" altLang="en-US"/>
          </a:p>
          <a:p>
            <a:r>
              <a:rPr lang="zh-CN" altLang="en-US"/>
              <a:t>借助人工智能编程，工程师能够以前所未有的速度掌握技术栈和工具。</a:t>
            </a:r>
            <a:endParaRPr lang="zh-CN" altLang="en-US"/>
          </a:p>
          <a:p>
            <a:r>
              <a:rPr lang="zh-CN" altLang="en-US"/>
              <a:t>你不会被人工智能取代。你会被一个懂得如何使用人工智能的合格工程师取代。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0723" y="1547399"/>
            <a:ext cx="6356985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7675" marR="5080" indent="-170561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The </a:t>
            </a:r>
            <a:r>
              <a:rPr spc="25" dirty="0"/>
              <a:t>Modern</a:t>
            </a:r>
            <a:r>
              <a:rPr spc="-285" dirty="0"/>
              <a:t> </a:t>
            </a:r>
            <a:r>
              <a:rPr spc="25" dirty="0"/>
              <a:t>Software  </a:t>
            </a:r>
            <a:r>
              <a:rPr spc="-80" dirty="0"/>
              <a:t>Developer</a:t>
            </a:r>
            <a:endParaRPr spc="-80" dirty="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525" y="2052161"/>
            <a:ext cx="7442834" cy="622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15" dirty="0"/>
              <a:t>This </a:t>
            </a:r>
            <a:r>
              <a:rPr sz="3900" spc="75" dirty="0"/>
              <a:t>is </a:t>
            </a:r>
            <a:r>
              <a:rPr sz="3900" b="1" spc="-114" dirty="0">
                <a:latin typeface="Arial" panose="020B0604020202020204"/>
                <a:cs typeface="Arial" panose="020B0604020202020204"/>
              </a:rPr>
              <a:t>not </a:t>
            </a:r>
            <a:r>
              <a:rPr sz="3900" spc="25" dirty="0"/>
              <a:t>the </a:t>
            </a:r>
            <a:r>
              <a:rPr sz="3900" spc="5" dirty="0"/>
              <a:t>“vibe </a:t>
            </a:r>
            <a:r>
              <a:rPr sz="3900" spc="55" dirty="0"/>
              <a:t>coding”</a:t>
            </a:r>
            <a:r>
              <a:rPr sz="3900" spc="-680" dirty="0"/>
              <a:t> </a:t>
            </a:r>
            <a:r>
              <a:rPr sz="3900" spc="50" dirty="0"/>
              <a:t>class</a:t>
            </a:r>
            <a:endParaRPr sz="39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7682" y="2114438"/>
            <a:ext cx="444119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20" dirty="0"/>
              <a:t>10 </a:t>
            </a:r>
            <a:r>
              <a:rPr sz="3900" spc="-5" dirty="0"/>
              <a:t>weeks </a:t>
            </a:r>
            <a:r>
              <a:rPr sz="3900" spc="30" dirty="0"/>
              <a:t>in </a:t>
            </a:r>
            <a:r>
              <a:rPr sz="3900" spc="20" dirty="0"/>
              <a:t>2</a:t>
            </a:r>
            <a:r>
              <a:rPr sz="3900" spc="-605" dirty="0"/>
              <a:t> </a:t>
            </a:r>
            <a:r>
              <a:rPr sz="3900" spc="30" dirty="0"/>
              <a:t>slides</a:t>
            </a:r>
            <a:endParaRPr sz="390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0478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30" dirty="0"/>
              <a:t>The</a:t>
            </a:r>
            <a:r>
              <a:rPr sz="2500" spc="-185" dirty="0"/>
              <a:t> </a:t>
            </a:r>
            <a:r>
              <a:rPr sz="2500" spc="-40" dirty="0"/>
              <a:t>Takeaway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60838"/>
            <a:ext cx="5414645" cy="19088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Human-agent</a:t>
            </a:r>
            <a:r>
              <a:rPr sz="1800" spc="-6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engineering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Focus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skills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yet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replaced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Business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understanding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Become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tech</a:t>
            </a:r>
            <a:r>
              <a:rPr sz="1400" spc="-1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lead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LLMs </a:t>
            </a: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are </a:t>
            </a:r>
            <a:r>
              <a:rPr sz="18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only </a:t>
            </a:r>
            <a:r>
              <a:rPr sz="18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as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800" spc="-36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as </a:t>
            </a:r>
            <a:r>
              <a:rPr sz="18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 </a:t>
            </a: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are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Good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context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leads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400" spc="-254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can’t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understand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your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codebase,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neither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LLM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736600" y="3105150"/>
            <a:ext cx="4072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LLM</a:t>
            </a:r>
            <a:r>
              <a:rPr lang="zh-CN" altLang="en-US" sz="1400"/>
              <a:t>的能力取决于你自身的水平</a:t>
            </a:r>
            <a:endParaRPr lang="zh-CN" altLang="en-US" sz="1400"/>
          </a:p>
          <a:p>
            <a:r>
              <a:rPr lang="zh-CN" altLang="en-US" sz="1400"/>
              <a:t>良好的上下文会产生优质的代码</a:t>
            </a:r>
            <a:endParaRPr lang="zh-CN" altLang="en-US" sz="1400"/>
          </a:p>
          <a:p>
            <a:r>
              <a:rPr lang="zh-CN" altLang="en-US" sz="1400"/>
              <a:t>如果你无法理解自己的代码库，</a:t>
            </a:r>
            <a:r>
              <a:rPr lang="en-US" altLang="zh-CN" sz="1400"/>
              <a:t>LLM</a:t>
            </a:r>
            <a:r>
              <a:rPr lang="zh-CN" altLang="en-US" sz="1400"/>
              <a:t>也同样做不到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5862955" y="1276350"/>
            <a:ext cx="3280410" cy="1091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ym typeface="+mn-ea"/>
              </a:rPr>
              <a:t>人工智能体工程：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专注于尚未被人工智能系统替代的技能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业务理解</a:t>
            </a:r>
            <a:endParaRPr lang="zh-CN" altLang="en-US" sz="1400"/>
          </a:p>
          <a:p>
            <a:r>
              <a:rPr lang="zh-CN" altLang="en-US" sz="1400">
                <a:sym typeface="+mn-ea"/>
              </a:rPr>
              <a:t>成为技术负责人</a:t>
            </a:r>
            <a:endParaRPr lang="zh-CN" altLang="en-US" sz="1400"/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0478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30" dirty="0"/>
              <a:t>The</a:t>
            </a:r>
            <a:r>
              <a:rPr sz="2500" spc="-185" dirty="0"/>
              <a:t> </a:t>
            </a:r>
            <a:r>
              <a:rPr sz="2500" spc="-40" dirty="0"/>
              <a:t>Takeaway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60838"/>
            <a:ext cx="7284084" cy="19088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7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Read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8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review </a:t>
            </a:r>
            <a:r>
              <a:rPr sz="1800" b="1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 lot </a:t>
            </a:r>
            <a:r>
              <a:rPr sz="1800" spc="7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800" spc="-1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Learn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discern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bad,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wrong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software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Have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400" spc="-6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taste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Experiment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aggressively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There are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no established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software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patterns</a:t>
            </a:r>
            <a:r>
              <a:rPr sz="1400" spc="-2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yet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Everyone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is </a:t>
            </a:r>
            <a:r>
              <a:rPr sz="140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still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ﬁguring </a:t>
            </a:r>
            <a:r>
              <a:rPr sz="1400" spc="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400" spc="-2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out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This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class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introduce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many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workﬂows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tools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ﬁgure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what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works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762000" y="3006725"/>
            <a:ext cx="384619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大量阅读并审查代码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学会辨别软件的好坏与对错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有良好的鉴赏能力</a:t>
            </a:r>
            <a:endParaRPr lang="zh-CN" altLang="en-US" sz="1600"/>
          </a:p>
          <a:p>
            <a:r>
              <a:rPr lang="zh-CN" altLang="en-US" sz="1600"/>
              <a:t>积极尝试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目前还没有成熟的软件模式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所有人仍在摸索中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本课程将介绍许多工作流程和工具</a:t>
            </a:r>
            <a:endParaRPr lang="zh-CN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4034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25" dirty="0"/>
              <a:t>Course</a:t>
            </a:r>
            <a:r>
              <a:rPr sz="2500" spc="-140" dirty="0"/>
              <a:t> </a:t>
            </a:r>
            <a:r>
              <a:rPr sz="2500" spc="45" dirty="0"/>
              <a:t>Logistics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60838"/>
            <a:ext cx="4677410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80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bit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about</a:t>
            </a:r>
            <a:r>
              <a:rPr sz="1800" spc="-19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me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Stanford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undergrad/grad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Head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stealth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startup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sales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space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Built </a:t>
            </a:r>
            <a:r>
              <a:rPr sz="140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ﬁrst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LLMs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400" spc="-2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Amazon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Alexa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Founded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sold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ML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education</a:t>
            </a:r>
            <a:r>
              <a:rPr sz="1400" spc="-26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startup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Founded a 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YC-backed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coding</a:t>
            </a:r>
            <a:r>
              <a:rPr sz="1400" spc="-1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company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awesome</a:t>
            </a:r>
            <a:r>
              <a:rPr sz="1800" spc="-1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8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CA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Febie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Lin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57675" y="1806425"/>
            <a:ext cx="572700" cy="572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5317" y="1806424"/>
            <a:ext cx="894659" cy="572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6850" y="1810500"/>
            <a:ext cx="572699" cy="5645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2621" y="2810550"/>
            <a:ext cx="375829" cy="4616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5347" y="2953088"/>
            <a:ext cx="267259" cy="28507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11" name="文本框 10"/>
          <p:cNvSpPr txBox="1"/>
          <p:nvPr/>
        </p:nvSpPr>
        <p:spPr>
          <a:xfrm>
            <a:off x="2990215" y="550545"/>
            <a:ext cx="357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课程安排，一些关于作者的介绍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4034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25" dirty="0"/>
              <a:t>Course</a:t>
            </a:r>
            <a:r>
              <a:rPr sz="2500" spc="-140" dirty="0"/>
              <a:t> </a:t>
            </a:r>
            <a:r>
              <a:rPr sz="2500" spc="45" dirty="0"/>
              <a:t>Logistics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265670" cy="324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lr>
                <a:srgbClr val="595959"/>
              </a:buClr>
              <a:buChar char="●"/>
              <a:tabLst>
                <a:tab pos="379095" algn="l"/>
                <a:tab pos="379730" algn="l"/>
              </a:tabLst>
            </a:pPr>
            <a:r>
              <a:rPr sz="1800" u="heavy" spc="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 panose="020B0604020202020204"/>
                <a:cs typeface="Arial" panose="020B0604020202020204"/>
              </a:rPr>
              <a:t>https://themodernsoftware.dev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10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Lectures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12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Mon/Fri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8:30-9:20</a:t>
            </a:r>
            <a:r>
              <a:rPr sz="1400" spc="-114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am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Deliverables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12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9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assignments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(1x/week)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focusing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lecture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material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practice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93495" lvl="2" indent="-336550">
              <a:lnSpc>
                <a:spcPct val="100000"/>
              </a:lnSpc>
              <a:spcBef>
                <a:spcPts val="85"/>
              </a:spcBef>
              <a:buClr>
                <a:srgbClr val="595959"/>
              </a:buClr>
              <a:buChar char="■"/>
              <a:tabLst>
                <a:tab pos="1293495" algn="l"/>
                <a:tab pos="1294130" algn="l"/>
              </a:tabLst>
            </a:pPr>
            <a:r>
              <a:rPr sz="1400" u="heavy" spc="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 panose="020B0604020202020204"/>
                <a:cs typeface="Arial" panose="020B0604020202020204"/>
              </a:rPr>
              <a:t>https://github.com/mihail911/modern-software-dev-assignments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ﬁnal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open-ended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project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which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you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exercise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coding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principles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cover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Grading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12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80/15/5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breakdown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400" spc="-1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project/assignments/participation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Something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pretty</a:t>
            </a:r>
            <a:r>
              <a:rPr sz="1800" spc="-1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awesome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12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Guest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lectures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from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founders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leading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developer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startups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today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$100s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millions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raised,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billions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valuation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Don’t </a:t>
            </a:r>
            <a:r>
              <a:rPr sz="140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miss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these</a:t>
            </a:r>
            <a:r>
              <a:rPr sz="1400" spc="-1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talks!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905" y="1788718"/>
            <a:ext cx="5293995" cy="107442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168400" marR="5080" indent="-1156335">
              <a:lnSpc>
                <a:spcPts val="4130"/>
              </a:lnSpc>
              <a:spcBef>
                <a:spcPts val="235"/>
              </a:spcBef>
            </a:pPr>
            <a:r>
              <a:rPr sz="3450" spc="25" dirty="0"/>
              <a:t>How </a:t>
            </a:r>
            <a:r>
              <a:rPr sz="3450" spc="5" dirty="0"/>
              <a:t>LLMs </a:t>
            </a:r>
            <a:r>
              <a:rPr sz="3450" spc="-50" dirty="0"/>
              <a:t>Work </a:t>
            </a:r>
            <a:r>
              <a:rPr sz="3450" spc="20" dirty="0"/>
              <a:t>in </a:t>
            </a:r>
            <a:r>
              <a:rPr sz="3450" spc="10" dirty="0"/>
              <a:t>5</a:t>
            </a:r>
            <a:r>
              <a:rPr sz="3450" spc="-595" dirty="0"/>
              <a:t> </a:t>
            </a:r>
            <a:r>
              <a:rPr sz="3450" spc="-35" dirty="0"/>
              <a:t>Slides  </a:t>
            </a:r>
            <a:r>
              <a:rPr sz="3450" spc="-45" dirty="0"/>
              <a:t>(For</a:t>
            </a:r>
            <a:r>
              <a:rPr sz="3450" spc="-120" dirty="0"/>
              <a:t> </a:t>
            </a:r>
            <a:r>
              <a:rPr sz="3450" spc="-45" dirty="0"/>
              <a:t>Engineers)</a:t>
            </a:r>
            <a:endParaRPr sz="345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2848"/>
            <a:ext cx="9747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Basics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139833"/>
            <a:ext cx="767334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5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LLMs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(large </a:t>
            </a:r>
            <a:r>
              <a:rPr sz="18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language </a:t>
            </a:r>
            <a:r>
              <a:rPr sz="18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models) </a:t>
            </a:r>
            <a:r>
              <a:rPr sz="180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are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autoregressive </a:t>
            </a:r>
            <a:r>
              <a:rPr sz="18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models </a:t>
            </a:r>
            <a:r>
              <a:rPr sz="1800" spc="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800" spc="-3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next-token  </a:t>
            </a:r>
            <a:r>
              <a:rPr sz="18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prediction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71725" y="2350637"/>
            <a:ext cx="3581399" cy="600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870" y="3851623"/>
            <a:ext cx="8993599" cy="23824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431871" y="3134274"/>
            <a:ext cx="123189" cy="554355"/>
            <a:chOff x="4431871" y="3134274"/>
            <a:chExt cx="123189" cy="554355"/>
          </a:xfrm>
        </p:grpSpPr>
        <p:sp>
          <p:nvSpPr>
            <p:cNvPr id="8" name="object 8"/>
            <p:cNvSpPr/>
            <p:nvPr/>
          </p:nvSpPr>
          <p:spPr>
            <a:xfrm>
              <a:off x="4487699" y="3148562"/>
              <a:ext cx="5715" cy="396240"/>
            </a:xfrm>
            <a:custGeom>
              <a:avLst/>
              <a:gdLst/>
              <a:ahLst/>
              <a:cxnLst/>
              <a:rect l="l" t="t" r="r" b="b"/>
              <a:pathLst>
                <a:path w="5714" h="396239">
                  <a:moveTo>
                    <a:pt x="0" y="0"/>
                  </a:moveTo>
                  <a:lnTo>
                    <a:pt x="5652" y="395867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31871" y="3529468"/>
              <a:ext cx="122961" cy="158911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11" name="文本框 10"/>
          <p:cNvSpPr txBox="1"/>
          <p:nvPr/>
        </p:nvSpPr>
        <p:spPr>
          <a:xfrm>
            <a:off x="762000" y="1784985"/>
            <a:ext cx="620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LLM</a:t>
            </a:r>
            <a:r>
              <a:rPr lang="zh-CN" altLang="en-US"/>
              <a:t>（大型语言模型）是用于下一个</a:t>
            </a:r>
            <a:r>
              <a:rPr lang="en-US" altLang="zh-CN"/>
              <a:t>token</a:t>
            </a:r>
            <a:r>
              <a:rPr lang="zh-CN" altLang="en-US"/>
              <a:t>预测的自回归模型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2848"/>
            <a:ext cx="9747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0" dirty="0"/>
              <a:t>Basics</a:t>
            </a:r>
            <a:endParaRPr sz="2500"/>
          </a:p>
        </p:txBody>
      </p:sp>
      <p:sp>
        <p:nvSpPr>
          <p:cNvPr id="3" name="object 3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002375" y="4146587"/>
            <a:ext cx="702310" cy="3022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70"/>
              </a:spcBef>
            </a:pPr>
            <a:r>
              <a:rPr sz="12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1575" y="4146587"/>
            <a:ext cx="702310" cy="3022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30505">
              <a:lnSpc>
                <a:spcPct val="100000"/>
              </a:lnSpc>
              <a:spcBef>
                <a:spcPts val="370"/>
              </a:spcBef>
            </a:pPr>
            <a:r>
              <a:rPr sz="120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0775" y="4146587"/>
            <a:ext cx="702310" cy="3022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495"/>
              </a:spcBef>
            </a:pPr>
            <a:r>
              <a:rPr sz="12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loop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9975" y="4146587"/>
            <a:ext cx="702310" cy="3022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495"/>
              </a:spcBef>
            </a:pPr>
            <a:r>
              <a:rPr sz="120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43587" y="3303337"/>
            <a:ext cx="4841240" cy="406400"/>
            <a:chOff x="1743587" y="3303337"/>
            <a:chExt cx="4841240" cy="406400"/>
          </a:xfrm>
        </p:grpSpPr>
        <p:sp>
          <p:nvSpPr>
            <p:cNvPr id="9" name="object 9"/>
            <p:cNvSpPr/>
            <p:nvPr/>
          </p:nvSpPr>
          <p:spPr>
            <a:xfrm>
              <a:off x="1748350" y="3308100"/>
              <a:ext cx="4831715" cy="396875"/>
            </a:xfrm>
            <a:custGeom>
              <a:avLst/>
              <a:gdLst/>
              <a:ahLst/>
              <a:cxnLst/>
              <a:rect l="l" t="t" r="r" b="b"/>
              <a:pathLst>
                <a:path w="4831715" h="396875">
                  <a:moveTo>
                    <a:pt x="4765448" y="396299"/>
                  </a:moveTo>
                  <a:lnTo>
                    <a:pt x="66051" y="396299"/>
                  </a:lnTo>
                  <a:lnTo>
                    <a:pt x="40341" y="391109"/>
                  </a:lnTo>
                  <a:lnTo>
                    <a:pt x="19346" y="376953"/>
                  </a:lnTo>
                  <a:lnTo>
                    <a:pt x="5190" y="355958"/>
                  </a:lnTo>
                  <a:lnTo>
                    <a:pt x="0" y="330248"/>
                  </a:lnTo>
                  <a:lnTo>
                    <a:pt x="0" y="66051"/>
                  </a:lnTo>
                  <a:lnTo>
                    <a:pt x="5190" y="40341"/>
                  </a:lnTo>
                  <a:lnTo>
                    <a:pt x="19346" y="19345"/>
                  </a:lnTo>
                  <a:lnTo>
                    <a:pt x="40341" y="5190"/>
                  </a:lnTo>
                  <a:lnTo>
                    <a:pt x="66051" y="0"/>
                  </a:lnTo>
                  <a:lnTo>
                    <a:pt x="4765448" y="0"/>
                  </a:lnTo>
                  <a:lnTo>
                    <a:pt x="4802093" y="11097"/>
                  </a:lnTo>
                  <a:lnTo>
                    <a:pt x="4826472" y="40774"/>
                  </a:lnTo>
                  <a:lnTo>
                    <a:pt x="4831499" y="66051"/>
                  </a:lnTo>
                  <a:lnTo>
                    <a:pt x="4831499" y="330248"/>
                  </a:lnTo>
                  <a:lnTo>
                    <a:pt x="4826309" y="355958"/>
                  </a:lnTo>
                  <a:lnTo>
                    <a:pt x="4812153" y="376953"/>
                  </a:lnTo>
                  <a:lnTo>
                    <a:pt x="4791158" y="391109"/>
                  </a:lnTo>
                  <a:lnTo>
                    <a:pt x="4765448" y="39629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48350" y="3308100"/>
              <a:ext cx="4831715" cy="396875"/>
            </a:xfrm>
            <a:custGeom>
              <a:avLst/>
              <a:gdLst/>
              <a:ahLst/>
              <a:cxnLst/>
              <a:rect l="l" t="t" r="r" b="b"/>
              <a:pathLst>
                <a:path w="4831715" h="396875">
                  <a:moveTo>
                    <a:pt x="0" y="66051"/>
                  </a:moveTo>
                  <a:lnTo>
                    <a:pt x="5190" y="40341"/>
                  </a:lnTo>
                  <a:lnTo>
                    <a:pt x="19346" y="19345"/>
                  </a:lnTo>
                  <a:lnTo>
                    <a:pt x="40341" y="5190"/>
                  </a:lnTo>
                  <a:lnTo>
                    <a:pt x="66051" y="0"/>
                  </a:lnTo>
                  <a:lnTo>
                    <a:pt x="4765448" y="0"/>
                  </a:lnTo>
                  <a:lnTo>
                    <a:pt x="4802093" y="11097"/>
                  </a:lnTo>
                  <a:lnTo>
                    <a:pt x="4826472" y="40774"/>
                  </a:lnTo>
                  <a:lnTo>
                    <a:pt x="4831499" y="66051"/>
                  </a:lnTo>
                  <a:lnTo>
                    <a:pt x="4831499" y="330248"/>
                  </a:lnTo>
                  <a:lnTo>
                    <a:pt x="4826309" y="355958"/>
                  </a:lnTo>
                  <a:lnTo>
                    <a:pt x="4812153" y="376953"/>
                  </a:lnTo>
                  <a:lnTo>
                    <a:pt x="4791158" y="391109"/>
                  </a:lnTo>
                  <a:lnTo>
                    <a:pt x="4765448" y="396299"/>
                  </a:lnTo>
                  <a:lnTo>
                    <a:pt x="66051" y="396299"/>
                  </a:lnTo>
                  <a:lnTo>
                    <a:pt x="40341" y="391109"/>
                  </a:lnTo>
                  <a:lnTo>
                    <a:pt x="19346" y="376953"/>
                  </a:lnTo>
                  <a:lnTo>
                    <a:pt x="5190" y="355958"/>
                  </a:lnTo>
                  <a:lnTo>
                    <a:pt x="0" y="330248"/>
                  </a:lnTo>
                  <a:lnTo>
                    <a:pt x="0" y="660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2347004" y="3768374"/>
            <a:ext cx="41275" cy="274320"/>
            <a:chOff x="2347004" y="3768374"/>
            <a:chExt cx="41275" cy="274320"/>
          </a:xfrm>
        </p:grpSpPr>
        <p:sp>
          <p:nvSpPr>
            <p:cNvPr id="12" name="object 12"/>
            <p:cNvSpPr/>
            <p:nvPr/>
          </p:nvSpPr>
          <p:spPr>
            <a:xfrm>
              <a:off x="2367500" y="3816362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225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51767" y="37731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51767" y="37731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566204" y="3768374"/>
            <a:ext cx="41275" cy="274320"/>
            <a:chOff x="3566204" y="3768374"/>
            <a:chExt cx="41275" cy="274320"/>
          </a:xfrm>
        </p:grpSpPr>
        <p:sp>
          <p:nvSpPr>
            <p:cNvPr id="16" name="object 16"/>
            <p:cNvSpPr/>
            <p:nvPr/>
          </p:nvSpPr>
          <p:spPr>
            <a:xfrm>
              <a:off x="3586700" y="3816362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225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70967" y="37731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70967" y="37731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785404" y="3776436"/>
            <a:ext cx="41275" cy="274320"/>
            <a:chOff x="4785404" y="3776436"/>
            <a:chExt cx="41275" cy="274320"/>
          </a:xfrm>
        </p:grpSpPr>
        <p:sp>
          <p:nvSpPr>
            <p:cNvPr id="20" name="object 20"/>
            <p:cNvSpPr/>
            <p:nvPr/>
          </p:nvSpPr>
          <p:spPr>
            <a:xfrm>
              <a:off x="4805900" y="3824424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225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790167" y="3781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90167" y="378119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6004604" y="3768374"/>
            <a:ext cx="41275" cy="274320"/>
            <a:chOff x="6004604" y="3768374"/>
            <a:chExt cx="41275" cy="274320"/>
          </a:xfrm>
        </p:grpSpPr>
        <p:sp>
          <p:nvSpPr>
            <p:cNvPr id="24" name="object 24"/>
            <p:cNvSpPr/>
            <p:nvPr/>
          </p:nvSpPr>
          <p:spPr>
            <a:xfrm>
              <a:off x="6025100" y="3816362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2257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009367" y="37731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09367" y="37731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578624" y="3371463"/>
            <a:ext cx="13379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Embedding</a:t>
            </a:r>
            <a:r>
              <a:rPr sz="1400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layer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43587" y="1680395"/>
            <a:ext cx="4841240" cy="1466215"/>
            <a:chOff x="1743587" y="1680395"/>
            <a:chExt cx="4841240" cy="1466215"/>
          </a:xfrm>
        </p:grpSpPr>
        <p:sp>
          <p:nvSpPr>
            <p:cNvPr id="29" name="object 29"/>
            <p:cNvSpPr/>
            <p:nvPr/>
          </p:nvSpPr>
          <p:spPr>
            <a:xfrm>
              <a:off x="1748350" y="1719328"/>
              <a:ext cx="4831715" cy="995044"/>
            </a:xfrm>
            <a:custGeom>
              <a:avLst/>
              <a:gdLst/>
              <a:ahLst/>
              <a:cxnLst/>
              <a:rect l="l" t="t" r="r" b="b"/>
              <a:pathLst>
                <a:path w="4831715" h="995044">
                  <a:moveTo>
                    <a:pt x="4665746" y="994499"/>
                  </a:moveTo>
                  <a:lnTo>
                    <a:pt x="165753" y="994499"/>
                  </a:lnTo>
                  <a:lnTo>
                    <a:pt x="121689" y="988579"/>
                  </a:lnTo>
                  <a:lnTo>
                    <a:pt x="82094" y="971869"/>
                  </a:lnTo>
                  <a:lnTo>
                    <a:pt x="48548" y="945952"/>
                  </a:lnTo>
                  <a:lnTo>
                    <a:pt x="22630" y="912405"/>
                  </a:lnTo>
                  <a:lnTo>
                    <a:pt x="5920" y="872810"/>
                  </a:lnTo>
                  <a:lnTo>
                    <a:pt x="0" y="828746"/>
                  </a:lnTo>
                  <a:lnTo>
                    <a:pt x="0" y="165753"/>
                  </a:lnTo>
                  <a:lnTo>
                    <a:pt x="5920" y="121689"/>
                  </a:lnTo>
                  <a:lnTo>
                    <a:pt x="22630" y="82094"/>
                  </a:lnTo>
                  <a:lnTo>
                    <a:pt x="48548" y="48548"/>
                  </a:lnTo>
                  <a:lnTo>
                    <a:pt x="82094" y="22630"/>
                  </a:lnTo>
                  <a:lnTo>
                    <a:pt x="121689" y="5920"/>
                  </a:lnTo>
                  <a:lnTo>
                    <a:pt x="165753" y="0"/>
                  </a:lnTo>
                  <a:lnTo>
                    <a:pt x="4665746" y="0"/>
                  </a:lnTo>
                  <a:lnTo>
                    <a:pt x="4729177" y="12617"/>
                  </a:lnTo>
                  <a:lnTo>
                    <a:pt x="4782951" y="48548"/>
                  </a:lnTo>
                  <a:lnTo>
                    <a:pt x="4818882" y="102322"/>
                  </a:lnTo>
                  <a:lnTo>
                    <a:pt x="4831499" y="165753"/>
                  </a:lnTo>
                  <a:lnTo>
                    <a:pt x="4831499" y="828746"/>
                  </a:lnTo>
                  <a:lnTo>
                    <a:pt x="4825579" y="872810"/>
                  </a:lnTo>
                  <a:lnTo>
                    <a:pt x="4808869" y="912405"/>
                  </a:lnTo>
                  <a:lnTo>
                    <a:pt x="4782952" y="945952"/>
                  </a:lnTo>
                  <a:lnTo>
                    <a:pt x="4749405" y="971869"/>
                  </a:lnTo>
                  <a:lnTo>
                    <a:pt x="4709810" y="988579"/>
                  </a:lnTo>
                  <a:lnTo>
                    <a:pt x="4665746" y="9944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748350" y="1719328"/>
              <a:ext cx="4831715" cy="1415415"/>
            </a:xfrm>
            <a:custGeom>
              <a:avLst/>
              <a:gdLst/>
              <a:ahLst/>
              <a:cxnLst/>
              <a:rect l="l" t="t" r="r" b="b"/>
              <a:pathLst>
                <a:path w="4831715" h="1415414">
                  <a:moveTo>
                    <a:pt x="0" y="165753"/>
                  </a:moveTo>
                  <a:lnTo>
                    <a:pt x="5920" y="121689"/>
                  </a:lnTo>
                  <a:lnTo>
                    <a:pt x="22630" y="82094"/>
                  </a:lnTo>
                  <a:lnTo>
                    <a:pt x="48548" y="48548"/>
                  </a:lnTo>
                  <a:lnTo>
                    <a:pt x="82094" y="22630"/>
                  </a:lnTo>
                  <a:lnTo>
                    <a:pt x="121689" y="5920"/>
                  </a:lnTo>
                  <a:lnTo>
                    <a:pt x="165753" y="0"/>
                  </a:lnTo>
                  <a:lnTo>
                    <a:pt x="4665746" y="0"/>
                  </a:lnTo>
                  <a:lnTo>
                    <a:pt x="4729177" y="12617"/>
                  </a:lnTo>
                  <a:lnTo>
                    <a:pt x="4782951" y="48548"/>
                  </a:lnTo>
                  <a:lnTo>
                    <a:pt x="4818882" y="102322"/>
                  </a:lnTo>
                  <a:lnTo>
                    <a:pt x="4831499" y="165753"/>
                  </a:lnTo>
                  <a:lnTo>
                    <a:pt x="4831499" y="828746"/>
                  </a:lnTo>
                  <a:lnTo>
                    <a:pt x="4825579" y="872810"/>
                  </a:lnTo>
                  <a:lnTo>
                    <a:pt x="4808869" y="912405"/>
                  </a:lnTo>
                  <a:lnTo>
                    <a:pt x="4782952" y="945952"/>
                  </a:lnTo>
                  <a:lnTo>
                    <a:pt x="4749405" y="971869"/>
                  </a:lnTo>
                  <a:lnTo>
                    <a:pt x="4709810" y="988579"/>
                  </a:lnTo>
                  <a:lnTo>
                    <a:pt x="4665746" y="994499"/>
                  </a:lnTo>
                  <a:lnTo>
                    <a:pt x="165753" y="994499"/>
                  </a:lnTo>
                  <a:lnTo>
                    <a:pt x="121689" y="988579"/>
                  </a:lnTo>
                  <a:lnTo>
                    <a:pt x="82094" y="971869"/>
                  </a:lnTo>
                  <a:lnTo>
                    <a:pt x="48548" y="945952"/>
                  </a:lnTo>
                  <a:lnTo>
                    <a:pt x="22630" y="912405"/>
                  </a:lnTo>
                  <a:lnTo>
                    <a:pt x="5920" y="872810"/>
                  </a:lnTo>
                  <a:lnTo>
                    <a:pt x="0" y="828746"/>
                  </a:lnTo>
                  <a:lnTo>
                    <a:pt x="0" y="165753"/>
                  </a:lnTo>
                  <a:close/>
                </a:path>
                <a:path w="4831715" h="1415414">
                  <a:moveTo>
                    <a:pt x="605174" y="1415032"/>
                  </a:moveTo>
                  <a:lnTo>
                    <a:pt x="605174" y="81908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337792" y="249518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37792" y="249518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586700" y="253691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h="596264">
                  <a:moveTo>
                    <a:pt x="0" y="595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570967" y="249368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570967" y="249368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791925" y="2536897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h="596264">
                  <a:moveTo>
                    <a:pt x="0" y="595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776192" y="249367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776192" y="249367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043749" y="2536910"/>
              <a:ext cx="0" cy="596265"/>
            </a:xfrm>
            <a:custGeom>
              <a:avLst/>
              <a:gdLst/>
              <a:ahLst/>
              <a:cxnLst/>
              <a:rect l="l" t="t" r="r" b="b"/>
              <a:pathLst>
                <a:path h="596264">
                  <a:moveTo>
                    <a:pt x="0" y="5959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028017" y="249368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028017" y="249368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30225" y="2132999"/>
              <a:ext cx="246599" cy="24659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230225" y="213299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299"/>
                  </a:moveTo>
                  <a:lnTo>
                    <a:pt x="9689" y="75306"/>
                  </a:lnTo>
                  <a:lnTo>
                    <a:pt x="36113" y="36113"/>
                  </a:lnTo>
                  <a:lnTo>
                    <a:pt x="75306" y="9689"/>
                  </a:lnTo>
                  <a:lnTo>
                    <a:pt x="123299" y="0"/>
                  </a:lnTo>
                  <a:lnTo>
                    <a:pt x="170484" y="9385"/>
                  </a:lnTo>
                  <a:lnTo>
                    <a:pt x="210486" y="36113"/>
                  </a:lnTo>
                  <a:lnTo>
                    <a:pt x="237214" y="76115"/>
                  </a:lnTo>
                  <a:lnTo>
                    <a:pt x="246599" y="123299"/>
                  </a:lnTo>
                  <a:lnTo>
                    <a:pt x="236910" y="171293"/>
                  </a:lnTo>
                  <a:lnTo>
                    <a:pt x="210486" y="210486"/>
                  </a:lnTo>
                  <a:lnTo>
                    <a:pt x="171293" y="236910"/>
                  </a:lnTo>
                  <a:lnTo>
                    <a:pt x="123299" y="246599"/>
                  </a:lnTo>
                  <a:lnTo>
                    <a:pt x="75306" y="236910"/>
                  </a:lnTo>
                  <a:lnTo>
                    <a:pt x="36113" y="210486"/>
                  </a:lnTo>
                  <a:lnTo>
                    <a:pt x="9689" y="171293"/>
                  </a:lnTo>
                  <a:lnTo>
                    <a:pt x="0" y="1232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63400" y="2118449"/>
              <a:ext cx="246599" cy="24659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463400" y="211844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299"/>
                  </a:moveTo>
                  <a:lnTo>
                    <a:pt x="9689" y="75306"/>
                  </a:lnTo>
                  <a:lnTo>
                    <a:pt x="36113" y="36113"/>
                  </a:lnTo>
                  <a:lnTo>
                    <a:pt x="75305" y="9689"/>
                  </a:lnTo>
                  <a:lnTo>
                    <a:pt x="123299" y="0"/>
                  </a:lnTo>
                  <a:lnTo>
                    <a:pt x="170484" y="9385"/>
                  </a:lnTo>
                  <a:lnTo>
                    <a:pt x="210486" y="36113"/>
                  </a:lnTo>
                  <a:lnTo>
                    <a:pt x="237214" y="76115"/>
                  </a:lnTo>
                  <a:lnTo>
                    <a:pt x="246599" y="123299"/>
                  </a:lnTo>
                  <a:lnTo>
                    <a:pt x="236910" y="171293"/>
                  </a:lnTo>
                  <a:lnTo>
                    <a:pt x="210486" y="210486"/>
                  </a:lnTo>
                  <a:lnTo>
                    <a:pt x="171294" y="236910"/>
                  </a:lnTo>
                  <a:lnTo>
                    <a:pt x="123299" y="246599"/>
                  </a:lnTo>
                  <a:lnTo>
                    <a:pt x="75305" y="236910"/>
                  </a:lnTo>
                  <a:lnTo>
                    <a:pt x="36113" y="210486"/>
                  </a:lnTo>
                  <a:lnTo>
                    <a:pt x="9689" y="171293"/>
                  </a:lnTo>
                  <a:lnTo>
                    <a:pt x="0" y="1232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8625" y="2131849"/>
              <a:ext cx="246599" cy="24659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68625" y="2131849"/>
              <a:ext cx="247015" cy="247015"/>
            </a:xfrm>
            <a:custGeom>
              <a:avLst/>
              <a:gdLst/>
              <a:ahLst/>
              <a:cxnLst/>
              <a:rect l="l" t="t" r="r" b="b"/>
              <a:pathLst>
                <a:path w="247014" h="247014">
                  <a:moveTo>
                    <a:pt x="0" y="123299"/>
                  </a:moveTo>
                  <a:lnTo>
                    <a:pt x="9689" y="75306"/>
                  </a:lnTo>
                  <a:lnTo>
                    <a:pt x="36113" y="36113"/>
                  </a:lnTo>
                  <a:lnTo>
                    <a:pt x="75305" y="9689"/>
                  </a:lnTo>
                  <a:lnTo>
                    <a:pt x="123299" y="0"/>
                  </a:lnTo>
                  <a:lnTo>
                    <a:pt x="170484" y="9385"/>
                  </a:lnTo>
                  <a:lnTo>
                    <a:pt x="210486" y="36113"/>
                  </a:lnTo>
                  <a:lnTo>
                    <a:pt x="237214" y="76115"/>
                  </a:lnTo>
                  <a:lnTo>
                    <a:pt x="246599" y="123299"/>
                  </a:lnTo>
                  <a:lnTo>
                    <a:pt x="236910" y="171293"/>
                  </a:lnTo>
                  <a:lnTo>
                    <a:pt x="210486" y="210486"/>
                  </a:lnTo>
                  <a:lnTo>
                    <a:pt x="171294" y="236910"/>
                  </a:lnTo>
                  <a:lnTo>
                    <a:pt x="123299" y="246599"/>
                  </a:lnTo>
                  <a:lnTo>
                    <a:pt x="75305" y="236910"/>
                  </a:lnTo>
                  <a:lnTo>
                    <a:pt x="36113" y="210486"/>
                  </a:lnTo>
                  <a:lnTo>
                    <a:pt x="9689" y="171293"/>
                  </a:lnTo>
                  <a:lnTo>
                    <a:pt x="0" y="1232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01800" y="2132999"/>
              <a:ext cx="246599" cy="24659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350475" y="2132999"/>
              <a:ext cx="3797935" cy="1001394"/>
            </a:xfrm>
            <a:custGeom>
              <a:avLst/>
              <a:gdLst/>
              <a:ahLst/>
              <a:cxnLst/>
              <a:rect l="l" t="t" r="r" b="b"/>
              <a:pathLst>
                <a:path w="3797935" h="1001394">
                  <a:moveTo>
                    <a:pt x="3551324" y="123299"/>
                  </a:moveTo>
                  <a:lnTo>
                    <a:pt x="3561014" y="75306"/>
                  </a:lnTo>
                  <a:lnTo>
                    <a:pt x="3587438" y="36113"/>
                  </a:lnTo>
                  <a:lnTo>
                    <a:pt x="3626630" y="9689"/>
                  </a:lnTo>
                  <a:lnTo>
                    <a:pt x="3674624" y="0"/>
                  </a:lnTo>
                  <a:lnTo>
                    <a:pt x="3721809" y="9385"/>
                  </a:lnTo>
                  <a:lnTo>
                    <a:pt x="3761811" y="36113"/>
                  </a:lnTo>
                  <a:lnTo>
                    <a:pt x="3788539" y="76115"/>
                  </a:lnTo>
                  <a:lnTo>
                    <a:pt x="3797924" y="123299"/>
                  </a:lnTo>
                  <a:lnTo>
                    <a:pt x="3788235" y="171293"/>
                  </a:lnTo>
                  <a:lnTo>
                    <a:pt x="3761811" y="210486"/>
                  </a:lnTo>
                  <a:lnTo>
                    <a:pt x="3722619" y="236910"/>
                  </a:lnTo>
                  <a:lnTo>
                    <a:pt x="3674624" y="246599"/>
                  </a:lnTo>
                  <a:lnTo>
                    <a:pt x="3626630" y="236910"/>
                  </a:lnTo>
                  <a:lnTo>
                    <a:pt x="3587438" y="210486"/>
                  </a:lnTo>
                  <a:lnTo>
                    <a:pt x="3561014" y="171293"/>
                  </a:lnTo>
                  <a:lnTo>
                    <a:pt x="3551324" y="123299"/>
                  </a:lnTo>
                  <a:close/>
                </a:path>
                <a:path w="3797935" h="1001394">
                  <a:moveTo>
                    <a:pt x="0" y="1000974"/>
                  </a:moveTo>
                  <a:lnTo>
                    <a:pt x="1146447" y="39643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89584" y="2509269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14676" y="34078"/>
                  </a:moveTo>
                  <a:lnTo>
                    <a:pt x="0" y="6245"/>
                  </a:lnTo>
                  <a:lnTo>
                    <a:pt x="45573" y="0"/>
                  </a:lnTo>
                  <a:lnTo>
                    <a:pt x="14676" y="3407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489584" y="2509269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14676" y="34078"/>
                  </a:moveTo>
                  <a:lnTo>
                    <a:pt x="45573" y="0"/>
                  </a:lnTo>
                  <a:lnTo>
                    <a:pt x="0" y="6245"/>
                  </a:lnTo>
                  <a:lnTo>
                    <a:pt x="14676" y="3407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365000" y="2538603"/>
              <a:ext cx="2331720" cy="588645"/>
            </a:xfrm>
            <a:custGeom>
              <a:avLst/>
              <a:gdLst/>
              <a:ahLst/>
              <a:cxnLst/>
              <a:rect l="l" t="t" r="r" b="b"/>
              <a:pathLst>
                <a:path w="2331720" h="588644">
                  <a:moveTo>
                    <a:pt x="0" y="588120"/>
                  </a:moveTo>
                  <a:lnTo>
                    <a:pt x="2331385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692537" y="252334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7696" y="30509"/>
                  </a:moveTo>
                  <a:lnTo>
                    <a:pt x="0" y="0"/>
                  </a:lnTo>
                  <a:lnTo>
                    <a:pt x="45760" y="4681"/>
                  </a:lnTo>
                  <a:lnTo>
                    <a:pt x="7696" y="3050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692537" y="2523348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7696" y="30509"/>
                  </a:moveTo>
                  <a:lnTo>
                    <a:pt x="45760" y="4681"/>
                  </a:lnTo>
                  <a:lnTo>
                    <a:pt x="0" y="0"/>
                  </a:lnTo>
                  <a:lnTo>
                    <a:pt x="7696" y="3050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365000" y="2526895"/>
              <a:ext cx="3578225" cy="614680"/>
            </a:xfrm>
            <a:custGeom>
              <a:avLst/>
              <a:gdLst/>
              <a:ahLst/>
              <a:cxnLst/>
              <a:rect l="l" t="t" r="r" b="b"/>
              <a:pathLst>
                <a:path w="3578225" h="614680">
                  <a:moveTo>
                    <a:pt x="0" y="614329"/>
                  </a:moveTo>
                  <a:lnTo>
                    <a:pt x="357817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940512" y="251138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324" y="31011"/>
                  </a:moveTo>
                  <a:lnTo>
                    <a:pt x="0" y="0"/>
                  </a:lnTo>
                  <a:lnTo>
                    <a:pt x="45264" y="8191"/>
                  </a:lnTo>
                  <a:lnTo>
                    <a:pt x="5324" y="3101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940512" y="251138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324" y="31011"/>
                  </a:moveTo>
                  <a:lnTo>
                    <a:pt x="45264" y="8191"/>
                  </a:lnTo>
                  <a:lnTo>
                    <a:pt x="0" y="0"/>
                  </a:lnTo>
                  <a:lnTo>
                    <a:pt x="5324" y="3101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598275" y="2585472"/>
              <a:ext cx="1102360" cy="527050"/>
            </a:xfrm>
            <a:custGeom>
              <a:avLst/>
              <a:gdLst/>
              <a:ahLst/>
              <a:cxnLst/>
              <a:rect l="l" t="t" r="r" b="b"/>
              <a:pathLst>
                <a:path w="1102360" h="527050">
                  <a:moveTo>
                    <a:pt x="0" y="526752"/>
                  </a:moveTo>
                  <a:lnTo>
                    <a:pt x="110193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693428" y="2566830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19">
                  <a:moveTo>
                    <a:pt x="13570" y="32836"/>
                  </a:moveTo>
                  <a:lnTo>
                    <a:pt x="0" y="4447"/>
                  </a:lnTo>
                  <a:lnTo>
                    <a:pt x="45783" y="0"/>
                  </a:lnTo>
                  <a:lnTo>
                    <a:pt x="13570" y="328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693428" y="2566830"/>
              <a:ext cx="46355" cy="33020"/>
            </a:xfrm>
            <a:custGeom>
              <a:avLst/>
              <a:gdLst/>
              <a:ahLst/>
              <a:cxnLst/>
              <a:rect l="l" t="t" r="r" b="b"/>
              <a:pathLst>
                <a:path w="46354" h="33019">
                  <a:moveTo>
                    <a:pt x="13570" y="32836"/>
                  </a:moveTo>
                  <a:lnTo>
                    <a:pt x="45783" y="0"/>
                  </a:lnTo>
                  <a:lnTo>
                    <a:pt x="0" y="4447"/>
                  </a:lnTo>
                  <a:lnTo>
                    <a:pt x="13570" y="3283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605525" y="2559808"/>
              <a:ext cx="2317115" cy="567055"/>
            </a:xfrm>
            <a:custGeom>
              <a:avLst/>
              <a:gdLst/>
              <a:ahLst/>
              <a:cxnLst/>
              <a:rect l="l" t="t" r="r" b="b"/>
              <a:pathLst>
                <a:path w="2317115" h="567055">
                  <a:moveTo>
                    <a:pt x="0" y="566916"/>
                  </a:moveTo>
                  <a:lnTo>
                    <a:pt x="231688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918673" y="254452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7478" y="30563"/>
                  </a:moveTo>
                  <a:lnTo>
                    <a:pt x="0" y="0"/>
                  </a:lnTo>
                  <a:lnTo>
                    <a:pt x="45725" y="5008"/>
                  </a:lnTo>
                  <a:lnTo>
                    <a:pt x="7478" y="3056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918673" y="2544526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7478" y="30563"/>
                  </a:moveTo>
                  <a:lnTo>
                    <a:pt x="45725" y="5008"/>
                  </a:lnTo>
                  <a:lnTo>
                    <a:pt x="0" y="0"/>
                  </a:lnTo>
                  <a:lnTo>
                    <a:pt x="7478" y="305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788024" y="2591868"/>
              <a:ext cx="1152525" cy="527685"/>
            </a:xfrm>
            <a:custGeom>
              <a:avLst/>
              <a:gdLst/>
              <a:ahLst/>
              <a:cxnLst/>
              <a:rect l="l" t="t" r="r" b="b"/>
              <a:pathLst>
                <a:path w="1152525" h="527685">
                  <a:moveTo>
                    <a:pt x="0" y="527606"/>
                  </a:moveTo>
                  <a:lnTo>
                    <a:pt x="115223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933713" y="2573872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13099" y="32300"/>
                  </a:moveTo>
                  <a:lnTo>
                    <a:pt x="0" y="3691"/>
                  </a:lnTo>
                  <a:lnTo>
                    <a:pt x="45851" y="0"/>
                  </a:lnTo>
                  <a:lnTo>
                    <a:pt x="13099" y="3230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933713" y="2573872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13099" y="32300"/>
                  </a:moveTo>
                  <a:lnTo>
                    <a:pt x="45851" y="0"/>
                  </a:lnTo>
                  <a:lnTo>
                    <a:pt x="0" y="3691"/>
                  </a:lnTo>
                  <a:lnTo>
                    <a:pt x="13099" y="3230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353525" y="1729298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5">
                  <a:moveTo>
                    <a:pt x="0" y="338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337792" y="16860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337792" y="168607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586700" y="1728390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5">
                  <a:moveTo>
                    <a:pt x="0" y="338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570967" y="168516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570967" y="168516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4791925" y="1728382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5">
                  <a:moveTo>
                    <a:pt x="0" y="338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4776192" y="16851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776192" y="16851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043749" y="1728390"/>
              <a:ext cx="0" cy="338455"/>
            </a:xfrm>
            <a:custGeom>
              <a:avLst/>
              <a:gdLst/>
              <a:ahLst/>
              <a:cxnLst/>
              <a:rect l="l" t="t" r="r" b="b"/>
              <a:pathLst>
                <a:path h="338455">
                  <a:moveTo>
                    <a:pt x="0" y="338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028017" y="168516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6028017" y="168516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9" name="object 79"/>
          <p:cNvGraphicFramePr>
            <a:graphicFrameLocks noGrp="1"/>
          </p:cNvGraphicFramePr>
          <p:nvPr/>
        </p:nvGraphicFramePr>
        <p:xfrm>
          <a:off x="5656137" y="611287"/>
          <a:ext cx="780415" cy="1030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/>
                <a:gridCol w="382905"/>
              </a:tblGrid>
              <a:tr h="335224"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 panose="020B0604020202020204"/>
                          <a:cs typeface="Arial" panose="020B0604020202020204"/>
                        </a:rPr>
                        <a:t>0.3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E0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spc="-5" dirty="0">
                          <a:latin typeface="Arial" panose="020B0604020202020204"/>
                          <a:cs typeface="Arial" panose="020B0604020202020204"/>
                        </a:rPr>
                        <a:t>the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E06666"/>
                      </a:solidFill>
                      <a:prstDash val="solid"/>
                    </a:lnB>
                  </a:tcPr>
                </a:tc>
              </a:tr>
              <a:tr h="335224">
                <a:tc>
                  <a:txBody>
                    <a:bodyPr/>
                    <a:lstStyle/>
                    <a:p>
                      <a:pPr marR="2667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spc="-5" dirty="0">
                          <a:latin typeface="Arial" panose="020B0604020202020204"/>
                          <a:cs typeface="Arial" panose="020B0604020202020204"/>
                        </a:rPr>
                        <a:t>0.6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645" marB="0">
                    <a:lnL w="9525">
                      <a:solidFill>
                        <a:srgbClr val="E06666"/>
                      </a:solidFill>
                      <a:prstDash val="solid"/>
                    </a:lnL>
                    <a:lnR w="9525">
                      <a:solidFill>
                        <a:srgbClr val="E06666"/>
                      </a:solidFill>
                      <a:prstDash val="solid"/>
                    </a:lnR>
                    <a:lnT w="9525">
                      <a:solidFill>
                        <a:srgbClr val="E06666"/>
                      </a:solidFill>
                      <a:prstDash val="solid"/>
                    </a:lnT>
                    <a:lnB w="9525">
                      <a:solidFill>
                        <a:srgbClr val="E0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b="1" spc="-5" dirty="0">
                          <a:latin typeface="Arial" panose="020B0604020202020204"/>
                          <a:cs typeface="Arial" panose="020B0604020202020204"/>
                        </a:rPr>
                        <a:t>idx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645" marB="0">
                    <a:lnL w="9525">
                      <a:solidFill>
                        <a:srgbClr val="E06666"/>
                      </a:solidFill>
                      <a:prstDash val="solid"/>
                    </a:lnL>
                    <a:lnR w="9525">
                      <a:solidFill>
                        <a:srgbClr val="E06666"/>
                      </a:solidFill>
                      <a:prstDash val="solid"/>
                    </a:lnR>
                    <a:lnT w="9525">
                      <a:solidFill>
                        <a:srgbClr val="E06666"/>
                      </a:solidFill>
                      <a:prstDash val="solid"/>
                    </a:lnT>
                    <a:lnB w="9525">
                      <a:solidFill>
                        <a:srgbClr val="E06666"/>
                      </a:solidFill>
                      <a:prstDash val="solid"/>
                    </a:lnB>
                  </a:tcPr>
                </a:tc>
              </a:tr>
              <a:tr h="350474"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spc="-5" dirty="0">
                          <a:latin typeface="Arial" panose="020B0604020202020204"/>
                          <a:cs typeface="Arial" panose="020B0604020202020204"/>
                        </a:rPr>
                        <a:t>0.1</a:t>
                      </a:r>
                      <a:endParaRPr sz="11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E06666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dirty="0">
                          <a:latin typeface="Arial" panose="020B0604020202020204"/>
                          <a:cs typeface="Arial" panose="020B0604020202020204"/>
                        </a:rPr>
                        <a:t>cat</a:t>
                      </a:r>
                      <a:endParaRPr sz="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064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E06666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7" name="object 8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1965912" y="611287"/>
          <a:ext cx="780415" cy="1030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/>
                <a:gridCol w="382905"/>
              </a:tblGrid>
              <a:tr h="335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35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0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3185112" y="611287"/>
          <a:ext cx="780415" cy="1030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/>
                <a:gridCol w="382905"/>
              </a:tblGrid>
              <a:tr h="335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35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0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object 82"/>
          <p:cNvGraphicFramePr>
            <a:graphicFrameLocks noGrp="1"/>
          </p:cNvGraphicFramePr>
          <p:nvPr/>
        </p:nvGraphicFramePr>
        <p:xfrm>
          <a:off x="4404312" y="611287"/>
          <a:ext cx="780415" cy="1030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905"/>
                <a:gridCol w="382905"/>
              </a:tblGrid>
              <a:tr h="335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352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504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3" name="object 83"/>
          <p:cNvSpPr txBox="1"/>
          <p:nvPr/>
        </p:nvSpPr>
        <p:spPr>
          <a:xfrm>
            <a:off x="6952200" y="4195669"/>
            <a:ext cx="21310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3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Tokenize </a:t>
            </a:r>
            <a:r>
              <a:rPr sz="1000" i="1" spc="-2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inputs </a:t>
            </a:r>
            <a:r>
              <a:rPr sz="1000" i="1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using </a:t>
            </a:r>
            <a:r>
              <a:rPr sz="100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ﬁxed</a:t>
            </a:r>
            <a:r>
              <a:rPr sz="1000" i="1" spc="-204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-2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vocabulary</a:t>
            </a:r>
            <a:endParaRPr sz="1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952200" y="3329969"/>
            <a:ext cx="21164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i="1" spc="-3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Convert </a:t>
            </a:r>
            <a:r>
              <a:rPr sz="1000" i="1" spc="-1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tokens </a:t>
            </a:r>
            <a:r>
              <a:rPr sz="100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into </a:t>
            </a:r>
            <a:r>
              <a:rPr sz="1000" i="1" spc="-3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ﬁxed-dimensional  </a:t>
            </a:r>
            <a:r>
              <a:rPr sz="1000" i="1" spc="-3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numerical </a:t>
            </a:r>
            <a:r>
              <a:rPr sz="1000" i="1" spc="-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vectors </a:t>
            </a:r>
            <a:r>
              <a:rPr sz="1000" i="1" spc="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(~1-3K</a:t>
            </a:r>
            <a:r>
              <a:rPr sz="1000" i="1" spc="-17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-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dimensions)</a:t>
            </a:r>
            <a:endParaRPr sz="1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952200" y="1963120"/>
            <a:ext cx="20929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i="1" spc="-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Transformers </a:t>
            </a:r>
            <a:r>
              <a:rPr sz="1000" i="1" spc="-3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layers </a:t>
            </a:r>
            <a:r>
              <a:rPr sz="1000" i="1" spc="-1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(12-96+) </a:t>
            </a:r>
            <a:r>
              <a:rPr sz="1000" i="1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using  </a:t>
            </a:r>
            <a:r>
              <a:rPr sz="100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self-attention </a:t>
            </a:r>
            <a:r>
              <a:rPr sz="1000" i="1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mechanism </a:t>
            </a:r>
            <a:r>
              <a:rPr sz="1000" i="1" spc="-1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(Viswani </a:t>
            </a:r>
            <a:r>
              <a:rPr sz="1000" i="1" spc="-8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et.  </a:t>
            </a:r>
            <a:r>
              <a:rPr sz="1000" i="1" spc="-7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al.</a:t>
            </a:r>
            <a:r>
              <a:rPr sz="1000" i="1" spc="-6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2017)</a:t>
            </a:r>
            <a:endParaRPr sz="1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952200" y="891569"/>
            <a:ext cx="204723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i="1" spc="-5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Get </a:t>
            </a:r>
            <a:r>
              <a:rPr sz="100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probability </a:t>
            </a:r>
            <a:r>
              <a:rPr sz="100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distribution </a:t>
            </a:r>
            <a:r>
              <a:rPr sz="1000" i="1" spc="-3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over </a:t>
            </a:r>
            <a:r>
              <a:rPr sz="1000" i="1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most  </a:t>
            </a:r>
            <a:r>
              <a:rPr sz="1000" i="1" spc="-6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likely </a:t>
            </a:r>
            <a:r>
              <a:rPr sz="100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next</a:t>
            </a:r>
            <a:r>
              <a:rPr sz="1000" i="1" spc="-6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00" i="1" spc="-3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token</a:t>
            </a:r>
            <a:endParaRPr sz="10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888480" y="1184910"/>
            <a:ext cx="2169795" cy="45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获取最可能的下一个标记的概</a:t>
            </a:r>
            <a:endParaRPr lang="zh-CN" altLang="en-US" sz="1200"/>
          </a:p>
          <a:p>
            <a:r>
              <a:rPr lang="zh-CN" altLang="en-US" sz="1200"/>
              <a:t>率分布</a:t>
            </a:r>
            <a:endParaRPr lang="zh-CN" altLang="en-US" sz="1200"/>
          </a:p>
        </p:txBody>
      </p:sp>
      <p:sp>
        <p:nvSpPr>
          <p:cNvPr id="89" name="文本框 88"/>
          <p:cNvSpPr txBox="1"/>
          <p:nvPr/>
        </p:nvSpPr>
        <p:spPr>
          <a:xfrm>
            <a:off x="6888480" y="2394585"/>
            <a:ext cx="2179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使用自注意力机制（</a:t>
            </a:r>
            <a:r>
              <a:rPr lang="en-US" altLang="zh-CN" sz="1200"/>
              <a:t>Viswani</a:t>
            </a:r>
            <a:r>
              <a:rPr lang="zh-CN" altLang="en-US" sz="1200"/>
              <a:t>等人，</a:t>
            </a:r>
            <a:r>
              <a:rPr lang="en-US" altLang="zh-CN" sz="1200"/>
              <a:t>2017</a:t>
            </a:r>
            <a:r>
              <a:rPr lang="zh-CN" altLang="en-US" sz="1200"/>
              <a:t>年）的</a:t>
            </a:r>
            <a:r>
              <a:rPr lang="en-US" altLang="zh-CN" sz="1200"/>
              <a:t>Transformer</a:t>
            </a:r>
            <a:endParaRPr lang="en-US" altLang="zh-CN" sz="1200"/>
          </a:p>
          <a:p>
            <a:r>
              <a:rPr lang="zh-CN" altLang="en-US" sz="1200"/>
              <a:t>层（</a:t>
            </a:r>
            <a:r>
              <a:rPr lang="en-US" altLang="zh-CN" sz="1200"/>
              <a:t>12-96+</a:t>
            </a:r>
            <a:r>
              <a:rPr lang="zh-CN" altLang="en-US" sz="1200"/>
              <a:t>个）</a:t>
            </a:r>
            <a:endParaRPr lang="zh-CN" altLang="en-US" sz="1200"/>
          </a:p>
        </p:txBody>
      </p:sp>
      <p:sp>
        <p:nvSpPr>
          <p:cNvPr id="90" name="文本框 89"/>
          <p:cNvSpPr txBox="1"/>
          <p:nvPr/>
        </p:nvSpPr>
        <p:spPr>
          <a:xfrm>
            <a:off x="6886575" y="3583940"/>
            <a:ext cx="2181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将标记转换为固定维度的数值</a:t>
            </a:r>
            <a:endParaRPr lang="zh-CN" altLang="en-US" sz="1200"/>
          </a:p>
          <a:p>
            <a:r>
              <a:rPr lang="zh-CN" altLang="en-US" sz="1200"/>
              <a:t>向量（约</a:t>
            </a:r>
            <a:r>
              <a:rPr lang="en-US" altLang="zh-CN" sz="1200"/>
              <a:t>1-3K</a:t>
            </a:r>
            <a:r>
              <a:rPr lang="zh-CN" altLang="en-US" sz="1200"/>
              <a:t>维度）</a:t>
            </a:r>
            <a:endParaRPr lang="zh-CN" altLang="en-US" sz="1200"/>
          </a:p>
        </p:txBody>
      </p:sp>
      <p:sp>
        <p:nvSpPr>
          <p:cNvPr id="91" name="文本框 90"/>
          <p:cNvSpPr txBox="1"/>
          <p:nvPr/>
        </p:nvSpPr>
        <p:spPr>
          <a:xfrm>
            <a:off x="6951980" y="4315460"/>
            <a:ext cx="2192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使用固定词汇表对输入进行分</a:t>
            </a:r>
            <a:endParaRPr lang="zh-CN" altLang="en-US" sz="1200"/>
          </a:p>
          <a:p>
            <a:r>
              <a:rPr lang="zh-CN" altLang="en-US" sz="1200"/>
              <a:t>词</a:t>
            </a:r>
            <a:endParaRPr lang="zh-CN" alt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2848"/>
            <a:ext cx="24022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10" dirty="0"/>
              <a:t>Training</a:t>
            </a:r>
            <a:r>
              <a:rPr sz="2500" spc="-125" dirty="0"/>
              <a:t> </a:t>
            </a:r>
            <a:r>
              <a:rPr sz="2500" spc="5" dirty="0"/>
              <a:t>Process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506352" y="1057509"/>
            <a:ext cx="6892290" cy="299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980" indent="-335915">
              <a:lnSpc>
                <a:spcPts val="1670"/>
              </a:lnSpc>
              <a:spcBef>
                <a:spcPts val="95"/>
              </a:spcBef>
              <a:buChar char="●"/>
              <a:tabLst>
                <a:tab pos="347980" algn="l"/>
                <a:tab pos="348615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Stage</a:t>
            </a:r>
            <a:r>
              <a:rPr sz="14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Self-supervised</a:t>
            </a:r>
            <a:r>
              <a:rPr sz="105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pretraining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Teach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notion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language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variety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often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public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sources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100s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billions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trillion+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tokens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(language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code)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Common </a:t>
            </a:r>
            <a:r>
              <a:rPr sz="105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Crawl, </a:t>
            </a:r>
            <a:r>
              <a:rPr sz="10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Wikipedia, </a:t>
            </a:r>
            <a:r>
              <a:rPr sz="105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StackExchange,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Public </a:t>
            </a: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Github</a:t>
            </a:r>
            <a:r>
              <a:rPr sz="1050" spc="-17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repos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05"/>
              </a:lnSpc>
              <a:buFont typeface="Arial" panose="020B0604020202020204"/>
              <a:buChar char="○"/>
              <a:tabLst>
                <a:tab pos="805180" algn="l"/>
                <a:tab pos="805815" algn="l"/>
              </a:tabLst>
            </a:pP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Write</a:t>
            </a:r>
            <a:r>
              <a:rPr sz="1050" i="1" spc="-6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1050" i="1" spc="-5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4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for</a:t>
            </a:r>
            <a:r>
              <a:rPr sz="1050" i="1" spc="-5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loop</a:t>
            </a:r>
            <a:r>
              <a:rPr sz="1050" i="1" spc="-4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could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used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in </a:t>
            </a:r>
            <a:r>
              <a:rPr sz="1050" b="1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piece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code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347980" indent="-335915">
              <a:lnSpc>
                <a:spcPts val="1625"/>
              </a:lnSpc>
              <a:buChar char="●"/>
              <a:tabLst>
                <a:tab pos="347980" algn="l"/>
                <a:tab pos="348615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Stage</a:t>
            </a:r>
            <a:r>
              <a:rPr sz="14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Supervised</a:t>
            </a:r>
            <a:r>
              <a:rPr sz="105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ﬁnetuning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Teach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 </a:t>
            </a:r>
            <a:r>
              <a:rPr sz="105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 follow</a:t>
            </a:r>
            <a:r>
              <a:rPr sz="1050" spc="-16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instructions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High-quality,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curated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prompt-response</a:t>
            </a:r>
            <a:r>
              <a:rPr sz="105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pairs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(“</a:t>
            </a:r>
            <a:r>
              <a:rPr sz="1050" i="1" spc="-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105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4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05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2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capital</a:t>
            </a: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1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105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1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Croatia</a:t>
            </a:r>
            <a:r>
              <a:rPr sz="105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-&gt;</a:t>
            </a:r>
            <a:r>
              <a:rPr sz="105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sz="1050" i="1" spc="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Zagreb</a:t>
            </a: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4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1050" i="1" spc="-4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050" i="1" spc="-1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capital</a:t>
            </a:r>
            <a:r>
              <a:rPr sz="105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”)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Tens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thousands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100s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thousands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pairs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05"/>
              </a:lnSpc>
              <a:buFont typeface="Arial" panose="020B0604020202020204"/>
              <a:buChar char="○"/>
              <a:tabLst>
                <a:tab pos="805180" algn="l"/>
                <a:tab pos="805815" algn="l"/>
              </a:tabLst>
            </a:pP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Write </a:t>
            </a:r>
            <a:r>
              <a:rPr sz="1050" i="1" spc="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050" i="1" spc="-4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1050" i="1" spc="-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loop </a:t>
            </a:r>
            <a:r>
              <a:rPr sz="105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050" spc="-1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ok </a:t>
            </a:r>
            <a:r>
              <a:rPr sz="1050" b="1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here’s </a:t>
            </a:r>
            <a:r>
              <a:rPr sz="1050" b="1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 for </a:t>
            </a:r>
            <a:r>
              <a:rPr sz="1050" b="1" spc="-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loop…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347980" indent="-335915">
              <a:lnSpc>
                <a:spcPts val="1625"/>
              </a:lnSpc>
              <a:buChar char="●"/>
              <a:tabLst>
                <a:tab pos="347980" algn="l"/>
                <a:tab pos="348615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Stage</a:t>
            </a:r>
            <a:r>
              <a:rPr sz="1400" spc="-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Preferencing</a:t>
            </a:r>
            <a:r>
              <a:rPr sz="1050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tuning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Align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outputs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with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human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preferences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(helpfulness,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correctness,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readability)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Collect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pairs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outputs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same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prompt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train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reward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predict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preferred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output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35"/>
              </a:lnSpc>
              <a:buChar char="○"/>
              <a:tabLst>
                <a:tab pos="805180" algn="l"/>
                <a:tab pos="805815" algn="l"/>
              </a:tabLst>
            </a:pPr>
            <a:r>
              <a:rPr sz="105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Tens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thousands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100s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thousands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05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human-labeled</a:t>
            </a:r>
            <a:r>
              <a:rPr sz="105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comparisons</a:t>
            </a:r>
            <a:endParaRPr sz="1050">
              <a:latin typeface="Arial" panose="020B0604020202020204"/>
              <a:cs typeface="Arial" panose="020B0604020202020204"/>
            </a:endParaRPr>
          </a:p>
          <a:p>
            <a:pPr marL="805180" lvl="1" indent="-312420">
              <a:lnSpc>
                <a:spcPts val="1250"/>
              </a:lnSpc>
              <a:buFont typeface="Arial" panose="020B0604020202020204"/>
              <a:buChar char="○"/>
              <a:tabLst>
                <a:tab pos="805180" algn="l"/>
                <a:tab pos="805815" algn="l"/>
              </a:tabLst>
            </a:pPr>
            <a:r>
              <a:rPr sz="1050" i="1" spc="-5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Write </a:t>
            </a:r>
            <a:r>
              <a:rPr sz="1050" i="1" spc="2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a </a:t>
            </a:r>
            <a:r>
              <a:rPr sz="1050" i="1" spc="-40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for </a:t>
            </a:r>
            <a:r>
              <a:rPr sz="1050" i="1" spc="-5" dirty="0">
                <a:solidFill>
                  <a:srgbClr val="595959"/>
                </a:solidFill>
                <a:latin typeface="Trebuchet MS" panose="020B0603020202020204"/>
                <a:cs typeface="Trebuchet MS" panose="020B0603020202020204"/>
              </a:rPr>
              <a:t>loop </a:t>
            </a:r>
            <a:r>
              <a:rPr sz="105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050" spc="-1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050" b="1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1050" b="1" spc="-3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idx </a:t>
            </a:r>
            <a:r>
              <a:rPr sz="1050" b="1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 </a:t>
            </a:r>
            <a:r>
              <a:rPr sz="1050" b="1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range(10):</a:t>
            </a:r>
            <a:endParaRPr sz="1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5029200" y="514350"/>
            <a:ext cx="40747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自监督预训练</a:t>
            </a:r>
            <a:endParaRPr lang="zh-CN" altLang="en-US" sz="1200"/>
          </a:p>
          <a:p>
            <a:r>
              <a:rPr lang="zh-CN" altLang="en-US" sz="1200"/>
              <a:t>在各种通常为开放的数据源上，向模型传授语言概念</a:t>
            </a:r>
            <a:endParaRPr lang="zh-CN" altLang="en-US" sz="1200"/>
          </a:p>
          <a:p>
            <a:r>
              <a:rPr lang="zh-CN" altLang="en-US" sz="1200"/>
              <a:t>许多标记</a:t>
            </a:r>
            <a:endParaRPr lang="zh-CN" altLang="en-US" sz="1200"/>
          </a:p>
          <a:p>
            <a:r>
              <a:rPr lang="zh-CN" altLang="en-US" sz="1200"/>
              <a:t>公开资源库</a:t>
            </a:r>
            <a:endParaRPr lang="zh-CN" altLang="en-US" sz="1200"/>
          </a:p>
          <a:p>
            <a:r>
              <a:rPr lang="zh-CN" altLang="en-US" sz="1200"/>
              <a:t>编写</a:t>
            </a:r>
            <a:r>
              <a:rPr lang="en-US" altLang="zh-CN" sz="1200"/>
              <a:t>for</a:t>
            </a:r>
            <a:r>
              <a:rPr lang="zh-CN" altLang="en-US" sz="1200"/>
              <a:t>循环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5692775" y="1986915"/>
            <a:ext cx="3551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监督微调</a:t>
            </a:r>
            <a:endParaRPr lang="zh-CN" altLang="en-US" sz="1200"/>
          </a:p>
          <a:p>
            <a:r>
              <a:rPr lang="zh-CN" altLang="en-US" sz="1200"/>
              <a:t>教模型遵循指令</a:t>
            </a:r>
            <a:endParaRPr lang="zh-CN" altLang="en-US" sz="1200"/>
          </a:p>
          <a:p>
            <a:r>
              <a:rPr lang="zh-CN" altLang="en-US" sz="1200"/>
              <a:t>高质量、精心筛选的提示</a:t>
            </a:r>
            <a:r>
              <a:rPr lang="en-US" altLang="zh-CN" sz="1200"/>
              <a:t>-</a:t>
            </a:r>
            <a:r>
              <a:rPr lang="zh-CN" altLang="en-US" sz="1200"/>
              <a:t>响应对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1238250" y="4037965"/>
            <a:ext cx="4933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偏好调优</a:t>
            </a:r>
            <a:endParaRPr lang="zh-CN" altLang="en-US" sz="1200"/>
          </a:p>
          <a:p>
            <a:r>
              <a:rPr lang="zh-CN" altLang="en-US" sz="1200"/>
              <a:t>使模型输出与人类偏好保持一致</a:t>
            </a:r>
            <a:endParaRPr lang="zh-CN" altLang="en-US" sz="1200"/>
          </a:p>
          <a:p>
            <a:r>
              <a:rPr lang="zh-CN" altLang="en-US" sz="1200"/>
              <a:t>收集针对相同提示的输出对，并训练奖励模型来预测更优的输出</a:t>
            </a:r>
            <a:endParaRPr lang="zh-CN" alt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2848"/>
            <a:ext cx="240220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10" dirty="0"/>
              <a:t>Training</a:t>
            </a:r>
            <a:r>
              <a:rPr sz="2500" spc="-125" dirty="0"/>
              <a:t> </a:t>
            </a:r>
            <a:r>
              <a:rPr sz="2500" spc="5" dirty="0"/>
              <a:t>Process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008438"/>
            <a:ext cx="7145655" cy="23996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Reasoning</a:t>
            </a:r>
            <a:r>
              <a:rPr sz="1800" spc="-6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8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Extend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training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chain-of-thought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reasoning</a:t>
            </a:r>
            <a:r>
              <a:rPr sz="1400" spc="-2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traces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Tool-use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integration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Get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human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preferences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on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reasoning</a:t>
            </a:r>
            <a:r>
              <a:rPr sz="1400" spc="-1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steps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Reinforcement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learning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learn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how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evaluate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reasoning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traces,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backtrack,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etc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Size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GPT-3/Claude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3.5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Sonnet </a:t>
            </a:r>
            <a:r>
              <a:rPr sz="1400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-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175B</a:t>
            </a:r>
            <a:r>
              <a:rPr sz="1400" spc="-9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parameters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LLaMA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3.1 </a:t>
            </a:r>
            <a:r>
              <a:rPr sz="1400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-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405B</a:t>
            </a:r>
            <a:r>
              <a:rPr sz="1400" spc="-9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parameters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9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GPT-4 </a:t>
            </a:r>
            <a:r>
              <a:rPr sz="1400" spc="-8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-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1.8T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(reported)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1186815" y="3342005"/>
            <a:ext cx="57473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推理模型</a:t>
            </a:r>
            <a:endParaRPr lang="zh-CN" altLang="en-US" sz="1600"/>
          </a:p>
          <a:p>
            <a:r>
              <a:rPr lang="zh-CN" altLang="en-US" sz="1600"/>
              <a:t>通过思维链推理轨迹扩展训练</a:t>
            </a:r>
            <a:endParaRPr lang="zh-CN" altLang="en-US" sz="1600"/>
          </a:p>
          <a:p>
            <a:r>
              <a:rPr lang="zh-CN" altLang="en-US" sz="1600"/>
              <a:t>工具使用整合</a:t>
            </a:r>
            <a:endParaRPr lang="zh-CN" altLang="en-US" sz="1600"/>
          </a:p>
          <a:p>
            <a:r>
              <a:rPr lang="zh-CN" altLang="en-US" sz="1600"/>
              <a:t>获取人类对推理步骤的偏好</a:t>
            </a:r>
            <a:endParaRPr lang="zh-CN" altLang="en-US" sz="1600"/>
          </a:p>
          <a:p>
            <a:r>
              <a:rPr lang="zh-CN" altLang="en-US" sz="1600"/>
              <a:t>强化学习，用于学习如何评估推理轨迹、回溯等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2848"/>
            <a:ext cx="150876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-10" dirty="0"/>
              <a:t>In</a:t>
            </a:r>
            <a:r>
              <a:rPr sz="2500" spc="-145" dirty="0"/>
              <a:t> </a:t>
            </a:r>
            <a:r>
              <a:rPr sz="2500" spc="25" dirty="0"/>
              <a:t>practice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475249" y="1043708"/>
            <a:ext cx="7980045" cy="307784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26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Strengths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12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Expert-level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1400" spc="-7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completion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understanding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ﬁxing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379095" indent="-367030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Limitations</a:t>
            </a:r>
            <a:endParaRPr sz="18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120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Hallucinations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93495" lvl="2" indent="-336550">
              <a:lnSpc>
                <a:spcPct val="100000"/>
              </a:lnSpc>
              <a:spcBef>
                <a:spcPts val="85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Generating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non-existent/out-of-date </a:t>
            </a:r>
            <a:r>
              <a:rPr sz="1400" spc="-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APIs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(mitigated </a:t>
            </a:r>
            <a:r>
              <a:rPr sz="1400" spc="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with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robust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context</a:t>
            </a:r>
            <a:r>
              <a:rPr sz="1400" spc="-2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engineering)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Context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window</a:t>
            </a:r>
            <a:r>
              <a:rPr sz="1400" spc="-9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limits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93495" lvl="2" indent="-336550">
              <a:lnSpc>
                <a:spcPct val="100000"/>
              </a:lnSpc>
              <a:spcBef>
                <a:spcPts val="85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~100-200K</a:t>
            </a:r>
            <a:r>
              <a:rPr sz="1400" spc="-5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tokens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but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not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all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created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equal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Latency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93495" lvl="2" indent="-336550">
              <a:lnSpc>
                <a:spcPct val="100000"/>
              </a:lnSpc>
              <a:spcBef>
                <a:spcPts val="8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Seconds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minutes</a:t>
            </a: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request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depending</a:t>
            </a: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task</a:t>
            </a: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(plan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delegate</a:t>
            </a:r>
            <a:r>
              <a:rPr sz="1400" spc="-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accordingly)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836295" lvl="1" indent="-336550">
              <a:lnSpc>
                <a:spcPct val="100000"/>
              </a:lnSpc>
              <a:spcBef>
                <a:spcPts val="85"/>
              </a:spcBef>
              <a:buChar char="○"/>
              <a:tabLst>
                <a:tab pos="835660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Cost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93495" lvl="2" indent="-336550">
              <a:lnSpc>
                <a:spcPct val="100000"/>
              </a:lnSpc>
              <a:spcBef>
                <a:spcPts val="85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$1-3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input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tokens,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$10+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per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million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output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tokens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3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400" spc="-4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best</a:t>
            </a:r>
            <a:r>
              <a:rPr sz="1400" spc="-4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spc="10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models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3581400" y="1047750"/>
            <a:ext cx="14598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优势：</a:t>
            </a:r>
            <a:endParaRPr lang="zh-CN" altLang="en-US" sz="1400"/>
          </a:p>
          <a:p>
            <a:r>
              <a:rPr lang="zh-CN" altLang="en-US" sz="1400"/>
              <a:t>专家级代码补全</a:t>
            </a:r>
            <a:endParaRPr lang="zh-CN" altLang="en-US" sz="1400"/>
          </a:p>
          <a:p>
            <a:r>
              <a:rPr lang="zh-CN" altLang="en-US" sz="1400"/>
              <a:t>代码理解</a:t>
            </a:r>
            <a:endParaRPr lang="zh-CN" altLang="en-US" sz="1400"/>
          </a:p>
          <a:p>
            <a:r>
              <a:rPr lang="zh-CN" altLang="en-US" sz="1400"/>
              <a:t>代码修复</a:t>
            </a:r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4994910" y="971550"/>
            <a:ext cx="40728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局限性：</a:t>
            </a:r>
            <a:endParaRPr lang="zh-CN" altLang="en-US" sz="1400"/>
          </a:p>
          <a:p>
            <a:r>
              <a:rPr lang="zh-CN" altLang="en-US" sz="1400"/>
              <a:t>幻觉：生成不存在</a:t>
            </a:r>
            <a:r>
              <a:rPr lang="en-US" altLang="zh-CN" sz="1400"/>
              <a:t>/</a:t>
            </a:r>
            <a:r>
              <a:rPr lang="zh-CN" altLang="en-US" sz="1400"/>
              <a:t>过时的</a:t>
            </a:r>
            <a:r>
              <a:rPr lang="en-US" altLang="zh-CN" sz="1400"/>
              <a:t>API</a:t>
            </a:r>
            <a:r>
              <a:rPr lang="zh-CN" altLang="en-US" sz="1400"/>
              <a:t>（通过强大的上下文</a:t>
            </a:r>
            <a:endParaRPr lang="zh-CN" altLang="en-US" sz="1400"/>
          </a:p>
          <a:p>
            <a:r>
              <a:rPr lang="zh-CN" altLang="en-US" sz="1400"/>
              <a:t>设计来缓解）</a:t>
            </a:r>
            <a:endParaRPr lang="zh-CN" altLang="en-US" sz="1400"/>
          </a:p>
          <a:p>
            <a:r>
              <a:rPr lang="zh-CN" altLang="en-US" sz="1400"/>
              <a:t>上下文窗口限制</a:t>
            </a:r>
            <a:endParaRPr lang="zh-CN" altLang="en-US" sz="1400"/>
          </a:p>
          <a:p>
            <a:r>
              <a:rPr lang="zh-CN" altLang="en-US" sz="1400"/>
              <a:t>延迟</a:t>
            </a:r>
            <a:endParaRPr lang="zh-CN" altLang="en-US" sz="1400"/>
          </a:p>
          <a:p>
            <a:r>
              <a:rPr lang="zh-CN" altLang="en-US" sz="1400"/>
              <a:t>成本</a:t>
            </a:r>
            <a:endParaRPr lang="zh-CN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9" y="4747274"/>
            <a:ext cx="9142730" cy="396875"/>
          </a:xfrm>
          <a:custGeom>
            <a:avLst/>
            <a:gdLst/>
            <a:ahLst/>
            <a:cxnLst/>
            <a:rect l="l" t="t" r="r" b="b"/>
            <a:pathLst>
              <a:path w="9142730" h="396875">
                <a:moveTo>
                  <a:pt x="9142499" y="396299"/>
                </a:moveTo>
                <a:lnTo>
                  <a:pt x="0" y="396299"/>
                </a:lnTo>
                <a:lnTo>
                  <a:pt x="0" y="0"/>
                </a:lnTo>
                <a:lnTo>
                  <a:pt x="9142499" y="0"/>
                </a:lnTo>
                <a:lnTo>
                  <a:pt x="9142499" y="396299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68914" y="2029413"/>
            <a:ext cx="248094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45" dirty="0">
                <a:solidFill>
                  <a:srgbClr val="595959"/>
                </a:solidFill>
              </a:rPr>
              <a:t>Questions?</a:t>
            </a:r>
            <a:endParaRPr sz="39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themodernsoftware.dev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5103</Words>
  <Application>WPS 演示</Application>
  <PresentationFormat>On-screen Show (4:3)</PresentationFormat>
  <Paragraphs>283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Times New Roman</vt:lpstr>
      <vt:lpstr>Trebuchet MS</vt:lpstr>
      <vt:lpstr>Office Theme</vt:lpstr>
      <vt:lpstr>PowerPoint 演示文稿</vt:lpstr>
      <vt:lpstr>PowerPoint 演示文稿</vt:lpstr>
      <vt:lpstr>Introduction and How LLMs  are Made</vt:lpstr>
      <vt:lpstr>State of the World: 2025</vt:lpstr>
      <vt:lpstr>Bad News</vt:lpstr>
      <vt:lpstr>Good News</vt:lpstr>
      <vt:lpstr>The Modern Software  Developer</vt:lpstr>
      <vt:lpstr>This is not the “vibe coding” class</vt:lpstr>
      <vt:lpstr>10 weeks in 2 slides</vt:lpstr>
      <vt:lpstr>The Takeaway</vt:lpstr>
      <vt:lpstr>The Takeaway</vt:lpstr>
      <vt:lpstr>Course Logistics</vt:lpstr>
      <vt:lpstr>Course Logistics</vt:lpstr>
      <vt:lpstr>How LLMs Work in 5 Slides  (For Engineers)</vt:lpstr>
      <vt:lpstr>Basics</vt:lpstr>
      <vt:lpstr>Basics</vt:lpstr>
      <vt:lpstr>Training Process</vt:lpstr>
      <vt:lpstr>Training Process</vt:lpstr>
      <vt:lpstr>In practice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王越</cp:lastModifiedBy>
  <cp:revision>2</cp:revision>
  <dcterms:created xsi:type="dcterms:W3CDTF">2026-03-03T11:21:27Z</dcterms:created>
  <dcterms:modified xsi:type="dcterms:W3CDTF">2026-03-03T11:28:24Z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2026-03-03T08:00:00Z</vt:filetime>
  </property>
  <property fmtid="{D5CDD505-2E9C-101B-9397-08002B2CF9AE}" pid="3" name="Creator">
    <vt:lpwstr>PDFium</vt:lpwstr>
  </property>
  <property fmtid="{D5CDD505-2E9C-101B-9397-08002B2CF9AE}" pid="4" name="LastSaved">
    <vt:filetime>2026-03-03T08:00:00Z</vt:filetime>
  </property>
  <property fmtid="{D5CDD505-2E9C-101B-9397-08002B2CF9AE}" pid="5" name="KSOProductBuildVer">
    <vt:lpwstr>2052-12.1.0.24034</vt:lpwstr>
  </property>
  <property fmtid="{D5CDD505-2E9C-101B-9397-08002B2CF9AE}" pid="6" name="ICV">
    <vt:lpwstr>670B9EA454744C338D1834C14E54AC48_12</vt:lpwstr>
  </property>
</Properties>
</file>